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Stock value</c:v>
                </c:pt>
              </c:strCache>
            </c:strRef>
          </c:tx>
          <c:spPr>
            <a:solidFill>
              <a:srgbClr val="1F6FEB"/>
            </a:solidFill>
          </c:spPr>
          <c:cat>
            <c:strRef>
              <c:f>Sheet1!$A$2:$A$5</c:f>
              <c:strCache>
                <c:ptCount val="4"/>
                <c:pt idx="0">
                  <c:v>ABC-0001</c:v>
                </c:pt>
                <c:pt idx="1">
                  <c:v>ABC-0002</c:v>
                </c:pt>
                <c:pt idx="2">
                  <c:v>ABC-0003</c:v>
                </c:pt>
                <c:pt idx="3">
                  <c:v>ABC-0004</c:v>
                </c:pt>
              </c:strCache>
            </c:strRef>
          </c:cat>
          <c:val>
            <c:numRef>
              <c:f>Sheet1!$B$2:$B$5</c:f>
              <c:numCache>
                <c:formatCode>0</c:formatCode>
                <c:ptCount val="4"/>
                <c:pt idx="0">
                  <c:v>35960</c:v>
                </c:pt>
                <c:pt idx="1">
                  <c:v>12495</c:v>
                </c:pt>
                <c:pt idx="2">
                  <c:v>0</c:v>
                </c:pt>
                <c:pt idx="3">
                  <c:v>4200</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Tests passed</c:v>
                </c:pt>
              </c:strCache>
            </c:strRef>
          </c:tx>
          <c:spPr>
            <a:solidFill>
              <a:srgbClr val="1F6FEB"/>
            </a:solidFill>
          </c:spPr>
          <c:cat>
            <c:strRef>
              <c:f>Sheet1!$A$2:$A$15</c:f>
              <c:strCache>
                <c:ptCount val="14"/>
                <c:pt idx="0">
                  <c:v>1</c:v>
                </c:pt>
                <c:pt idx="1">
                  <c:v>2</c:v>
                </c:pt>
                <c:pt idx="2">
                  <c:v>3</c:v>
                </c:pt>
                <c:pt idx="3">
                  <c:v>4</c:v>
                </c:pt>
                <c:pt idx="4">
                  <c:v>5</c:v>
                </c:pt>
                <c:pt idx="5">
                  <c:v>6</c:v>
                </c:pt>
                <c:pt idx="6">
                  <c:v>7</c:v>
                </c:pt>
                <c:pt idx="7">
                  <c:v>8</c:v>
                </c:pt>
                <c:pt idx="8">
                  <c:v>9</c:v>
                </c:pt>
                <c:pt idx="9">
                  <c:v>10</c:v>
                </c:pt>
                <c:pt idx="10">
                  <c:v>11</c:v>
                </c:pt>
                <c:pt idx="11">
                  <c:v>12</c:v>
                </c:pt>
                <c:pt idx="12">
                  <c:v>13</c:v>
                </c:pt>
                <c:pt idx="13">
                  <c:v>14</c:v>
                </c:pt>
              </c:strCache>
            </c:strRef>
          </c:cat>
          <c:val>
            <c:numRef>
              <c:f>Sheet1!$B$2:$B$15</c:f>
              <c:numCache>
                <c:formatCode>0</c:formatCode>
                <c:ptCount val="14"/>
                <c:pt idx="0">
                  <c:v>5</c:v>
                </c:pt>
                <c:pt idx="1">
                  <c:v>6</c:v>
                </c:pt>
                <c:pt idx="2">
                  <c:v>5</c:v>
                </c:pt>
                <c:pt idx="3">
                  <c:v>5</c:v>
                </c:pt>
                <c:pt idx="4">
                  <c:v>4</c:v>
                </c:pt>
                <c:pt idx="5">
                  <c:v>6</c:v>
                </c:pt>
                <c:pt idx="6">
                  <c:v>6</c:v>
                </c:pt>
                <c:pt idx="7">
                  <c:v>6</c:v>
                </c:pt>
                <c:pt idx="8">
                  <c:v>5</c:v>
                </c:pt>
                <c:pt idx="9">
                  <c:v>5</c:v>
                </c:pt>
                <c:pt idx="10">
                  <c:v>6</c:v>
                </c:pt>
                <c:pt idx="11">
                  <c:v>7</c:v>
                </c:pt>
                <c:pt idx="12">
                  <c:v>6</c:v>
                </c:pt>
                <c:pt idx="13">
                  <c:v>7</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Org UEN 201200696W, course TGS-2023039924, single version 3.1.</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TRAQOM digital attendance via Singpass; course-specific.</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Blank editable general trainer profile.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No unverified qualifications are invented.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Learner introduction.</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AI review and privacy boundaries.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TSC Software Design ICT-DES-3005-1.1.</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LU 2/3/3/3/3h; 16h course incl. 2h assessment; two 1h lunches excluded.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Official course outcomes mapped to K1/A1 through K5/A5.</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Assessment briefing precedes assessment slides.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WA/PP durations, counts and timing from the course schedule.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WA then PP, 60 minutes each, five items each, K1-K5 and A1-A5.</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UI</a:t>
            </a:r>
          </a:p>
          <a:p>
            <a:r>
              <a:t>Screenshot of the live LMS sign-in page (lms-tms.tertiaryinfotech.com), captured September 2026.</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UI</a:t>
            </a:r>
          </a:p>
          <a:p>
            <a:r>
              <a:t>Clickable course repository link.</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Course illustration; the code and test result shown are from Activity 1 of this course.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UI</a:t>
            </a:r>
          </a:p>
          <a:p>
            <a:r>
              <a:t>Curated learning resources supplied for the course; every link verified.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 Anchor: MODEL</a:t>
            </a:r>
          </a:p>
          <a:p>
            <a:r>
              <a:t>Rust Programming Fundamentals and Software Components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R1 price one order line in cents</a:t>
            </a:r>
          </a:p>
          <a:p>
            <a:r>
              <a:t>R2 quantity must be 1..=10,000</a:t>
            </a:r>
          </a:p>
          <a:p>
            <a:r>
              <a:t>R3 never wrap or lose money on overflow</a:t>
            </a:r>
          </a:p>
          <a:p/>
          <a:p>
            <a:r>
              <a:t>component: fn line_total(</a:t>
            </a:r>
          </a:p>
          <a:p>
            <a:r>
              <a:t>    unit_price_cents: u64,   // input</a:t>
            </a:r>
          </a:p>
          <a:p>
            <a:r>
              <a:t>    qty: u32,                // input</a:t>
            </a:r>
          </a:p>
          <a:p>
            <a:r>
              <a:t>) -&gt; Option&lt;u64&gt;             // output or refusal</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Business rule = Totals are whole cents; quantity 1..=10,000; overflow is refused.; Rust types = u64 for money in cents, u32 for quantity, Option for refusal.; Component boundary = A pure function: no printing, no files, no global state.; Acceptance = Tests at 0, 1, 10,000, 10,001 and u64::MAX.</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Ambiguous rule; Ask the business owner (or the AI, then verify) before coding: is 0 an error or a no-op?; Every requirement ID appears in a test name or a trace table row.</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 install once (macOS/Linux; Windows uses rustup-init.exe)</a:t>
            </a:r>
          </a:p>
          <a:p>
            <a:r>
              <a:t>curl https://sh.rustup.rs -sSf | sh</a:t>
            </a:r>
          </a:p>
          <a:p>
            <a:r>
              <a:t>rustup component add clippy rustfmt</a:t>
            </a:r>
          </a:p>
          <a:p/>
          <a:p>
            <a:r>
              <a:t>rustc --version      # the compiler</a:t>
            </a:r>
          </a:p>
          <a:p>
            <a:r>
              <a:t>cargo --version      # build tool + package manager</a:t>
            </a:r>
          </a:p>
          <a:p>
            <a:r>
              <a:t>cargo new stockpilot # create a package</a:t>
            </a:r>
          </a:p>
          <a:p>
            <a:r>
              <a:t>cargo run            # build and run</a:t>
            </a:r>
          </a:p>
          <a:p>
            <a:r>
              <a:t>cargo test           # build and run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Install = rustup from rustup.rs; Windows also needs the MSVC build tools.; Editor = Visual Studio Code with the rust-analyzer extension.; Components = clippy (lints) and rustfmt (formatting) via rustup component add.; Evidence = rustc --version output is recorded in every verification record.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cargo: command not found; Open a new terminal so PATH includes ~/.cargo/bin, or run the rustup installer again.; rustc --version and cargo --version both print a version in the VS Code terminal.</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activity01/</a:t>
            </a:r>
          </a:p>
          <a:p>
            <a:r>
              <a:t>  Cargo.toml        # name, edition, dependencies</a:t>
            </a:r>
          </a:p>
          <a:p>
            <a:r>
              <a:t>  Cargo.lock        # exact resolved versions</a:t>
            </a:r>
          </a:p>
          <a:p>
            <a:r>
              <a:t>  src/</a:t>
            </a:r>
          </a:p>
          <a:p>
            <a:r>
              <a:t>    lib.rs          # library crate: the logic</a:t>
            </a:r>
          </a:p>
          <a:p>
            <a:r>
              <a:t>    main.rs         # binary crate: thin entry point</a:t>
            </a:r>
          </a:p>
          <a:p>
            <a:r>
              <a:t>  tests/</a:t>
            </a:r>
          </a:p>
          <a:p>
            <a:r>
              <a:t>    acceptance.rs   # integration tests (public API)</a:t>
            </a:r>
          </a:p>
          <a:p>
            <a:r>
              <a:t>  target/           # build output (never commit)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Package = One Cargo.toml; can contain one library and several binaries.; Crate = A compilation unit: lib.rs or main.rs and its modules.; Edition = edition = "2021" fixes the language rules the crate uses.; Build output = target/ is generated; add it to .gitignore.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Logic hidden in main.rs; Move it into lib.rs so integration tests can call it directly.; cargo test builds lib, bin and tests; tests only use pub items.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let qty = 4;               // immutable binding</a:t>
            </a:r>
          </a:p>
          <a:p>
            <a:r>
              <a:t>let mut stock = 10;        // mutable binding</a:t>
            </a:r>
          </a:p>
          <a:p>
            <a:r>
              <a:t>stock -= qty;              // allowed: declared mut</a:t>
            </a:r>
          </a:p>
          <a:p/>
          <a:p>
            <a:r>
              <a:t>const MAX_QTY: u32 = 10_000;   // compile-time constant</a:t>
            </a:r>
          </a:p>
          <a:p/>
          <a:p>
            <a:r>
              <a:t>let input = " 42 ";</a:t>
            </a:r>
          </a:p>
          <a:p>
            <a:r>
              <a:t>let input: u32 = input.trim().parse().unwrap_or(0);</a:t>
            </a:r>
          </a:p>
          <a:p>
            <a:r>
              <a:t>// shadowing: same name, new type and value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Default = Immutable: accidental writes are compile errors (E0384).; Constants = Must have an explicit type; evaluated at compile time.; Naming = snake_case for variables and functions, CamelCase for types.; Review rule = Every mut should be necessary; clippy flags unused mut.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error[E0384]: cannot assign twice; Add mut only if the value truly changes; otherwise create a new binding.; The code compiles with no unused_mut warnings under clippy.</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FORMULA</a:t>
            </a:r>
          </a:p>
          <a:p>
            <a:r>
              <a:t>let unit: u64 = 250;              // cents, never float</a:t>
            </a:r>
          </a:p>
          <a:p>
            <a:r>
              <a:t>let qty: u32 = 4;                 // cannot be negative</a:t>
            </a:r>
          </a:p>
          <a:p>
            <a:r>
              <a:t>let total = unit * u64::from(qty);   // widen, then multiply</a:t>
            </a:r>
          </a:p>
          <a:p/>
          <a:p>
            <a:r>
              <a:t>u64::MAX.checked_mul(2)           // None</a:t>
            </a:r>
          </a:p>
          <a:p>
            <a:r>
              <a:t>250u64.checked_mul(4)             // Some(1000)</a:t>
            </a:r>
          </a:p>
          <a:p>
            <a:r>
              <a:t>3u32.checked_sub(5)               // None</a:t>
            </a:r>
          </a:p>
          <a:p>
            <a:r>
              <a:t>(-4i64).abs()                     // 4</a:t>
            </a:r>
          </a:p>
          <a:p>
            <a:r>
              <a:t>u32::try_from(-1i64)              // Err(..)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FORMULA</a:t>
            </a:r>
          </a:p>
          <a:p>
            <a:r>
              <a:t>u32 = 0..=4,294,967,295: quantities and counts.; u64 = 0..=18.4 quintillion: money in cents and large totals.; i64 = Signed: adjustments that can be negative.; Overflow policy = Debug builds panic, release builds wrap: so use checked_* explicitly.</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FORMULA</a:t>
            </a:r>
          </a:p>
          <a:p>
            <a:r>
              <a:t>attempt to multiply with overflow (panic); Replace * with checked_mul and return None or an error to the caller.; Tests at u64::MAX and u32::MAX prove the overflow policy.</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pub fn line_total(</a:t>
            </a:r>
          </a:p>
          <a:p>
            <a:r>
              <a:t>    unit_price_cents: u64,</a:t>
            </a:r>
          </a:p>
          <a:p>
            <a:r>
              <a:t>    qty: u32,</a:t>
            </a:r>
          </a:p>
          <a:p>
            <a:r>
              <a:t>) -&gt; Option&lt;u64&gt; {</a:t>
            </a:r>
          </a:p>
          <a:p>
            <a:r>
              <a:t>    if qty == 0 || qty &gt; MAX_QTY {</a:t>
            </a:r>
          </a:p>
          <a:p>
            <a:r>
              <a:t>        return None;              // early return</a:t>
            </a:r>
          </a:p>
          <a:p>
            <a:r>
              <a:t>    }</a:t>
            </a:r>
          </a:p>
          <a:p>
            <a:r>
              <a:t>    unit_price_cents.checked_mul(u64::from(qty))</a:t>
            </a:r>
          </a:p>
          <a:p>
            <a:r>
              <a:t>    // last expression, no semicolon = return value</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Inputs = unit_price_cents: u64, qty: u32.; Output = Some(total) or None, never a panic.; Side effects = None: no printing, files or globals.; Tests = Normal, zero, maximum, above maximum and overflow.</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mismatched types: expected Option&lt;u64&gt;, found u64; Wrap the success value in Some(...) or return the checked_* result directly.; Five boundary tests in Activity 1 pass.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let owned: String = String::from("abc-1234");</a:t>
            </a:r>
          </a:p>
          <a:p>
            <a:r>
              <a:t>let view: &amp;str = &amp;owned;           // borrow, no copy</a:t>
            </a:r>
          </a:p>
          <a:p>
            <a:r>
              <a:t>let trimmed: &amp;str = "  ABC-1234 ".trim();</a:t>
            </a:r>
          </a:p>
          <a:p/>
          <a:p>
            <a:r>
              <a:t>fn is_valid_sku(code: &amp;str) -&gt; bool { /* reads */ }</a:t>
            </a:r>
          </a:p>
          <a:p>
            <a:r>
              <a:t>fn normalise_sku(code: &amp;str) -&gt; Option&lt;String&gt; {</a:t>
            </a:r>
          </a:p>
          <a:p>
            <a:r>
              <a:t>    let upper = code.trim().to_ascii_uppercase(); // new String</a:t>
            </a:r>
          </a:p>
          <a:p>
            <a:r>
              <a:t>    is_valid_sku(&amp;upper).then_some(upper)</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Parameter = Accept &amp;str so callers can pass literals or &amp;String.; Return = String when new text is produced; &amp;str when returning part of an input.; Validation = ASCII rules can use bytes safely; general text should use chars().; Tests = Include whitespace, lower case and a non-ASCII letter.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expected &amp;str, found String; Pass a borrow: &amp;my_string, or change the parameter to &amp;str.; Activity 2 tests pass, including "ÄBC-1234" being rejected.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let items = vec![cable, charger];</a:t>
            </a:r>
          </a:p>
          <a:p/>
          <a:p>
            <a:r>
              <a:t>let total = total_quantity(&amp;items);   // shared borrow</a:t>
            </a:r>
          </a:p>
          <a:p>
            <a:r>
              <a:t>restock(&amp;mut items[0], 3);            // exclusive borrow</a:t>
            </a:r>
          </a:p>
          <a:p>
            <a:r>
              <a:t>let kept = in_stock(items);           // move: items is gone</a:t>
            </a:r>
          </a:p>
          <a:p/>
          <a:p>
            <a:r>
              <a:t>// println!("{:?}", items);</a:t>
            </a:r>
          </a:p>
          <a:p>
            <a:r>
              <a:t>// error[E0382]: borrow of moved value: `items`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Read only = fn f(items: &amp;[Item]) - caller keeps ownership.; Change in place = fn f(item: &amp;mut Item) - caller sees the change.; Consume = fn f(items: Vec&lt;Item&gt;) -&gt; Vec&lt;Item&gt; - caller hands the value over.; Clone = An explicit copy; justify it in review because it costs memory and time.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error[E0382]: borrow of moved value; Borrow instead of moving (&amp;items), or clone only if two owners are truly needed.; Activity 3 compiles with no clone() and all five tests pass.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line_total(unit_price_cents: u64, qty: u32) -&gt; Option&lt;u64&gt;. qty 0 or above MAX_QTY (10,000) returns None; an overflowing product returns None; otherwise Some(total cents).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variables, mutability, constants and integer types.</a:t>
            </a:r>
          </a:p>
          <a:p>
            <a:r>
              <a:t>const MAX_QTY: u32 = 10_000;</a:t>
            </a:r>
          </a:p>
          <a:p/>
          <a:p>
            <a:r>
              <a:t>fn main() {</a:t>
            </a:r>
          </a:p>
          <a:p>
            <a:r>
              <a:t>    let unit_price_cents: u64 = 250; // immutable by default</a:t>
            </a:r>
          </a:p>
          <a:p>
            <a:r>
              <a:t>    let mut qty: u32 = 4; // mut: this value will change</a:t>
            </a:r>
          </a:p>
          <a:p>
            <a:r>
              <a:t>    println!("price = {unit_price_cents} cents, qty = {qty}");</a:t>
            </a:r>
          </a:p>
          <a:p>
            <a:r>
              <a:t>    qty += 1;</a:t>
            </a:r>
          </a:p>
          <a:p>
            <a:r>
              <a:t>    println!("after adding one: qty = {qty} (max {MAX_QTY})");</a:t>
            </a:r>
          </a:p>
          <a:p>
            <a:r>
              <a:t>    let total = unit_price_cents * u64::from(qty);</a:t>
            </a:r>
          </a:p>
          <a:p>
            <a:r>
              <a:t>    println!(</a:t>
            </a:r>
          </a:p>
          <a:p>
            <a:r>
              <a:t>        "total = {total} cents = ${}.{:02}",</a:t>
            </a:r>
          </a:p>
          <a:p>
            <a:r>
              <a:t>        total / 100,</a:t>
            </a:r>
          </a:p>
          <a:p>
            <a:r>
              <a:t>        total % 100</a:t>
            </a:r>
          </a:p>
          <a:p>
            <a:r>
              <a:t>    );</a:t>
            </a:r>
          </a:p>
          <a:p>
            <a:r>
              <a:t>    let big: u64 = u64::MAX;</a:t>
            </a:r>
          </a:p>
          <a:p>
            <a:r>
              <a:t>    println!("checked_mul(2) on u64::MAX = {:?}", big.checked_mul(2));</a:t>
            </a:r>
          </a:p>
          <a:p>
            <a:r>
              <a:t>}</a:t>
            </a:r>
          </a:p>
          <a:p/>
          <a:p>
            <a:r>
              <a:t>Expected:</a:t>
            </a:r>
          </a:p>
          <a:p>
            <a:r>
              <a:t>price = 250 cents, qty = 4</a:t>
            </a:r>
          </a:p>
          <a:p>
            <a:r>
              <a:t>after adding one: qty = 5 (max 10000)</a:t>
            </a:r>
          </a:p>
          <a:p>
            <a:r>
              <a:t>total = 1250 cents = $12.50</a:t>
            </a:r>
          </a:p>
          <a:p>
            <a:r>
              <a:t>checked_mul(2) on u64::MAX = None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line_total(unit_price_cents: u64, qty: u32) -&gt; Option&lt;u64&gt;. qty 0 or above MAX_QTY (10,000) returns None; an overflowing product returns None; otherwise Some(total cents).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Returns the line total in cents.</a:t>
            </a:r>
          </a:p>
          <a:p>
            <a:r>
              <a:t>///</a:t>
            </a:r>
          </a:p>
          <a:p>
            <a:r>
              <a:t>/// Returns `None` when `qty` is outside `1..=MAX_QTY` or when the</a:t>
            </a:r>
          </a:p>
          <a:p>
            <a:r>
              <a:t>/// multiplication would overflow `u64`.</a:t>
            </a:r>
          </a:p>
          <a:p>
            <a:r>
              <a:t>pub fn line_total(unit_price_cents: u64, qty: u32) -&gt; Option&lt;u64&gt; {</a:t>
            </a:r>
          </a:p>
          <a:p>
            <a:r>
              <a:t>    if qty == 0 || qty &gt; MAX_QTY {</a:t>
            </a:r>
          </a:p>
          <a:p>
            <a:r>
              <a:t>        return None;</a:t>
            </a:r>
          </a:p>
          <a:p>
            <a:r>
              <a:t>    }</a:t>
            </a:r>
          </a:p>
          <a:p>
            <a:r>
              <a:t>    unit_price_cents.checked_mul(u64::from(qty))</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line_total(unit_price_cents: u64, qty: u32) -&gt; Option&lt;u64&gt;. qty 0 or above MAX_QTY (10,000) returns None; an overflowing product returns None; otherwise Some(total cents). Before writing any code, list the public signatures, the edge cases and at least four boundary tests you would expect. Ask me about anything ambiguous.</a:t>
            </a:r>
          </a:p>
          <a:p>
            <a:r>
              <a:t>Generate with AI: Implement "Turn a specification into a Rust function" in starter/src so that the supplied tests pass. Keep the u64/u32 types and the Option return; use checked arithmetic only.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5 passed; starter 0 passed / 5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is_valid_sku(&amp;str) -&gt; bool: after trimming, exactly 3 ASCII upper-case letters, "-", 4 ASCII digits. normalise_sku(&amp;str) -&gt; Option&lt;String&gt;: trimmed upper-case SKU when valid, else None.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owned String versus borrowed &amp;str, and bytes versus characters.</a:t>
            </a:r>
          </a:p>
          <a:p>
            <a:r>
              <a:t>fn describe(text: &amp;str) {</a:t>
            </a:r>
          </a:p>
          <a:p>
            <a:r>
              <a:t>    println!(</a:t>
            </a:r>
          </a:p>
          <a:p>
            <a:r>
              <a:t>        "{text:?}: {} bytes, {} chars",</a:t>
            </a:r>
          </a:p>
          <a:p>
            <a:r>
              <a:t>        text.len(),</a:t>
            </a:r>
          </a:p>
          <a:p>
            <a:r>
              <a:t>        text.chars().count()</a:t>
            </a:r>
          </a:p>
          <a:p>
            <a:r>
              <a:t>    );</a:t>
            </a:r>
          </a:p>
          <a:p>
            <a:r>
              <a:t>}</a:t>
            </a:r>
          </a:p>
          <a:p/>
          <a:p>
            <a:r>
              <a:t>fn main() {</a:t>
            </a:r>
          </a:p>
          <a:p>
            <a:r>
              <a:t>    let owned: String = String::from("  abc-1234  ");</a:t>
            </a:r>
          </a:p>
          <a:p>
            <a:r>
              <a:t>    let trimmed: &amp;str = owned.trim(); // borrows part of `owned`</a:t>
            </a:r>
          </a:p>
          <a:p>
            <a:r>
              <a:t>    let upper: String = trimmed.to_ascii_uppercase(); // new owned text</a:t>
            </a:r>
          </a:p>
          <a:p>
            <a:r>
              <a:t>    describe(&amp;owned);</a:t>
            </a:r>
          </a:p>
          <a:p>
            <a:r>
              <a:t>    describe(trimmed);</a:t>
            </a:r>
          </a:p>
          <a:p>
            <a:r>
              <a:t>    describe(&amp;upper);</a:t>
            </a:r>
          </a:p>
          <a:p>
            <a:r>
              <a:t>    describe("ÄBC-1234");</a:t>
            </a:r>
          </a:p>
          <a:p>
            <a:r>
              <a:t>}</a:t>
            </a:r>
          </a:p>
          <a:p/>
          <a:p>
            <a:r>
              <a:t>Expected:</a:t>
            </a:r>
          </a:p>
          <a:p>
            <a:r>
              <a:t>"  abc-1234  ": 12 bytes, 12 chars</a:t>
            </a:r>
          </a:p>
          <a:p>
            <a:r>
              <a:t>"abc-1234": 8 bytes, 8 chars</a:t>
            </a:r>
          </a:p>
          <a:p>
            <a:r>
              <a:t>"ABC-1234": 8 bytes, 8 chars</a:t>
            </a:r>
          </a:p>
          <a:p>
            <a:r>
              <a:t>"ÄBC-1234": 9 bytes, 8 chars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is_valid_sku(&amp;str) -&gt; bool: after trimming, exactly 3 ASCII upper-case letters, "-", 4 ASCII digits. normalise_sku(&amp;str) -&gt; Option&lt;String&gt;: trimmed upper-case SKU when valid, else None.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Returns true when `code`, after trimming, has the form `AAA-9999`.</a:t>
            </a:r>
          </a:p>
          <a:p>
            <a:r>
              <a:t>pub fn is_valid_sku(code: &amp;str) -&gt; bool {</a:t>
            </a:r>
          </a:p>
          <a:p>
            <a:r>
              <a:t>    let bytes = code.trim().as_bytes();</a:t>
            </a:r>
          </a:p>
          <a:p>
            <a:r>
              <a:t>    bytes.len() == 8</a:t>
            </a:r>
          </a:p>
          <a:p>
            <a:r>
              <a:t>        &amp;&amp; bytes[..3].iter().all(u8::is_ascii_uppercase)</a:t>
            </a:r>
          </a:p>
          <a:p>
            <a:r>
              <a:t>        &amp;&amp; bytes[3] == b'-'</a:t>
            </a:r>
          </a:p>
          <a:p>
            <a:r>
              <a:t>        &amp;&amp; bytes[4..].iter().all(u8::is_ascii_digit)</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is_valid_sku(&amp;str) -&gt; bool: after trimming, exactly 3 ASCII upper-case letters, "-", 4 ASCII digits. normalise_sku(&amp;str) -&gt; Option&lt;String&gt;: trimmed upper-case SKU when valid, else None. Before writing any code, list the public signatures, the edge cases and at least four boundary tests you would expect. Ask me about anything ambiguous.</a:t>
            </a:r>
          </a:p>
          <a:p>
            <a:r>
              <a:t>Generate with AI: Implement "Validate a product code with strings" in starter/src so that the supplied tests pass. Borrow &amp;str inputs, return an owned String only from normalise_sku, and do not use regex crates.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6 passed; starter 0 passed / 6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Item { sku, name, qty: u32 }. total_quantity(&amp;[Item]) -&gt; u64 reads; restock(&amp;mut Item, u32) -&gt; Option&lt;u32&gt; changes one item and leaves it unchanged on overflow; in_stock(Vec&lt;Item&gt;) -&gt; Vec&lt;Item&gt; consumes the list.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moving ownership, cloning, and Copy types.</a:t>
            </a:r>
          </a:p>
          <a:p>
            <a:r>
              <a:t>fn consume(items: Vec&lt;String&gt;) -&gt; usize {</a:t>
            </a:r>
          </a:p>
          <a:p>
            <a:r>
              <a:t>    items.len() // `items` is dropped at the end of this function</a:t>
            </a:r>
          </a:p>
          <a:p>
            <a:r>
              <a:t>}</a:t>
            </a:r>
          </a:p>
          <a:p/>
          <a:p>
            <a:r>
              <a:t>fn main() {</a:t>
            </a:r>
          </a:p>
          <a:p>
            <a:r>
              <a:t>    let items = vec![String::from("cable"), String::from("charger")];</a:t>
            </a:r>
          </a:p>
          <a:p>
            <a:r>
              <a:t>    let copy = items.clone(); // explicit deep copy</a:t>
            </a:r>
          </a:p>
          <a:p>
            <a:r>
              <a:t>    let count = consume(items); // ownership moves into `consume`</a:t>
            </a:r>
          </a:p>
          <a:p>
            <a:r>
              <a:t>                                // println!("{:?}", items); // error[E0382]: borrow of moved value</a:t>
            </a:r>
          </a:p>
          <a:p>
            <a:r>
              <a:t>    println!("consumed {count} items; the clone still has {copy:?}");</a:t>
            </a:r>
          </a:p>
          <a:p>
            <a:r>
              <a:t>    let n: u32 = 5;</a:t>
            </a:r>
          </a:p>
          <a:p>
            <a:r>
              <a:t>    let m = n; // integers are Copy: both stay usable</a:t>
            </a:r>
          </a:p>
          <a:p>
            <a:r>
              <a:t>    println!("n = {n}, m = {m}");</a:t>
            </a:r>
          </a:p>
          <a:p>
            <a:r>
              <a:t>}</a:t>
            </a:r>
          </a:p>
          <a:p/>
          <a:p>
            <a:r>
              <a:t>Expected:</a:t>
            </a:r>
          </a:p>
          <a:p>
            <a:r>
              <a:t>consumed 2 items; the clone still has ["cable", "charger"]</a:t>
            </a:r>
          </a:p>
          <a:p>
            <a:r>
              <a:t>n = 5, m = 5</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Item { sku, name, qty: u32 }. total_quantity(&amp;[Item]) -&gt; u64 reads; restock(&amp;mut Item, u32) -&gt; Option&lt;u32&gt; changes one item and leaves it unchanged on overflow; in_stock(Vec&lt;Item&gt;) -&gt; Vec&lt;Item&gt; consumes the list.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Borrows one item mutably and returns its new quantity.</a:t>
            </a:r>
          </a:p>
          <a:p>
            <a:r>
              <a:t>///</a:t>
            </a:r>
          </a:p>
          <a:p>
            <a:r>
              <a:t>/// On overflow the item is left unchanged and `None` is returned.</a:t>
            </a:r>
          </a:p>
          <a:p>
            <a:r>
              <a:t>pub fn restock(item: &amp;mut Item, amount: u32) -&gt; Option&lt;u32&gt; {</a:t>
            </a:r>
          </a:p>
          <a:p>
            <a:r>
              <a:t>    let new_qty = item.qty.checked_add(amount)?;</a:t>
            </a:r>
          </a:p>
          <a:p>
            <a:r>
              <a:t>    item.qty = new_qty;</a:t>
            </a:r>
          </a:p>
          <a:p>
            <a:r>
              <a:t>    Some(new_qty)</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Item { sku, name, qty: u32 }. total_quantity(&amp;[Item]) -&gt; u64 reads; restock(&amp;mut Item, u32) -&gt; Option&lt;u32&gt; changes one item and leaves it unchanged on overflow; in_stock(Vec&lt;Item&gt;) -&gt; Vec&lt;Item&gt; consumes the list. Before writing any code, list the public signatures, the edge cases and at least four boundary tests you would expect. Ask me about anything ambiguous.</a:t>
            </a:r>
          </a:p>
          <a:p>
            <a:r>
              <a:t>Generate with AI: Implement "Share inventory records with ownership and borrowing" in starter/src so that the supplied tests pass. Choose &amp;, &amp;mut or by-value parameters to match each function's intent; avoid clone() unless you justify it.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5 passed; starter 0 passed / 5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 Anchor: MODEL</a:t>
            </a:r>
          </a:p>
          <a:p>
            <a:r>
              <a:t>AI Vibe Coding for Rust Application Development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1. intent     "parse add/remove/list commands"</a:t>
            </a:r>
          </a:p>
          <a:p>
            <a:r>
              <a:t>2. contract   types, ranges, errors, tests</a:t>
            </a:r>
          </a:p>
          <a:p>
            <a:r>
              <a:t>3. prompt     bounded request to the AI</a:t>
            </a:r>
          </a:p>
          <a:p>
            <a:r>
              <a:t>4. generate   AI proposes code</a:t>
            </a:r>
          </a:p>
          <a:p>
            <a:r>
              <a:t>5. compile    cargo build   (the first reviewer)</a:t>
            </a:r>
          </a:p>
          <a:p>
            <a:r>
              <a:t>6. test       cargo test    (the specification)</a:t>
            </a:r>
          </a:p>
          <a:p>
            <a:r>
              <a:t>7. review     read, question, accept or reject</a:t>
            </a:r>
          </a:p>
          <a:p>
            <a:r>
              <a:t>8. record     decision + evidence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Speed = AI drafts in seconds; the loop turns drafts into trusted code.; Iteration = Small prompts and small diffs are easier to review.; Stop rule = Never accept code that fails a gate or that you cannot explain.; Record = Keep prompt, proposal, decision and test result for each change.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AI output looks right but was never run; Run cargo test and clippy before accepting; paste failures back as evidence.; Each activity review record shows prompt, decision and the passing test result.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Role:      Act as a senior Rust reviewer.</a:t>
            </a:r>
          </a:p>
          <a:p>
            <a:r>
              <a:t>Context:   StockPilot command parser, Rust 2021, std only.</a:t>
            </a:r>
          </a:p>
          <a:p>
            <a:r>
              <a:t>Contract:  parse_command(&amp;[&amp;str]) -&gt; Result&lt;Command, String&gt;</a:t>
            </a:r>
          </a:p>
          <a:p>
            <a:r>
              <a:t>           list | add &lt;sku&gt; &lt;qty&gt; | remove &lt;sku&gt; &lt;qty&gt;</a:t>
            </a:r>
          </a:p>
          <a:p>
            <a:r>
              <a:t>           qty: u32 and &gt;= 1</a:t>
            </a:r>
          </a:p>
          <a:p>
            <a:r>
              <a:t>Limits:    no new crates, no unsafe, no unwrap on input,</a:t>
            </a:r>
          </a:p>
          <a:p>
            <a:r>
              <a:t>           keep the public signature.</a:t>
            </a:r>
          </a:p>
          <a:p>
            <a:r>
              <a:t>Output:    code + 4 boundary tests + one-line reasons.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Include = Specification, relevant file, exact cargo output.; Exclude = Secrets, API keys, personal data, assessment answers.; Size = One function or one fix per prompt.; Follow-up = Ask "which edge case did you not test?" before accepting.</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AI invents a crate or API; Reject; restate the limits and ask for a std-only version, then compile to confirm.; The accepted proposal compiles, passes the tests and respects every limit.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error[E0382]: borrow of moved value: `items`</a:t>
            </a:r>
          </a:p>
          <a:p>
            <a:r>
              <a:t> --&gt; src/main.rs:9:22</a:t>
            </a:r>
          </a:p>
          <a:p>
            <a:r>
              <a:t>  |</a:t>
            </a:r>
          </a:p>
          <a:p>
            <a:r>
              <a:t>5 |     let items = vec![cable, charger];</a:t>
            </a:r>
          </a:p>
          <a:p>
            <a:r>
              <a:t>  |         ----- move occurs because `items` has type</a:t>
            </a:r>
          </a:p>
          <a:p>
            <a:r>
              <a:t>  |               `Vec&lt;Item&gt;`, which does not implement Copy</a:t>
            </a:r>
          </a:p>
          <a:p>
            <a:r>
              <a:t>7 |     let kept = in_stock(items);</a:t>
            </a:r>
          </a:p>
          <a:p>
            <a:r>
              <a:t>  |                         ----- value moved here</a:t>
            </a:r>
          </a:p>
          <a:p>
            <a:r>
              <a:t>9 |     println!("{:?}", items);</a:t>
            </a:r>
          </a:p>
          <a:p>
            <a:r>
              <a:t>  |                      ^^^^^ value borrowed here after move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Read order = First error first; later errors are often consequences.; Explain = rustc --explain E0XXX gives a worked example.; Fix scope = Smallest change that keeps the contract.; Evidence = Record the error and the fix in the review record.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Many errors after one AI change; Revert to the last green state, apply the change in smaller steps and rebuild.; cargo build reports zero errors and zero warnings.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 Red flags in a proposal</a:t>
            </a:r>
          </a:p>
          <a:p>
            <a:r>
              <a:t>let qty: u32 = args[2].parse().unwrap();   // panics on bad input</a:t>
            </a:r>
          </a:p>
          <a:p>
            <a:r>
              <a:t>unsafe { ... }                             // never needed here</a:t>
            </a:r>
          </a:p>
          <a:p>
            <a:r>
              <a:t>let copy = items.clone();                  // unjustified clone</a:t>
            </a:r>
          </a:p>
          <a:p>
            <a:r>
              <a:t>use clap::Parser;                          // new crate, not allowed</a:t>
            </a:r>
          </a:p>
          <a:p/>
          <a:p>
            <a:r>
              <a:t>// Accept when</a:t>
            </a:r>
          </a:p>
          <a:p>
            <a:r>
              <a:t>cargo test                                 # all pass</a:t>
            </a:r>
          </a:p>
          <a:p>
            <a:r>
              <a:t>cargo clippy --all-targets -- -D warnings  # clean</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Signatures = Public API unchanged unless the specification changed.; Errors = Invalid input returns Err/None, never panics.; Tests = Every boundary in the specification is tested.; Explainability = You can explain every line to a colleague.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Proposal passes tests but uses unwrap on input; Reject; ask for map_err/? so bad input returns an error the caller can handle.; The review record lists at least one rejected or edited suggestion with a reason.</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 src/lib.rs</a:t>
            </a:r>
          </a:p>
          <a:p>
            <a:r>
              <a:t>pub mod money;      // loads src/money.rs</a:t>
            </a:r>
          </a:p>
          <a:p>
            <a:r>
              <a:t>pub mod report;     // loads src/report.rs</a:t>
            </a:r>
          </a:p>
          <a:p/>
          <a:p>
            <a:r>
              <a:t>// src/report.rs</a:t>
            </a:r>
          </a:p>
          <a:p>
            <a:r>
              <a:t>use crate::money::format_cents;</a:t>
            </a:r>
          </a:p>
          <a:p/>
          <a:p>
            <a:r>
              <a:t>pub fn report_line(name: &amp;str, qty: u32, unit: u64)</a:t>
            </a:r>
          </a:p>
          <a:p>
            <a:r>
              <a:t>    -&gt; Option&lt;String&gt; { /* ... */ }</a:t>
            </a:r>
          </a:p>
          <a:p>
            <a:r>
              <a:t>fn helper() {}      // private to this module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pub = Visible to other crates, including your tests/ folder.; pub(crate) = Visible inside this crate only.; Module per concern = money formats currency; report builds lines.; API check = Integration tests compile only against pub items.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error[E0603]: function is private; Make it pub if it is part of the API, or test it inside the module with #[cfg(test)].; Activity 5 tests import activity05::money and activity05::report successfully.</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 Cargo.toml</a:t>
            </a:r>
          </a:p>
          <a:p>
            <a:r>
              <a:t>[dependencies]</a:t>
            </a:r>
          </a:p>
          <a:p>
            <a:r>
              <a:t>serde = { version = "1", features = ["derive"] }</a:t>
            </a:r>
          </a:p>
          <a:p>
            <a:r>
              <a:t>serde_json = "1"</a:t>
            </a:r>
          </a:p>
          <a:p/>
          <a:p>
            <a:r>
              <a:t>cargo add serde --features derive   # edits Cargo.toml</a:t>
            </a:r>
          </a:p>
          <a:p>
            <a:r>
              <a:t>cargo build                         # downloads + locks</a:t>
            </a:r>
          </a:p>
          <a:p>
            <a:r>
              <a:t>cargo tree                          # show dependency graph</a:t>
            </a:r>
          </a:p>
          <a:p>
            <a:r>
              <a:t>cargo update                        # move within semver range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Approval = Every new crate is a design decision recorded in review.; Reproducibility = Cargo.lock gives every learner the same versions.; Offline = cargo fetch downloads everything before class.; Audit = cargo tree shows what a crate pulls in.</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failed to select a version / download error; Check the version string and network, then cargo fetch; never copy crates by hand.; Activity 6 builds with serde 1.x recorded in Cargo.lock and 6 tests pass.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cargo fmt                              # rewrite to house style</a:t>
            </a:r>
          </a:p>
          <a:p>
            <a:r>
              <a:t>cargo fmt --check                      # fail if not formatted</a:t>
            </a:r>
          </a:p>
          <a:p>
            <a:r>
              <a:t>cargo clippy --all-targets -- -D warnings</a:t>
            </a:r>
          </a:p>
          <a:p/>
          <a:p>
            <a:r>
              <a:t>warning: this `if` has identical blocks</a:t>
            </a:r>
          </a:p>
          <a:p>
            <a:r>
              <a:t>warning: redundant clone</a:t>
            </a:r>
          </a:p>
          <a:p>
            <a:r>
              <a:t>warning: missing documentation for a function</a:t>
            </a:r>
          </a:p>
          <a:p>
            <a:r>
              <a:t>  = help: for further information visit</a:t>
            </a:r>
          </a:p>
          <a:p>
            <a:r>
              <a:t>    https://rust-lang.github.io/rust-clippy/...</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Before commit = fmt --check, clippy -D warnings and test must all pass.; AI output = Run the same gates on generated code; no exceptions.; Allow a lint = Only with #[allow(...)] plus a reason in a comment.; CI = The same three commands can run in a pipeline.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clippy fails after an AI change; Read the lint link, apply the suggested idiom, rerun tests to confirm behaviour.; Every activity solution passes fmt --check and clippy -D warnings.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UI</a:t>
            </a:r>
          </a:p>
          <a:p>
            <a:r>
              <a:t>Extensions</a:t>
            </a:r>
          </a:p>
          <a:p>
            <a:r>
              <a:t>  rust-analyzer            types, errors, go-to-definition</a:t>
            </a:r>
          </a:p>
          <a:p>
            <a:r>
              <a:t>  (optional) CodeLLDB      step-through debugging</a:t>
            </a:r>
          </a:p>
          <a:p>
            <a:r>
              <a:t>  your AI assistant        Copilot / Claude / ChatGPT</a:t>
            </a:r>
          </a:p>
          <a:p/>
          <a:p>
            <a:r>
              <a:t>Workspace habits</a:t>
            </a:r>
          </a:p>
          <a:p>
            <a:r>
              <a:t>  open the crate folder    (the one with Cargo.toml)</a:t>
            </a:r>
          </a:p>
          <a:p>
            <a:r>
              <a:t>  inlay hints on           see inferred types</a:t>
            </a:r>
          </a:p>
          <a:p>
            <a:r>
              <a:t>  terminal: cargo test     after every accepted change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UI</a:t>
            </a:r>
          </a:p>
          <a:p>
            <a:r>
              <a:t>Folder = Open starter/ or solution/ so rust-analyzer finds Cargo.toml.; Save = Format on save can call rustfmt automatically.; Terminal = Use the integrated terminal for cargo commands.; Privacy = Do not paste secrets or assessment answers into AI tools.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UI</a:t>
            </a:r>
          </a:p>
          <a:p>
            <a:r>
              <a:t>rust-analyzer: failed to find a workspace; Open the folder that contains Cargo.toml, then reload the window.; Hovering a variable shows its type and cargo test runs from the terminal.</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parse_command(&amp;[&amp;str]) -&gt; Result&lt;Command, String&gt;. Accepts exactly: list | add &lt;sku&gt; &lt;qty&gt; | remove &lt;sku&gt; &lt;qty&gt;. qty must parse as u32 and be at least 1. Anything else returns Err with a usage or reason message.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reading command-line arguments.</a:t>
            </a:r>
          </a:p>
          <a:p>
            <a:r>
              <a:t>use std::env;</a:t>
            </a:r>
          </a:p>
          <a:p/>
          <a:p>
            <a:r>
              <a:t>fn main() {</a:t>
            </a:r>
          </a:p>
          <a:p>
            <a:r>
              <a:t>    let args: Vec&lt;String&gt; = env::args().skip(1).collect();</a:t>
            </a:r>
          </a:p>
          <a:p>
            <a:r>
              <a:t>    if args.is_empty() {</a:t>
            </a:r>
          </a:p>
          <a:p>
            <a:r>
              <a:t>        println!("no arguments: try ./01_command_line_args add ABC-0001 5");</a:t>
            </a:r>
          </a:p>
          <a:p>
            <a:r>
              <a:t>        return;</a:t>
            </a:r>
          </a:p>
          <a:p>
            <a:r>
              <a:t>    }</a:t>
            </a:r>
          </a:p>
          <a:p>
            <a:r>
              <a:t>    for (index, arg) in args.iter().enumerate() {</a:t>
            </a:r>
          </a:p>
          <a:p>
            <a:r>
              <a:t>        println!("argument {index}: {arg}");</a:t>
            </a:r>
          </a:p>
          <a:p>
            <a:r>
              <a:t>    }</a:t>
            </a:r>
          </a:p>
          <a:p>
            <a:r>
              <a:t>}</a:t>
            </a:r>
          </a:p>
          <a:p/>
          <a:p>
            <a:r>
              <a:t>Expected:</a:t>
            </a:r>
          </a:p>
          <a:p>
            <a:r>
              <a:t>argument 0: add</a:t>
            </a:r>
          </a:p>
          <a:p>
            <a:r>
              <a:t>argument 1: ABC-0001</a:t>
            </a:r>
          </a:p>
          <a:p>
            <a:r>
              <a:t>argument 2: 5</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parse_command(&amp;[&amp;str]) -&gt; Result&lt;Command, String&gt;. Accepts exactly: list | add &lt;sku&gt; &lt;qty&gt; | remove &lt;sku&gt; &lt;qty&gt;. qty must parse as u32 and be at least 1. Anything else returns Err with a usage or reason message.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pub fn parse_command(args: &amp;[&amp;str]) -&gt; Result&lt;Command, String&gt; {</a:t>
            </a:r>
          </a:p>
          <a:p>
            <a:r>
              <a:t>    match args {</a:t>
            </a:r>
          </a:p>
          <a:p>
            <a:r>
              <a:t>        ["list"] =&gt; Ok(Command::List),</a:t>
            </a:r>
          </a:p>
          <a:p>
            <a:r>
              <a:t>        [verb @ ("add" | "remove"), sku, qty] =&gt; {</a:t>
            </a:r>
          </a:p>
          <a:p>
            <a:r>
              <a:t>            let qty: u32 = qty</a:t>
            </a:r>
          </a:p>
          <a:p>
            <a:r>
              <a:t>                .parse()</a:t>
            </a:r>
          </a:p>
          <a:p>
            <a:r>
              <a:t>                .map_err(|_| format!("invalid quantity: {qty}"))?;</a:t>
            </a:r>
          </a:p>
          <a:p>
            <a:r>
              <a:t>            if qty == 0 {</a:t>
            </a:r>
          </a:p>
          <a:p>
            <a:r>
              <a:t>                return Err("quantity must be at least 1".to_string());</a:t>
            </a:r>
          </a:p>
          <a:p>
            <a:r>
              <a:t>            }</a:t>
            </a:r>
          </a:p>
          <a:p>
            <a:r>
              <a:t>            let sku = sku.to_string();</a:t>
            </a:r>
          </a:p>
          <a:p>
            <a:r>
              <a:t>            if *verb == "add" {</a:t>
            </a:r>
          </a:p>
          <a:p>
            <a:r>
              <a:t>                Ok(Command::Add { sku, qty })</a:t>
            </a:r>
          </a:p>
          <a:p>
            <a:r>
              <a:t>            } else {</a:t>
            </a:r>
          </a:p>
          <a:p>
            <a:r>
              <a:t>                Ok(Command::Remove { sku, qty })</a:t>
            </a:r>
          </a:p>
          <a:p>
            <a:r>
              <a:t>            }</a:t>
            </a:r>
          </a:p>
          <a:p>
            <a:r>
              <a:t>    // ... full code: solution/src/lib.rs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parse_command(&amp;[&amp;str]) -&gt; Result&lt;Command, String&gt;. Accepts exactly: list | add &lt;sku&gt; &lt;qty&gt; | remove &lt;sku&gt; &lt;qty&gt;. qty must parse as u32 and be at least 1. Anything else returns Err with a usage or reason message. Before writing any code, list the public signatures, the edge cases and at least four boundary tests you would expect. Ask me about anything ambiguous.</a:t>
            </a:r>
          </a:p>
          <a:p>
            <a:r>
              <a:t>Generate with AI: Implement "Vibe-code a command parser" in starter/src so that the supplied tests pass. Generate the parser from the command grammar only; reject any suggestion that adds crates such as clap.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5 passed; starter 0 passed / 5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money::format_cents(u64) -&gt; String renders "$D.CC". report::report_line(name, qty, unit_cents) -&gt; Option&lt;String&gt; renders "&lt;name&gt; x&lt;qty&gt; @ &lt;unit&gt; = &lt;total&gt;"; report::report joins lines with "\n" and fails wholly on overflow.</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modules and privacy in one file.</a:t>
            </a:r>
          </a:p>
          <a:p>
            <a:r>
              <a:t>mod money {</a:t>
            </a:r>
          </a:p>
          <a:p>
            <a:r>
              <a:t>    pub fn format_cents(cents: u64) -&gt; String {</a:t>
            </a:r>
          </a:p>
          <a:p>
            <a:r>
              <a:t>        format!("${}.{:02}", cents / 100, cents % 100)</a:t>
            </a:r>
          </a:p>
          <a:p>
            <a:r>
              <a:t>    }</a:t>
            </a:r>
          </a:p>
          <a:p/>
          <a:p>
            <a:r>
              <a:t>    fn secret_rule() -&gt; &amp;'static str {</a:t>
            </a:r>
          </a:p>
          <a:p>
            <a:r>
              <a:t>        "private: only code inside `money` can call this"</a:t>
            </a:r>
          </a:p>
          <a:p>
            <a:r>
              <a:t>    }</a:t>
            </a:r>
          </a:p>
          <a:p/>
          <a:p>
            <a:r>
              <a:t>    pub fn explain() -&gt; &amp;'static str {</a:t>
            </a:r>
          </a:p>
          <a:p>
            <a:r>
              <a:t>        secret_rule()</a:t>
            </a:r>
          </a:p>
          <a:p>
            <a:r>
              <a:t>    }</a:t>
            </a:r>
          </a:p>
          <a:p>
            <a:r>
              <a:t>}</a:t>
            </a:r>
          </a:p>
          <a:p/>
          <a:p>
            <a:r>
              <a:t>mod report {</a:t>
            </a:r>
          </a:p>
          <a:p>
            <a:r>
              <a:t>    use crate::money::format_cents; // path from the crate root</a:t>
            </a:r>
          </a:p>
          <a:p/>
          <a:p>
            <a:r>
              <a:t>    pub fn line(name: &amp;str, qty: u32, unit: u64) -&gt; String {</a:t>
            </a:r>
          </a:p>
          <a:p>
            <a:r>
              <a:t>        let total = unit * u64::from(qty);</a:t>
            </a:r>
          </a:p>
          <a:p>
            <a:r>
              <a:t>        format!(</a:t>
            </a:r>
          </a:p>
          <a:p>
            <a:r>
              <a:t>            "{name} x{qty} @ {} = {}",</a:t>
            </a:r>
          </a:p>
          <a:p>
            <a:r>
              <a:t>            format_cents(unit),</a:t>
            </a:r>
          </a:p>
          <a:p>
            <a:r>
              <a:t>            format_cents(total)</a:t>
            </a:r>
          </a:p>
          <a:p>
            <a:r>
              <a:t>        )</a:t>
            </a:r>
          </a:p>
          <a:p>
            <a:r>
              <a:t>    }</a:t>
            </a:r>
          </a:p>
          <a:p>
            <a:r>
              <a:t>}</a:t>
            </a:r>
          </a:p>
          <a:p/>
          <a:p>
            <a:r>
              <a:t>fn main() {</a:t>
            </a:r>
          </a:p>
          <a:p>
            <a:r>
              <a:t>    println!("{}", report::line("Cable", 3, 250));</a:t>
            </a:r>
          </a:p>
          <a:p>
            <a:r>
              <a:t>    println!("{}", money::explain());</a:t>
            </a:r>
          </a:p>
          <a:p>
            <a:r>
              <a:t>    // money::secret_rule(); // error[E0603]: function `secret_rule` is private</a:t>
            </a:r>
          </a:p>
          <a:p>
            <a:r>
              <a:t>}</a:t>
            </a:r>
          </a:p>
          <a:p/>
          <a:p>
            <a:r>
              <a:t>Expected:</a:t>
            </a:r>
          </a:p>
          <a:p>
            <a:r>
              <a:t>Cable x3 @ $2.50 = $7.50</a:t>
            </a:r>
          </a:p>
          <a:p>
            <a:r>
              <a:t>private: only code inside `money` can call this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money::format_cents(u64) -&gt; String renders "$D.CC". report::report_line(name, qty, unit_cents) -&gt; Option&lt;String&gt; renders "&lt;name&gt; x&lt;qty&gt; @ &lt;unit&gt; = &lt;total&gt;"; report::report joins lines with "\n" and fails wholly on overflow.</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Builds `"&lt;name&gt; x&lt;qty&gt; @ &lt;unit&gt; = &lt;total&gt;"`, or `None` on overflow.</a:t>
            </a:r>
          </a:p>
          <a:p>
            <a:r>
              <a:t>pub fn report_line(name: &amp;str, qty: u32, unit_cents: u64) -&gt; Option&lt;String&gt; {</a:t>
            </a:r>
          </a:p>
          <a:p>
            <a:r>
              <a:t>    let total = unit_cents.checked_mul(u64::from(qty))?;</a:t>
            </a:r>
          </a:p>
          <a:p>
            <a:r>
              <a:t>    Some(format!(</a:t>
            </a:r>
          </a:p>
          <a:p>
            <a:r>
              <a:t>        "{name} x{qty} @ {} = {}",</a:t>
            </a:r>
          </a:p>
          <a:p>
            <a:r>
              <a:t>        format_cents(unit_cents),</a:t>
            </a:r>
          </a:p>
          <a:p>
            <a:r>
              <a:t>        format_cents(total)</a:t>
            </a:r>
          </a:p>
          <a:p>
            <a:r>
              <a:t>    ))</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money::format_cents(u64) -&gt; String renders "$D.CC". report::report_line(name, qty, unit_cents) -&gt; Option&lt;String&gt; renders "&lt;name&gt; x&lt;qty&gt; @ &lt;unit&gt; = &lt;total&gt;"; report::report joins lines with "\n" and fails wholly on overflow. Before writing any code, list the public signatures, the edge cases and at least four boundary tests you would expect. Ask me about anything ambiguous.</a:t>
            </a:r>
          </a:p>
          <a:p>
            <a:r>
              <a:t>Generate with AI: Implement "Organise a crate into modules" in starter/src so that the supplied tests pass. Keep the two-module layout and public paths; do not merge modules to make tests pass.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4 passed; starter 0 passed / 4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Item { sku, name, qty: u32, unit_cents: u64 } derives Serialize and Deserialize. load_items(&amp;str) -&gt; Result&lt;Vec&lt;Item&gt;, serde_json::Error&gt;; to_json(&amp;[Item]) -&gt; Result&lt;String, _&gt;; stock_value(&amp;[Item]) -&gt; Option&lt;u64&gt;.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parsing "sku,qty" by hand - the work serde automates for JSON.</a:t>
            </a:r>
          </a:p>
          <a:p>
            <a:r>
              <a:t>struct Item {</a:t>
            </a:r>
          </a:p>
          <a:p>
            <a:r>
              <a:t>    sku: String,</a:t>
            </a:r>
          </a:p>
          <a:p>
            <a:r>
              <a:t>    qty: u32,</a:t>
            </a:r>
          </a:p>
          <a:p>
            <a:r>
              <a:t>}</a:t>
            </a:r>
          </a:p>
          <a:p/>
          <a:p>
            <a:r>
              <a:t>fn parse(line: &amp;str) -&gt; Result&lt;Item, String&gt; {</a:t>
            </a:r>
          </a:p>
          <a:p>
            <a:r>
              <a:t>    let (sku, qty) = line.split_once(',').ok_or("expected sku,qty")?;</a:t>
            </a:r>
          </a:p>
          <a:p>
            <a:r>
              <a:t>    let qty = qty.trim().parse::&lt;u32&gt;().map_err(|e| format!("qty: {e}"))?;</a:t>
            </a:r>
          </a:p>
          <a:p>
            <a:r>
              <a:t>    Ok(Item {</a:t>
            </a:r>
          </a:p>
          <a:p>
            <a:r>
              <a:t>        sku: sku.trim().to_string(),</a:t>
            </a:r>
          </a:p>
          <a:p>
            <a:r>
              <a:t>        qty,</a:t>
            </a:r>
          </a:p>
          <a:p>
            <a:r>
              <a:t>    })</a:t>
            </a:r>
          </a:p>
          <a:p>
            <a:r>
              <a:t>}</a:t>
            </a:r>
          </a:p>
          <a:p/>
          <a:p>
            <a:r>
              <a:t>fn main() {</a:t>
            </a:r>
          </a:p>
          <a:p>
            <a:r>
              <a:t>    for line in ["ABC-0001, 40", "ABC-0002,-1", "no comma"] {</a:t>
            </a:r>
          </a:p>
          <a:p>
            <a:r>
              <a:t>        match parse(line) {</a:t>
            </a:r>
          </a:p>
          <a:p>
            <a:r>
              <a:t>            Ok(item) =&gt; {</a:t>
            </a:r>
          </a:p>
          <a:p>
            <a:r>
              <a:t>                println!("{line:?} -&gt; sku={} qty={}", item.sku, item.qty)</a:t>
            </a:r>
          </a:p>
          <a:p>
            <a:r>
              <a:t>            }</a:t>
            </a:r>
          </a:p>
          <a:p>
            <a:r>
              <a:t>            Err(error) =&gt; println!("{line:?} -&gt; error: {error}"),</a:t>
            </a:r>
          </a:p>
          <a:p>
            <a:r>
              <a:t>        }</a:t>
            </a:r>
          </a:p>
          <a:p>
            <a:r>
              <a:t>    }</a:t>
            </a:r>
          </a:p>
          <a:p>
            <a:r>
              <a:t>}</a:t>
            </a:r>
          </a:p>
          <a:p/>
          <a:p>
            <a:r>
              <a:t>Expected:</a:t>
            </a:r>
          </a:p>
          <a:p>
            <a:r>
              <a:t>"ABC-0001, 40" -&gt; sku=ABC-0001 qty=40</a:t>
            </a:r>
          </a:p>
          <a:p>
            <a:r>
              <a:t>"ABC-0002,-1" -&gt; error: qty: invalid digit found in string</a:t>
            </a:r>
          </a:p>
          <a:p>
            <a:r>
              <a:t>"no comma" -&gt; error: expected sku,qty</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Item { sku, name, qty: u32, unit_cents: u64 } derives Serialize and Deserialize. load_items(&amp;str) -&gt; Result&lt;Vec&lt;Item&gt;, serde_json::Error&gt;; to_json(&amp;[Item]) -&gt; Result&lt;String, _&gt;; stock_value(&amp;[Item]) -&gt; Option&lt;u64&gt;.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Parses a JSON array of items; missing or mistyped fields are errors.</a:t>
            </a:r>
          </a:p>
          <a:p>
            <a:r>
              <a:t>pub fn load_items(json: &amp;str) -&gt; Result&lt;Vec&lt;Item&gt;, serde_json::Error&gt; {</a:t>
            </a:r>
          </a:p>
          <a:p>
            <a:r>
              <a:t>    serde_json::from_str(json)</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Item { sku, name, qty: u32, unit_cents: u64 } derives Serialize and Deserialize. load_items(&amp;str) -&gt; Result&lt;Vec&lt;Item&gt;, serde_json::Error&gt;; to_json(&amp;[Item]) -&gt; Result&lt;String, _&gt;; stock_value(&amp;[Item]) -&gt; Option&lt;u64&gt;. Before writing any code, list the public signatures, the edge cases and at least four boundary tests you would expect. Ask me about anything ambiguous.</a:t>
            </a:r>
          </a:p>
          <a:p>
            <a:r>
              <a:t>Generate with AI: Implement "Load inventory JSON with Cargo dependencies" in starter/src so that the supplied tests pass. Use serde derive only; do not hand-write JSON parsing or add other crates.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6 passed; starter 0 passed / 6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 Anchor: MODEL</a:t>
            </a:r>
          </a:p>
          <a:p>
            <a:r>
              <a:t>Rust Programming Controls, Functions and Features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let label = if qty == 0 { "out" } else { "in stock" };</a:t>
            </a:r>
          </a:p>
          <a:p/>
          <a:p>
            <a:r>
              <a:t>let status = match qty {</a:t>
            </a:r>
          </a:p>
          <a:p>
            <a:r>
              <a:t>    0 =&gt; "out of stock",</a:t>
            </a:r>
          </a:p>
          <a:p>
            <a:r>
              <a:t>    1..=4 =&gt; "low",</a:t>
            </a:r>
          </a:p>
          <a:p>
            <a:r>
              <a:t>    5..=99 =&gt; "ok",</a:t>
            </a:r>
          </a:p>
          <a:p>
            <a:r>
              <a:t>    _ =&gt; "bulk",</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Boolean = Conditions must be bool; there is no truthy integer.; Exhaustive = match must cover every possible value.; Order = Arms are tried top to bottom; the first match wins.; Tests = Test each range boundary: 0, 1, 4, 5, 99, 100.</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error[E0004]: non-exhaustive patterns; Add the missing arm (the compiler lists it) instead of a blanket _ that hides it.; Boundary tests cover every arm.</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enum Movement { Receive(u32), Ship(u32), Adjust(i64) }</a:t>
            </a:r>
          </a:p>
          <a:p/>
          <a:p>
            <a:r>
              <a:t>match movement {</a:t>
            </a:r>
          </a:p>
          <a:p>
            <a:r>
              <a:t>    Movement::Receive(q) =&gt; stock.checked_add(q)</a:t>
            </a:r>
          </a:p>
          <a:p>
            <a:r>
              <a:t>        .ok_or(StockError::Overflow),</a:t>
            </a:r>
          </a:p>
          <a:p>
            <a:r>
              <a:t>    Movement::Ship(q) if q &gt; stock =&gt; Err(Insufficient {..}),</a:t>
            </a:r>
          </a:p>
          <a:p>
            <a:r>
              <a:t>    Movement::Ship(q) =&gt; Ok(stock - q),</a:t>
            </a:r>
          </a:p>
          <a:p>
            <a:r>
              <a:t>    Movement::Adjust(d) =&gt; adjust(stock, d),</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Receive = checked_add; Overflow on u32 overflow.; Ship = Insufficient when requested &gt; available.; Adjust = NegativeResult below zero; Overflow above u32.; Sequence = apply_all stops at the first error.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New variant silently ignored; Avoid _ in matches over your own enums so the compiler lists every place to update.; Activity 7: six tests cover every variant and every error.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for item in &amp;items {                 // iterate by reference</a:t>
            </a:r>
          </a:p>
          <a:p>
            <a:r>
              <a:t>    total += u64::from(item.qty);</a:t>
            </a:r>
          </a:p>
          <a:p>
            <a:r>
              <a:t>}</a:t>
            </a:r>
          </a:p>
          <a:p/>
          <a:p>
            <a:r>
              <a:t>for (index, line) in text.lines().enumerate() { /* .. */ }</a:t>
            </a:r>
          </a:p>
          <a:p/>
          <a:p>
            <a:r>
              <a:t>let mut attempts = 0;</a:t>
            </a:r>
          </a:p>
          <a:p>
            <a:r>
              <a:t>let code = loop {                    // loop can return a value</a:t>
            </a:r>
          </a:p>
          <a:p>
            <a:r>
              <a:t>    attempts += 1;</a:t>
            </a:r>
          </a:p>
          <a:p>
            <a:r>
              <a:t>    if attempts == 3 { break "gave up"; }</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Preferred = for over iterators; no manual index bounds to get wrong.; while = When the stop condition is not a collection end.; continue = Skip blank lines and headers early.; Early exit = ? inside a loop returns the first error from the function.</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index out of bounds panic; Iterate with for x in &amp;v or use v.get(i) which returns Option.; Activity 10 numbers errors from 1 and skips header and blank lines.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#[derive(Debug, Default)]</a:t>
            </a:r>
          </a:p>
          <a:p>
            <a:r>
              <a:t>pub struct Inventory {</a:t>
            </a:r>
          </a:p>
          <a:p>
            <a:r>
              <a:t>    stock: HashMap&lt;String, u32&gt;,    // private field</a:t>
            </a:r>
          </a:p>
          <a:p>
            <a:r>
              <a:t>}</a:t>
            </a:r>
          </a:p>
          <a:p/>
          <a:p>
            <a:r>
              <a:t>impl Inventory {</a:t>
            </a:r>
          </a:p>
          <a:p>
            <a:r>
              <a:t>    pub fn new() -&gt; Self { Self::default() }</a:t>
            </a:r>
          </a:p>
          <a:p>
            <a:r>
              <a:t>    pub fn quantity(&amp;self, sku: &amp;str) -&gt; u32 { .. }</a:t>
            </a:r>
          </a:p>
          <a:p>
            <a:r>
              <a:t>    pub fn ship(&amp;mut self, sku: &amp;str, qty: u32)</a:t>
            </a:r>
          </a:p>
          <a:p>
            <a:r>
              <a:t>        -&gt; Result&lt;u32, String&gt; { .. }</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Constructor = new() by convention; Default for empty values.; Readers = &amp;self methods such as quantity and low_stock.; Writers = &amp;mut self methods such as receive and ship.; Invariant = Stock never goes below zero because only ship can reduce it.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cannot borrow as mutable (E0596); Declare the variable with let mut, or change the method to take &amp;self if it only reads.; Activity 8: callers cannot touch the HashMap directly and six tests pass.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let mut skus: Vec&lt;String&gt; = Vec::new();</a:t>
            </a:r>
          </a:p>
          <a:p>
            <a:r>
              <a:t>skus.push("ABC-0001".to_string());</a:t>
            </a:r>
          </a:p>
          <a:p>
            <a:r>
              <a:t>skus.sort();</a:t>
            </a:r>
          </a:p>
          <a:p/>
          <a:p>
            <a:r>
              <a:t>let mut stock: HashMap&lt;String, u32&gt; = HashMap::new();</a:t>
            </a:r>
          </a:p>
          <a:p>
            <a:r>
              <a:t>*stock.entry("ABC-0001".into()).or_insert(0) += 5;</a:t>
            </a:r>
          </a:p>
          <a:p>
            <a:r>
              <a:t>let level = stock.get("ABC-0001").copied().unwrap_or(0);</a:t>
            </a:r>
          </a:p>
          <a:p/>
          <a:p>
            <a:r>
              <a:t>if let Some(q) = stock.get_mut("ABC-0001") { *q -= 1; }</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Order = Sort before output because HashMap order is random.; Ownership = Keys are owned Strings; look up with &amp;str.; Missing key = unwrap_or(0) or an explicit error, never map[key] panic.; Choice = Vec for sequences; HashMap for lookup by id.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Test passes locally, fails elsewhere; Output depended on HashMap order; sort the result before comparing.; low_stock returns a sorted Vec so tests are deterministic.</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pub trait Priced {</a:t>
            </a:r>
          </a:p>
          <a:p>
            <a:r>
              <a:t>    fn unit_cents(&amp;self) -&gt; u64;</a:t>
            </a:r>
          </a:p>
          <a:p>
            <a:r>
              <a:t>    fn quantity(&amp;self) -&gt; u32;</a:t>
            </a:r>
          </a:p>
          <a:p>
            <a:r>
              <a:t>    fn line_cents(&amp;self) -&gt; Option&lt;u64&gt; {       // default</a:t>
            </a:r>
          </a:p>
          <a:p>
            <a:r>
              <a:t>        self.unit_cents().checked_mul(u64::from(self.quantity()))</a:t>
            </a:r>
          </a:p>
          <a:p>
            <a:r>
              <a:t>    }</a:t>
            </a:r>
          </a:p>
          <a:p>
            <a:r>
              <a:t>}</a:t>
            </a:r>
          </a:p>
          <a:p>
            <a:r>
              <a:t>impl Priced for Product { .. }</a:t>
            </a:r>
          </a:p>
          <a:p>
            <a:r>
              <a:t>impl Priced for Service { .. }</a:t>
            </a:r>
          </a:p>
          <a:p/>
          <a:p>
            <a:r>
              <a:t>fn order_total&lt;T: Priced&gt;(lines: &amp;[T]) -&gt; Option&lt;u64&gt;</a:t>
            </a:r>
          </a:p>
          <a:p>
            <a:r>
              <a:t>fn mixed_total(lines: &amp;[&amp;dyn Priced]) -&gt; Option&lt;u64&gt;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Contract = Implementors supply unit_cents and quantity only.; Extension = A new type joins by implementing the trait; totals are unchanged.; Dispatch = Generics for speed; trait objects for mixed collections.; Tests = Test the default method once via any implementor.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the trait bound `X: Priced` is not satisfied; Implement Priced for X, or pass a type that already implements it.; Activity 9 totals products, services and a mixed order.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let expensive: Vec&lt;&amp;str&gt; = products</a:t>
            </a:r>
          </a:p>
          <a:p>
            <a:r>
              <a:t>    .iter()</a:t>
            </a:r>
          </a:p>
          <a:p>
            <a:r>
              <a:t>    .filter(|p| p.unit_cents &gt;= 1_000)</a:t>
            </a:r>
          </a:p>
          <a:p>
            <a:r>
              <a:t>    .map(|p| p.name.as_str())</a:t>
            </a:r>
          </a:p>
          <a:p>
            <a:r>
              <a:t>    .collect();</a:t>
            </a:r>
          </a:p>
          <a:p/>
          <a:p>
            <a:r>
              <a:t>let total = lines.iter().try_fold(0u64, |acc, line| {</a:t>
            </a:r>
          </a:p>
          <a:p>
            <a:r>
              <a:t>    acc.checked_add(line.line_cents()?)</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Readability = Each step names one transformation.; Safety = No manual indexes, so no out-of-bounds errors.; Performance = Compiles to the same machine code as a hand loop.; Order = Iterator chains keep input order unless you sort.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value of type Vec&lt;&amp;str&gt; cannot be built from iterator; Check what map returns (&amp;str vs String) and annotate the collect target type.; names_at_least keeps input order; try_fold returns None on overflow.</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fn find(sku: &amp;str) -&gt; Option&lt;u32&gt;              // may be absent</a:t>
            </a:r>
          </a:p>
          <a:p>
            <a:r>
              <a:t>fn ship(sku: &amp;str, q: u32) -&gt; Result&lt;u32, String&gt; // may fail</a:t>
            </a:r>
          </a:p>
          <a:p/>
          <a:p>
            <a:r>
              <a:t>match find("ABC-0001") {</a:t>
            </a:r>
          </a:p>
          <a:p>
            <a:r>
              <a:t>    Some(q) =&gt; println!("{q} on hand"),</a:t>
            </a:r>
          </a:p>
          <a:p>
            <a:r>
              <a:t>    None =&gt; println!("unknown SKU"),</a:t>
            </a:r>
          </a:p>
          <a:p>
            <a:r>
              <a:t>}</a:t>
            </a:r>
          </a:p>
          <a:p>
            <a:r>
              <a:t>let q = find("ABC-0001").unwrap_or(0);</a:t>
            </a:r>
          </a:p>
          <a:p>
            <a:r>
              <a:t>let left = ship("ABC-0001", 2)?;               // propagate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Absent = Use Option when there is no reason to report.; Failed = Use Result when the caller needs to know why.; Library code = Return Option/Result; let the caller decide.; Binaries = Convert errors to messages and exit codes at the edge.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the ? operator can only be used in a function that returns Result or Option; Change the function return type, or handle the value with match.; No unwrap() on input data remains in any solution crate.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Movement::{Receive(u32), Ship(u32), Adjust(i64)}. apply(stock, movement) -&gt; Result&lt;u32, StockError&gt;: shipping more than available is Insufficient; results below zero are NegativeResult; above u32 are Overflow. apply_all stops at the first error.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an enum with data and an exhaustive match with a guard.</a:t>
            </a:r>
          </a:p>
          <a:p>
            <a:r>
              <a:t>enum Movement {</a:t>
            </a:r>
          </a:p>
          <a:p>
            <a:r>
              <a:t>    Receive(u32),</a:t>
            </a:r>
          </a:p>
          <a:p>
            <a:r>
              <a:t>    Ship(u32),</a:t>
            </a:r>
          </a:p>
          <a:p>
            <a:r>
              <a:t>    Adjust(i64),</a:t>
            </a:r>
          </a:p>
          <a:p>
            <a:r>
              <a:t>}</a:t>
            </a:r>
          </a:p>
          <a:p/>
          <a:p>
            <a:r>
              <a:t>fn describe(movement: &amp;Movement) -&gt; String {</a:t>
            </a:r>
          </a:p>
          <a:p>
            <a:r>
              <a:t>    match movement {</a:t>
            </a:r>
          </a:p>
          <a:p>
            <a:r>
              <a:t>        Movement::Receive(qty) =&gt; format!("receive {qty}"),</a:t>
            </a:r>
          </a:p>
          <a:p>
            <a:r>
              <a:t>        Movement::Ship(qty) if *qty &gt; 100 =&gt; {</a:t>
            </a:r>
          </a:p>
          <a:p>
            <a:r>
              <a:t>            format!("ship {qty} (large order, needs approval)")</a:t>
            </a:r>
          </a:p>
          <a:p>
            <a:r>
              <a:t>        }</a:t>
            </a:r>
          </a:p>
          <a:p>
            <a:r>
              <a:t>        Movement::Ship(qty) =&gt; format!("ship {qty}"),</a:t>
            </a:r>
          </a:p>
          <a:p>
            <a:r>
              <a:t>        Movement::Adjust(delta) =&gt; format!("adjust by {delta:+}"),</a:t>
            </a:r>
          </a:p>
          <a:p>
            <a:r>
              <a:t>    }</a:t>
            </a:r>
          </a:p>
          <a:p>
            <a:r>
              <a:t>}</a:t>
            </a:r>
          </a:p>
          <a:p/>
          <a:p>
            <a:r>
              <a:t>fn main() {</a:t>
            </a:r>
          </a:p>
          <a:p>
            <a:r>
              <a:t>    let moves = [</a:t>
            </a:r>
          </a:p>
          <a:p>
            <a:r>
              <a:t>        Movement::Receive(10),</a:t>
            </a:r>
          </a:p>
          <a:p>
            <a:r>
              <a:t>        Movement::Ship(3),</a:t>
            </a:r>
          </a:p>
          <a:p>
            <a:r>
              <a:t>        Movement::Ship(250),</a:t>
            </a:r>
          </a:p>
          <a:p>
            <a:r>
              <a:t>        Movement::Adjust(-2),</a:t>
            </a:r>
          </a:p>
          <a:p>
            <a:r>
              <a:t>    ];</a:t>
            </a:r>
          </a:p>
          <a:p>
            <a:r>
              <a:t>    for movement in &amp;moves {</a:t>
            </a:r>
          </a:p>
          <a:p>
            <a:r>
              <a:t>        println!("{}", describe(movement));</a:t>
            </a:r>
          </a:p>
          <a:p>
            <a:r>
              <a:t>    }</a:t>
            </a:r>
          </a:p>
          <a:p>
            <a:r>
              <a:t>}</a:t>
            </a:r>
          </a:p>
          <a:p/>
          <a:p>
            <a:r>
              <a:t>Expected:</a:t>
            </a:r>
          </a:p>
          <a:p>
            <a:r>
              <a:t>receive 10</a:t>
            </a:r>
          </a:p>
          <a:p>
            <a:r>
              <a:t>ship 3</a:t>
            </a:r>
          </a:p>
          <a:p>
            <a:r>
              <a:t>ship 250 (large order, needs approval)</a:t>
            </a:r>
          </a:p>
          <a:p>
            <a:r>
              <a:t>adjust by -2</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Movement::{Receive(u32), Ship(u32), Adjust(i64)}. apply(stock, movement) -&gt; Result&lt;u32, StockError&gt;: shipping more than available is Insufficient; results below zero are NegativeResult; above u32 are Overflow. apply_all stops at the first error.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pub fn apply(stock: u32, movement: Movement) -&gt; Result&lt;u32, StockError&gt; {</a:t>
            </a:r>
          </a:p>
          <a:p>
            <a:r>
              <a:t>    match movement {</a:t>
            </a:r>
          </a:p>
          <a:p>
            <a:r>
              <a:t>        Movement::Receive(qty) =&gt; {</a:t>
            </a:r>
          </a:p>
          <a:p>
            <a:r>
              <a:t>            stock.checked_add(qty).ok_or(StockError::Overflow)</a:t>
            </a:r>
          </a:p>
          <a:p>
            <a:r>
              <a:t>        }</a:t>
            </a:r>
          </a:p>
          <a:p>
            <a:r>
              <a:t>        Movement::Ship(qty) if qty &gt; stock =&gt; Err(StockError::Insufficient {</a:t>
            </a:r>
          </a:p>
          <a:p>
            <a:r>
              <a:t>            available: stock,</a:t>
            </a:r>
          </a:p>
          <a:p>
            <a:r>
              <a:t>            requested: qty,</a:t>
            </a:r>
          </a:p>
          <a:p>
            <a:r>
              <a:t>        }),</a:t>
            </a:r>
          </a:p>
          <a:p>
            <a:r>
              <a:t>        Movement::Ship(qty) =&gt; Ok(stock - qty),</a:t>
            </a:r>
          </a:p>
          <a:p>
            <a:r>
              <a:t>        Movement::Adjust(delta) =&gt; {</a:t>
            </a:r>
          </a:p>
          <a:p>
            <a:r>
              <a:t>            let next = i64::from(stock)</a:t>
            </a:r>
          </a:p>
          <a:p>
            <a:r>
              <a:t>                .checked_add(delta)</a:t>
            </a:r>
          </a:p>
          <a:p>
            <a:r>
              <a:t>                .ok_or(StockError::Overflow)?;</a:t>
            </a:r>
          </a:p>
          <a:p>
            <a:r>
              <a:t>            if next &lt; 0 {</a:t>
            </a:r>
          </a:p>
          <a:p>
            <a:r>
              <a:t>                return Err(StockError::NegativeResult);</a:t>
            </a:r>
          </a:p>
          <a:p>
            <a:r>
              <a:t>    // ... full code: solution/src/lib.rs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Movement::{Receive(u32), Ship(u32), Adjust(i64)}. apply(stock, movement) -&gt; Result&lt;u32, StockError&gt;: shipping more than available is Insufficient; results below zero are NegativeResult; above u32 are Overflow. apply_all stops at the first error. Before writing any code, list the public signatures, the edge cases and at least four boundary tests you would expect. Ask me about anything ambiguous.</a:t>
            </a:r>
          </a:p>
          <a:p>
            <a:r>
              <a:t>Generate with AI: Implement "Apply stock movements with enums and match" in starter/src so that the supplied tests pass. Use enum + match with exhaustive arms; no wildcard _ arm that hides future variants.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6 passed; starter 0 passed / 6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Inventory::receive(&amp;mut self, sku, qty) -&gt; Option&lt;u32&gt; (None on overflow, unchanged); ship -&gt; Result&lt;u32, String&gt; (unknown SKU or insufficient stock is Err, unchanged); quantity(sku) -&gt; u32 (0 when unknown); low_stock(threshold) -&gt; Vec&lt;(String, u32)&gt; strictly below threshold, sorted by SKU.</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a growable Vec, sorting, safe access with get.</a:t>
            </a:r>
          </a:p>
          <a:p>
            <a:r>
              <a:t>fn main() {</a:t>
            </a:r>
          </a:p>
          <a:p>
            <a:r>
              <a:t>    let mut skus: Vec&lt;String&gt; = Vec::new();</a:t>
            </a:r>
          </a:p>
          <a:p>
            <a:r>
              <a:t>    skus.push("CCC-0003".to_string());</a:t>
            </a:r>
          </a:p>
          <a:p>
            <a:r>
              <a:t>    skus.push("AAA-0001".to_string());</a:t>
            </a:r>
          </a:p>
          <a:p>
            <a:r>
              <a:t>    skus.push("BBB-0002".to_string());</a:t>
            </a:r>
          </a:p>
          <a:p>
            <a:r>
              <a:t>    skus.sort();</a:t>
            </a:r>
          </a:p>
          <a:p>
            <a:r>
              <a:t>    println!("sorted: {skus:?}");</a:t>
            </a:r>
          </a:p>
          <a:p>
            <a:r>
              <a:t>    println!("first: {:?}, tenth: {:?}", skus.first(), skus.get(9));</a:t>
            </a:r>
          </a:p>
          <a:p>
            <a:r>
              <a:t>    for (i, sku) in skus.iter().enumerate() {</a:t>
            </a:r>
          </a:p>
          <a:p>
            <a:r>
              <a:t>        println!("{}. {sku}", i + 1);</a:t>
            </a:r>
          </a:p>
          <a:p>
            <a:r>
              <a:t>    }</a:t>
            </a:r>
          </a:p>
          <a:p>
            <a:r>
              <a:t>}</a:t>
            </a:r>
          </a:p>
          <a:p/>
          <a:p>
            <a:r>
              <a:t>Expected:</a:t>
            </a:r>
          </a:p>
          <a:p>
            <a:r>
              <a:t>sorted: ["AAA-0001", "BBB-0002", "CCC-0003"]</a:t>
            </a:r>
          </a:p>
          <a:p>
            <a:r>
              <a:t>first: Some("AAA-0001"), tenth: None</a:t>
            </a:r>
          </a:p>
          <a:p>
            <a:r>
              <a:t>1. AAA-0001</a:t>
            </a:r>
          </a:p>
          <a:p>
            <a:r>
              <a:t>2. BBB-0002</a:t>
            </a:r>
          </a:p>
          <a:p>
            <a:r>
              <a:t>3. CCC-0003</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Inventory::receive(&amp;mut self, sku, qty) -&gt; Option&lt;u32&gt; (None on overflow, unchanged); ship -&gt; Result&lt;u32, String&gt; (unknown SKU or insufficient stock is Err, unchanged); quantity(sku) -&gt; u32 (0 when unknown); low_stock(threshold) -&gt; Vec&lt;(String, u32)&gt; strictly below threshold, sorted by SKU.</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Removes units; unknown SKUs and shortages are errors.</a:t>
            </a:r>
          </a:p>
          <a:p>
            <a:r>
              <a:t>pub fn ship(&amp;mut self, sku: &amp;str, qty: u32) -&gt; Result&lt;u32, String&gt; {</a:t>
            </a:r>
          </a:p>
          <a:p>
            <a:r>
              <a:t>    let level = self</a:t>
            </a:r>
          </a:p>
          <a:p>
            <a:r>
              <a:t>        .stock</a:t>
            </a:r>
          </a:p>
          <a:p>
            <a:r>
              <a:t>        .get_mut(sku)</a:t>
            </a:r>
          </a:p>
          <a:p>
            <a:r>
              <a:t>        .ok_or_else(|| format!("unknown SKU {sku}"))?;</a:t>
            </a:r>
          </a:p>
          <a:p>
            <a:r>
              <a:t>    if qty &gt; *level {</a:t>
            </a:r>
          </a:p>
          <a:p>
            <a:r>
              <a:t>        return Err(format!("only {level} of {sku} available"));</a:t>
            </a:r>
          </a:p>
          <a:p>
            <a:r>
              <a:t>    }</a:t>
            </a:r>
          </a:p>
          <a:p>
            <a:r>
              <a:t>    *level -= qty;</a:t>
            </a:r>
          </a:p>
          <a:p>
            <a:r>
              <a:t>    Ok(*level)</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Inventory::receive(&amp;mut self, sku, qty) -&gt; Option&lt;u32&gt; (None on overflow, unchanged); ship -&gt; Result&lt;u32, String&gt; (unknown SKU or insufficient stock is Err, unchanged); quantity(sku) -&gt; u32 (0 when unknown); low_stock(threshold) -&gt; Vec&lt;(String, u32)&gt; strictly below threshold, sorted by SKU. Before writing any code, list the public signatures, the edge cases and at least four boundary tests you would expect. Ask me about anything ambiguous.</a:t>
            </a:r>
          </a:p>
          <a:p>
            <a:r>
              <a:t>Generate with AI: Implement "Track stock in a HashMap" in starter/src so that the supplied tests pass. Keep the HashMap private and the method signatures unchanged; no unwrap() on lookups.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6 passed; starter 0 passed / 6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trait Priced { unit_cents, quantity, line_cents (default, checked) }. order_total&lt;T: Priced&gt;(&amp;[T]) and mixed_total(&amp;[&amp;dyn Priced]) return Option&lt;u64&gt; (None on overflow; empty is Some(0)). names_at_least(&amp;[Product], min_cents) -&gt; Vec&lt;&amp;str&gt; in input order.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one trait, two types, generic and dynamic dispatch.</a:t>
            </a:r>
          </a:p>
          <a:p>
            <a:r>
              <a:t>trait Priced {</a:t>
            </a:r>
          </a:p>
          <a:p>
            <a:r>
              <a:t>    fn unit_cents(&amp;self) -&gt; u64;</a:t>
            </a:r>
          </a:p>
          <a:p>
            <a:r>
              <a:t>    fn quantity(&amp;self) -&gt; u32;</a:t>
            </a:r>
          </a:p>
          <a:p>
            <a:r>
              <a:t>    fn line_cents(&amp;self) -&gt; u64 {</a:t>
            </a:r>
          </a:p>
          <a:p>
            <a:r>
              <a:t>        self.unit_cents() * u64::from(self.quantity())</a:t>
            </a:r>
          </a:p>
          <a:p>
            <a:r>
              <a:t>    }</a:t>
            </a:r>
          </a:p>
          <a:p>
            <a:r>
              <a:t>}</a:t>
            </a:r>
          </a:p>
          <a:p/>
          <a:p>
            <a:r>
              <a:t>struct Product {</a:t>
            </a:r>
          </a:p>
          <a:p>
            <a:r>
              <a:t>    unit_cents: u64,</a:t>
            </a:r>
          </a:p>
          <a:p>
            <a:r>
              <a:t>    qty: u32,</a:t>
            </a:r>
          </a:p>
          <a:p>
            <a:r>
              <a:t>}</a:t>
            </a:r>
          </a:p>
          <a:p/>
          <a:p>
            <a:r>
              <a:t>struct Service {</a:t>
            </a:r>
          </a:p>
          <a:p>
            <a:r>
              <a:t>    rate_cents: u64,</a:t>
            </a:r>
          </a:p>
          <a:p>
            <a:r>
              <a:t>    hours: u32,</a:t>
            </a:r>
          </a:p>
          <a:p>
            <a:r>
              <a:t>}</a:t>
            </a:r>
          </a:p>
          <a:p/>
          <a:p>
            <a:r>
              <a:t>impl Priced for Product {</a:t>
            </a:r>
          </a:p>
          <a:p>
            <a:r>
              <a:t>    fn unit_cents(&amp;self) -&gt; u64 {</a:t>
            </a:r>
          </a:p>
          <a:p>
            <a:r>
              <a:t>        self.unit_cents</a:t>
            </a:r>
          </a:p>
          <a:p>
            <a:r>
              <a:t>    }</a:t>
            </a:r>
          </a:p>
          <a:p>
            <a:r>
              <a:t>    fn quantity(&amp;self) -&gt; u32 {</a:t>
            </a:r>
          </a:p>
          <a:p>
            <a:r>
              <a:t>        self.qty</a:t>
            </a:r>
          </a:p>
          <a:p>
            <a:r>
              <a:t>    }</a:t>
            </a:r>
          </a:p>
          <a:p>
            <a:r>
              <a:t>}</a:t>
            </a:r>
          </a:p>
          <a:p/>
          <a:p>
            <a:r>
              <a:t>impl Priced for Service {</a:t>
            </a:r>
          </a:p>
          <a:p>
            <a:r>
              <a:t>    fn unit_cents(&amp;self) -&gt; u64 {</a:t>
            </a:r>
          </a:p>
          <a:p>
            <a:r>
              <a:t>        self.rate_cents</a:t>
            </a:r>
          </a:p>
          <a:p>
            <a:r>
              <a:t>    }</a:t>
            </a:r>
          </a:p>
          <a:p>
            <a:r>
              <a:t>    fn quantity(&amp;self) -&gt; u32 {</a:t>
            </a:r>
          </a:p>
          <a:p>
            <a:r>
              <a:t>        self.hours</a:t>
            </a:r>
          </a:p>
          <a:p>
            <a:r>
              <a:t>    }</a:t>
            </a:r>
          </a:p>
          <a:p>
            <a:r>
              <a:t>}</a:t>
            </a:r>
          </a:p>
          <a:p/>
          <a:p>
            <a:r>
              <a:t>fn show&lt;T: Priced&gt;(label: &amp;str, line: &amp;T) {</a:t>
            </a:r>
          </a:p>
          <a:p>
            <a:r>
              <a:t>    println!("{label}: {} cents", line.line_cents());</a:t>
            </a:r>
          </a:p>
          <a:p>
            <a:r>
              <a:t>}</a:t>
            </a:r>
          </a:p>
          <a:p/>
          <a:p>
            <a:r>
              <a:t>fn main() {</a:t>
            </a:r>
          </a:p>
          <a:p>
            <a:r>
              <a:t>    let cable = Product {</a:t>
            </a:r>
          </a:p>
          <a:p>
            <a:r>
              <a:t>        unit_cents: 899,</a:t>
            </a:r>
          </a:p>
          <a:p>
            <a:r>
              <a:t>        qty: 2,</a:t>
            </a:r>
          </a:p>
          <a:p>
            <a:r>
              <a:t>    };</a:t>
            </a:r>
          </a:p>
          <a:p>
            <a:r>
              <a:t>    let setup = Service {</a:t>
            </a:r>
          </a:p>
          <a:p>
            <a:r>
              <a:t>        rate_cents: 5000,</a:t>
            </a:r>
          </a:p>
          <a:p>
            <a:r>
              <a:t>        hours: 2,</a:t>
            </a:r>
          </a:p>
          <a:p>
            <a:r>
              <a:t>    };</a:t>
            </a:r>
          </a:p>
          <a:p>
            <a:r>
              <a:t>    show("cable", &amp;cable);</a:t>
            </a:r>
          </a:p>
          <a:p>
            <a:r>
              <a:t>    show("setup", &amp;setup);</a:t>
            </a:r>
          </a:p>
          <a:p>
            <a:r>
              <a:t>    let order: Vec&lt;&amp;dyn Priced&gt; = vec![&amp;cable, &amp;setup];</a:t>
            </a:r>
          </a:p>
          <a:p>
            <a:r>
              <a:t>    let total: u64 = order.iter().map(|line| line.line_cents()).sum();</a:t>
            </a:r>
          </a:p>
          <a:p>
            <a:r>
              <a:t>    println!("mixed order total: {total} cents");</a:t>
            </a:r>
          </a:p>
          <a:p>
            <a:r>
              <a:t>}</a:t>
            </a:r>
          </a:p>
          <a:p/>
          <a:p>
            <a:r>
              <a:t>Expected:</a:t>
            </a:r>
          </a:p>
          <a:p>
            <a:r>
              <a:t>cable: 1798 cents</a:t>
            </a:r>
          </a:p>
          <a:p>
            <a:r>
              <a:t>setup: 10000 cents</a:t>
            </a:r>
          </a:p>
          <a:p>
            <a:r>
              <a:t>mixed order total: 11798 cents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trait Priced { unit_cents, quantity, line_cents (default, checked) }. order_total&lt;T: Priced&gt;(&amp;[T]) and mixed_total(&amp;[&amp;dyn Priced]) return Option&lt;u64&gt; (None on overflow; empty is Some(0)). names_at_least(&amp;[Product], min_cents) -&gt; Vec&lt;&amp;str&gt; in input order.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Totals lines of one type (static dispatch).</a:t>
            </a:r>
          </a:p>
          <a:p>
            <a:r>
              <a:t>pub fn order_total&lt;T: Priced&gt;(lines: &amp;[T]) -&gt; Option&lt;u64&gt; {</a:t>
            </a:r>
          </a:p>
          <a:p>
            <a:r>
              <a:t>    lines</a:t>
            </a:r>
          </a:p>
          <a:p>
            <a:r>
              <a:t>        .iter()</a:t>
            </a:r>
          </a:p>
          <a:p>
            <a:r>
              <a:t>        .try_fold(0u64, |total, line| total.checked_add(line.line_cents()?))</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trait Priced { unit_cents, quantity, line_cents (default, checked) }. order_total&lt;T: Priced&gt;(&amp;[T]) and mixed_total(&amp;[&amp;dyn Priced]) return Option&lt;u64&gt; (None on overflow; empty is Some(0)). names_at_least(&amp;[Product], min_cents) -&gt; Vec&lt;&amp;str&gt; in input order. Before writing any code, list the public signatures, the edge cases and at least four boundary tests you would expect. Ask me about anything ambiguous.</a:t>
            </a:r>
          </a:p>
          <a:p>
            <a:r>
              <a:t>Generate with AI: Implement "Price mixed order lines with traits and iterators" in starter/src so that the supplied tests pass. Implement with iterator adaptors (iter, filter, map, try_fold); no index-based for loops.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5 passed; starter 1 passed / 4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Topics 1-3 recap.</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 Anchor: MODEL</a:t>
            </a:r>
          </a:p>
          <a:p>
            <a:r>
              <a:t>Testing, Debugging and Integrating Rust Components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pub fn needs_reorder(on_hand: u32, point: u32) -&gt; bool {</a:t>
            </a:r>
          </a:p>
          <a:p>
            <a:r>
              <a:t>    on_hand &lt;= point</a:t>
            </a:r>
          </a:p>
          <a:p>
            <a:r>
              <a:t>}</a:t>
            </a:r>
          </a:p>
          <a:p/>
          <a:p>
            <a:r>
              <a:t>#[cfg(test)]</a:t>
            </a:r>
          </a:p>
          <a:p>
            <a:r>
              <a:t>mod tests {</a:t>
            </a:r>
          </a:p>
          <a:p>
            <a:r>
              <a:t>    use super::*;</a:t>
            </a:r>
          </a:p>
          <a:p>
            <a:r>
              <a:t>    #[test]</a:t>
            </a:r>
          </a:p>
          <a:p>
            <a:r>
              <a:t>    fn boundary_is_inclusive() {</a:t>
            </a:r>
          </a:p>
          <a:p>
            <a:r>
              <a:t>        assert!(needs_reorder(80, 80));</a:t>
            </a:r>
          </a:p>
          <a:p>
            <a:r>
              <a:t>        assert!(!needs_reorder(81, 80));</a:t>
            </a:r>
          </a:p>
          <a:p>
            <a:r>
              <a:t>    }</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Name = Describe the rule: boundary_is_inclusive, not test1.; One behaviour = Each test checks one rule so failures are specific.; Boundaries = Test at, just below and just above every limit.; Speed = Unit tests run in milliseconds; run them constantly.</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Test passes for the wrong reason; Predict the expected value from the specification before running, never copy actual output.; cargo test lists each test by name with ok.</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tests/integration.rs      # separate crate, public API only</a:t>
            </a:r>
          </a:p>
          <a:p/>
          <a:p>
            <a:r>
              <a:t>use activity11::{parse_lines, summarise, Summary};</a:t>
            </a:r>
          </a:p>
          <a:p>
            <a:r>
              <a:t>const SAMPLE: &amp;str = include_str!("../../data/stock.csv");</a:t>
            </a:r>
          </a:p>
          <a:p/>
          <a:p>
            <a:r>
              <a:t>#[test]</a:t>
            </a:r>
          </a:p>
          <a:p>
            <a:r>
              <a:t>fn end_to_end_summary() {</a:t>
            </a:r>
          </a:p>
          <a:p>
            <a:r>
              <a:t>    assert_eq!(summarise(SAMPLE, 5), Ok(Summary {</a:t>
            </a:r>
          </a:p>
          <a:p>
            <a:r>
              <a:t>        lines: 4, total_cents: 52_655,</a:t>
            </a:r>
          </a:p>
          <a:p>
            <a:r>
              <a:t>        low_stock: vec!["ABC-0003".into()] }));</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Unit = One function, fast, may use private items.; Integration = Several components through the public API.; Process = Run the real binary (Activity 12).; Data = Fixture files live in data/ and are versioned.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Unit tests pass but the summary is wrong; Components disagree; add an integration test with a known fixture total.; Activity 11: the end-to-end test fixes the expected total at 52,655 cents.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#[derive(Debug, PartialEq)]</a:t>
            </a:r>
          </a:p>
          <a:p>
            <a:r>
              <a:t>pub enum ParseError {</a:t>
            </a:r>
          </a:p>
          <a:p>
            <a:r>
              <a:t>    FieldCount(usize),</a:t>
            </a:r>
          </a:p>
          <a:p>
            <a:r>
              <a:t>    EmptySku,</a:t>
            </a:r>
          </a:p>
          <a:p>
            <a:r>
              <a:t>    BadNumber { field: &amp;'static str, value: String },</a:t>
            </a:r>
          </a:p>
          <a:p>
            <a:r>
              <a:t>}</a:t>
            </a:r>
          </a:p>
          <a:p>
            <a:r>
              <a:t>impl fmt::Display for ParseError { .. }</a:t>
            </a:r>
          </a:p>
          <a:p>
            <a:r>
              <a:t>impl std::error::Error for ParseError {}</a:t>
            </a:r>
          </a:p>
          <a:p/>
          <a:p>
            <a:r>
              <a:t>let qty = number("qty", fields[1])?;   // early return on Err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Recoverable = Bad input is Result, not panic.; Context = Include the field and the offending value.; Aggregation = parse_all keeps good lines and numbered errors.; Tests = assert_eq! on the exact error variant and message.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Error says only "invalid digit"; Map low-level errors into your enum with field name and value via map_err.; Activity 10 reports errors on lines 3, 4 and 6 with readable messages.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 total_includes_the_first_line stdout ----</a:t>
            </a:r>
          </a:p>
          <a:p>
            <a:r>
              <a:t>thread 'total_includes_the_first_line' panicked at</a:t>
            </a:r>
          </a:p>
          <a:p>
            <a:r>
              <a:t>tests/integration.rs:13:5:</a:t>
            </a:r>
          </a:p>
          <a:p>
            <a:r>
              <a:t>assertion `left == right` failed</a:t>
            </a:r>
          </a:p>
          <a:p>
            <a:r>
              <a:t>  left: Some(16695)</a:t>
            </a:r>
          </a:p>
          <a:p>
            <a:r>
              <a:t> right: Some(52655)</a:t>
            </a:r>
          </a:p>
          <a:p/>
          <a:p>
            <a:r>
              <a:t>52655 - 16695 = 35960 = 40 x 899  -&gt; first line missing</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Reproduce = Run one test: cargo test total_includes; Backtrace = RUST_BACKTRACE=1 cargo test shows the call path.; Isolate = Check each component with its own test.; Fix = Change the code, never the expected value.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Changing the expected value to make it pass; Forbidden: the expected value comes from the specification; find the defect instead.; After the fix, the same test passes and stays as a regression test.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let total = dbg!(total_cents(&amp;lines));   // prints file:line + value</a:t>
            </a:r>
          </a:p>
          <a:p/>
          <a:p>
            <a:r>
              <a:t>cargo test low_stock -- --nocapture      # one test, show output</a:t>
            </a:r>
          </a:p>
          <a:p>
            <a:r>
              <a:t>RUST_BACKTRACE=1 cargo test</a:t>
            </a:r>
          </a:p>
          <a:p/>
          <a:p>
            <a:r>
              <a:t>Prompt: "Here is the failing test and total_cents().</a:t>
            </a:r>
          </a:p>
          <a:p>
            <a:r>
              <a:t>Explain why the actual value is 16695, point to the line,</a:t>
            </a:r>
          </a:p>
          <a:p>
            <a:r>
              <a:t>and propose the smallest fix. Do not change the test."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Hypothesis = State what you think is wrong before changing code.; One change = Change one thing, rerun, observe.; Cleanup = Remove dbg! before committing; clippy can flag it.; Record = Symptom, cause, fix and test in the review record.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Fix works for the test but breaks another; Run the whole suite after every change, not only the failing test.; Activity 11 ends with 6 passed and a written defect record.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 stockpilot data/stock.csv 13</a:t>
            </a:r>
          </a:p>
          <a:p>
            <a:r>
              <a:t>ITEMS 4</a:t>
            </a:r>
          </a:p>
          <a:p>
            <a:r>
              <a:t>TOTAL $526.55</a:t>
            </a:r>
          </a:p>
          <a:p>
            <a:r>
              <a:t>LOW STOCK ABC-0002, ABC-0003, ABC-0004</a:t>
            </a:r>
          </a:p>
          <a:p>
            <a:r>
              <a:t>$ echo $?        # 0</a:t>
            </a:r>
          </a:p>
          <a:p/>
          <a:p>
            <a:r>
              <a:t>$ stockpilot            # usage error -&gt; stderr, exit 2</a:t>
            </a:r>
          </a:p>
          <a:p>
            <a:r>
              <a:t>$ stockpilot nope.csv   # cannot read -&gt; stderr, exit 1</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0 = Success: report printed.; 1 = Data problem: unreadable file or malformed row.; 2 = Usage problem: wrong arguments.; Tests = Process tests run the binary via CARGO_BIN_EXE_&lt;name&gt;.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Script cannot tell success from failure; Return a non-zero ExitCode and print the error to stderr.; Activity 12 process tests check stdout, stderr and exit codes 0, 1 and 2.</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#[derive(Serialize, Deserialize, Debug, PartialEq)]</a:t>
            </a:r>
          </a:p>
          <a:p>
            <a:r>
              <a:t>pub struct Item {</a:t>
            </a:r>
          </a:p>
          <a:p>
            <a:r>
              <a:t>    pub sku: String,</a:t>
            </a:r>
          </a:p>
          <a:p>
            <a:r>
              <a:t>    pub name: String,</a:t>
            </a:r>
          </a:p>
          <a:p>
            <a:r>
              <a:t>    pub qty: u32,          // -1 in JSON -&gt; error</a:t>
            </a:r>
          </a:p>
          <a:p>
            <a:r>
              <a:t>    pub unit_cents: u64,</a:t>
            </a:r>
          </a:p>
          <a:p>
            <a:r>
              <a:t>}</a:t>
            </a:r>
          </a:p>
          <a:p/>
          <a:p>
            <a:r>
              <a:t>let items: Vec&lt;Item&gt; = serde_json::from_str(json)?;</a:t>
            </a:r>
          </a:p>
          <a:p>
            <a:r>
              <a:t>let text = serde_json::to_string_pretty(&amp;items)?;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Missing field = Error unless #[serde(default)] is chosen.; Unknown field = Ignored unless #[serde(deny_unknown_fields)].; Numbers = Out-of-range or negative values for u32 are errors.; Contract = The struct is the documented JSON schema.</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invalid value: integer -1, expected u32; Correct the source data; do not widen the type to accept impossible values.; Activity 6 rejects a missing field and a negative quantity.</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parse_record(&amp;str) -&gt; Result&lt;Record, ParseError&gt; with ParseError::{FieldCount(n), EmptySku, BadNumber{field, value}} and a Display message for each. parse_all(&amp;str) skips blank lines and the header, returning valid records and (1-based line number, error) pairs.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Result and the ? operator.</a:t>
            </a:r>
          </a:p>
          <a:p>
            <a:r>
              <a:t>use std::num::ParseIntError;</a:t>
            </a:r>
          </a:p>
          <a:p/>
          <a:p>
            <a:r>
              <a:t>fn parse_qty(text: &amp;str) -&gt; Result&lt;u32, ParseIntError&gt; {</a:t>
            </a:r>
          </a:p>
          <a:p>
            <a:r>
              <a:t>    text.trim().parse::&lt;u32&gt;()</a:t>
            </a:r>
          </a:p>
          <a:p>
            <a:r>
              <a:t>}</a:t>
            </a:r>
          </a:p>
          <a:p/>
          <a:p>
            <a:r>
              <a:t>fn total_qty(a: &amp;str, b: &amp;str) -&gt; Result&lt;u32, ParseIntError&gt; {</a:t>
            </a:r>
          </a:p>
          <a:p>
            <a:r>
              <a:t>    let first = parse_qty(a)?; // returns early on Err</a:t>
            </a:r>
          </a:p>
          <a:p>
            <a:r>
              <a:t>    let second = parse_qty(b)?;</a:t>
            </a:r>
          </a:p>
          <a:p>
            <a:r>
              <a:t>    Ok(first + second)</a:t>
            </a:r>
          </a:p>
          <a:p>
            <a:r>
              <a:t>}</a:t>
            </a:r>
          </a:p>
          <a:p/>
          <a:p>
            <a:r>
              <a:t>fn main() {</a:t>
            </a:r>
          </a:p>
          <a:p>
            <a:r>
              <a:t>    println!("{:?}", total_qty("4", " 6 "));</a:t>
            </a:r>
          </a:p>
          <a:p>
            <a:r>
              <a:t>    match total_qty("4", "six") {</a:t>
            </a:r>
          </a:p>
          <a:p>
            <a:r>
              <a:t>        Ok(total) =&gt; println!("total {total}"),</a:t>
            </a:r>
          </a:p>
          <a:p>
            <a:r>
              <a:t>        Err(error) =&gt; println!("error: {error}"),</a:t>
            </a:r>
          </a:p>
          <a:p>
            <a:r>
              <a:t>    }</a:t>
            </a:r>
          </a:p>
          <a:p>
            <a:r>
              <a:t>}</a:t>
            </a:r>
          </a:p>
          <a:p/>
          <a:p>
            <a:r>
              <a:t>Expected:</a:t>
            </a:r>
          </a:p>
          <a:p>
            <a:r>
              <a:t>Ok(10)</a:t>
            </a:r>
          </a:p>
          <a:p>
            <a:r>
              <a:t>error: invalid digit found in string</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parse_record(&amp;str) -&gt; Result&lt;Record, ParseError&gt; with ParseError::{FieldCount(n), EmptySku, BadNumber{field, value}} and a Display message for each. parse_all(&amp;str) skips blank lines and the header, returning valid records and (1-based line number, error) pairs.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Parses `sku,qty,unit_cents`; surrounding spaces are ignored.</a:t>
            </a:r>
          </a:p>
          <a:p>
            <a:r>
              <a:t>pub fn parse_record(line: &amp;str) -&gt; Result&lt;Record, ParseError&gt; {</a:t>
            </a:r>
          </a:p>
          <a:p>
            <a:r>
              <a:t>    let fields: Vec&lt;&amp;str&gt; = line.split(',').map(str::trim).collect();</a:t>
            </a:r>
          </a:p>
          <a:p>
            <a:r>
              <a:t>    if fields.len() != 3 {</a:t>
            </a:r>
          </a:p>
          <a:p>
            <a:r>
              <a:t>        return Err(ParseError::FieldCount(fields.len()));</a:t>
            </a:r>
          </a:p>
          <a:p>
            <a:r>
              <a:t>    }</a:t>
            </a:r>
          </a:p>
          <a:p>
            <a:r>
              <a:t>    if fields[0].is_empty() {</a:t>
            </a:r>
          </a:p>
          <a:p>
            <a:r>
              <a:t>        return Err(ParseError::EmptySku);</a:t>
            </a:r>
          </a:p>
          <a:p>
            <a:r>
              <a:t>    }</a:t>
            </a:r>
          </a:p>
          <a:p>
            <a:r>
              <a:t>    Ok(Record {</a:t>
            </a:r>
          </a:p>
          <a:p>
            <a:r>
              <a:t>        sku: fields[0].to_string(),</a:t>
            </a:r>
          </a:p>
          <a:p>
            <a:r>
              <a:t>        qty: number("qty", fields[1])?,</a:t>
            </a:r>
          </a:p>
          <a:p>
            <a:r>
              <a:t>        unit_cents: number("unit_cents", fields[2])?,</a:t>
            </a:r>
          </a:p>
          <a:p>
            <a:r>
              <a:t>    })</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parse_record(&amp;str) -&gt; Result&lt;Record, ParseError&gt; with ParseError::{FieldCount(n), EmptySku, BadNumber{field, value}} and a Display message for each. parse_all(&amp;str) skips blank lines and the header, returning valid records and (1-based line number, error) pairs. Before writing any code, list the public signatures, the edge cases and at least four boundary tests you would expect. Ask me about anything ambiguous.</a:t>
            </a:r>
          </a:p>
          <a:p>
            <a:r>
              <a:t>Generate with AI: Implement "Parse CSV records with Result and custom errors" in starter/src so that the supplied tests pass. Return Result everywhere; no unwrap(), expect() or panic! in library code.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5 passed; starter 1 passed / 4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summarise(csv, threshold) -&gt; Result&lt;Summary, String&gt; where Summary { lines, total_cents, low_stock }. Every line counts towards the total; low stock is strictly below the threshold, sorted by SKU; malformed lines are Err("line N: ...").</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dbg! and assert_eq! as debugging tools.</a:t>
            </a:r>
          </a:p>
          <a:p>
            <a:r>
              <a:t>fn total(values: &amp;[u64]) -&gt; u64 {</a:t>
            </a:r>
          </a:p>
          <a:p>
            <a:r>
              <a:t>    values.iter().sum()</a:t>
            </a:r>
          </a:p>
          <a:p>
            <a:r>
              <a:t>}</a:t>
            </a:r>
          </a:p>
          <a:p/>
          <a:p>
            <a:r>
              <a:t>fn main() {</a:t>
            </a:r>
          </a:p>
          <a:p>
            <a:r>
              <a:t>    let values = [35_960, 12_495, 0, 4_200];</a:t>
            </a:r>
          </a:p>
          <a:p>
            <a:r>
              <a:t>    let result = dbg!(total(&amp;values)); // prints file:line and value to stderr</a:t>
            </a:r>
          </a:p>
          <a:p>
            <a:r>
              <a:t>    assert_eq!(result, 52_655, "total must include every line");</a:t>
            </a:r>
          </a:p>
          <a:p>
            <a:r>
              <a:t>    let skipped: u64 = values.iter().skip(1).sum();</a:t>
            </a:r>
          </a:p>
          <a:p>
            <a:r>
              <a:t>    println!("correct total {result}, total without the first line {skipped}");</a:t>
            </a:r>
          </a:p>
          <a:p>
            <a:r>
              <a:t>    println!("difference {} = the first line", result - skipped);</a:t>
            </a:r>
          </a:p>
          <a:p>
            <a:r>
              <a:t>}</a:t>
            </a:r>
          </a:p>
          <a:p/>
          <a:p>
            <a:r>
              <a:t>Expected:</a:t>
            </a:r>
          </a:p>
          <a:p>
            <a:r>
              <a:t>correct total 52655, total without the first line 16695</a:t>
            </a:r>
          </a:p>
          <a:p>
            <a:r>
              <a:t>difference 35960 = the first line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summarise(csv, threshold) -&gt; Result&lt;Summary, String&gt; where Summary { lines, total_cents, low_stock }. Every line counts towards the total; low stock is strictly below the threshold, sorted by SKU; malformed lines are Err("line N: ...").</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Total value of every line, or `None` on overflow.</a:t>
            </a:r>
          </a:p>
          <a:p>
            <a:r>
              <a:t>pub fn total_cents(lines: &amp;[Line]) -&gt; Option&lt;u64&gt; {</a:t>
            </a:r>
          </a:p>
          <a:p>
            <a:r>
              <a:t>    lines.iter().try_fold(0u64, |total, line| {</a:t>
            </a:r>
          </a:p>
          <a:p>
            <a:r>
              <a:t>        total.checked_add(line.unit_cents.checked_mul(u64::from(line.qty))?)</a:t>
            </a:r>
          </a:p>
          <a:p>
            <a:r>
              <a:t>    })</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summarise(csv, threshold) -&gt; Result&lt;Summary, String&gt; where Summary { lines, total_cents, low_stock }. Every line counts towards the total; low stock is strictly below the threshold, sorted by SKU; malformed lines are Err("line N: ..."). Before writing any code, list the public signatures, the edge cases and at least four boundary tests you would expect. Ask me about anything ambiguous.</a:t>
            </a:r>
          </a:p>
          <a:p>
            <a:r>
              <a:t>Generate with AI: Implement "Debug a failing integration with tests" in starter/src so that the supplied tests pass. Give the AI the failing test output and the function only; ask for a diagnosis before any code change.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6 passed; starter 2 passed / 4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run(csv, threshold) -&gt; Result&lt;String, String&gt; returns "ITEMS n\nTOTAL $D.CC\nLOW STOCK a, b | none". The binary takes &lt;file&gt; [threshold=5]; exit 0 on success, 1 for unreadable or invalid data, 2 for usage errors.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read a file named on the command line; exit code 1 if it fails.</a:t>
            </a:r>
          </a:p>
          <a:p>
            <a:r>
              <a:t>use std::process::ExitCode;</a:t>
            </a:r>
          </a:p>
          <a:p/>
          <a:p>
            <a:r>
              <a:t>fn main() -&gt; ExitCode {</a:t>
            </a:r>
          </a:p>
          <a:p>
            <a:r>
              <a:t>    let path = std::env::args()</a:t>
            </a:r>
          </a:p>
          <a:p>
            <a:r>
              <a:t>        .nth(1)</a:t>
            </a:r>
          </a:p>
          <a:p>
            <a:r>
              <a:t>        .unwrap_or_else(|| "missing.csv".to_string());</a:t>
            </a:r>
          </a:p>
          <a:p>
            <a:r>
              <a:t>    match std::fs::read_to_string(&amp;path) {</a:t>
            </a:r>
          </a:p>
          <a:p>
            <a:r>
              <a:t>        Ok(text) =&gt; {</a:t>
            </a:r>
          </a:p>
          <a:p>
            <a:r>
              <a:t>            println!("{path}: {} line(s)", text.lines().count());</a:t>
            </a:r>
          </a:p>
          <a:p>
            <a:r>
              <a:t>            ExitCode::SUCCESS</a:t>
            </a:r>
          </a:p>
          <a:p>
            <a:r>
              <a:t>        }</a:t>
            </a:r>
          </a:p>
          <a:p>
            <a:r>
              <a:t>        Err(error) =&gt; {</a:t>
            </a:r>
          </a:p>
          <a:p>
            <a:r>
              <a:t>            eprintln!("error: cannot read {path}: {error}");</a:t>
            </a:r>
          </a:p>
          <a:p>
            <a:r>
              <a:t>            ExitCode::from(1)</a:t>
            </a:r>
          </a:p>
          <a:p>
            <a:r>
              <a:t>        }</a:t>
            </a:r>
          </a:p>
          <a:p>
            <a:r>
              <a:t>    }</a:t>
            </a:r>
          </a:p>
          <a:p>
            <a:r>
              <a:t>}</a:t>
            </a:r>
          </a:p>
          <a:p/>
          <a:p>
            <a:r>
              <a:t>Expected:</a:t>
            </a:r>
          </a:p>
          <a:p>
            <a:r>
              <a:t>../data/stock.csv: 5 line(s)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run(csv, threshold) -&gt; Result&lt;String, String&gt; returns "ITEMS n\nTOTAL $D.CC\nLOW STOCK a, b | none". The binary takes &lt;file&gt; [threshold=5]; exit 0 on success, 1 for unreadable or invalid data, 2 for usage errors.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pub fn run(csv: &amp;str, threshold: u32) -&gt; Result&lt;String, String&gt; {</a:t>
            </a:r>
          </a:p>
          <a:p>
            <a:r>
              <a:t>    let mut count = 0usize;</a:t>
            </a:r>
          </a:p>
          <a:p>
            <a:r>
              <a:t>    let mut total = 0u64;</a:t>
            </a:r>
          </a:p>
          <a:p>
            <a:r>
              <a:t>    let mut low = Vec::new();</a:t>
            </a:r>
          </a:p>
          <a:p>
            <a:r>
              <a:t>    for (index, raw) in csv.lines().enumerate() {</a:t>
            </a:r>
          </a:p>
          <a:p>
            <a:r>
              <a:t>        let raw = raw.trim();</a:t>
            </a:r>
          </a:p>
          <a:p>
            <a:r>
              <a:t>        if raw.is_empty() || raw.starts_with("sku,") {</a:t>
            </a:r>
          </a:p>
          <a:p>
            <a:r>
              <a:t>            continue;</a:t>
            </a:r>
          </a:p>
          <a:p>
            <a:r>
              <a:t>        }</a:t>
            </a:r>
          </a:p>
          <a:p>
            <a:r>
              <a:t>        let fields: Vec&lt;&amp;str&gt; = raw.split(',').map(str::trim).collect();</a:t>
            </a:r>
          </a:p>
          <a:p>
            <a:r>
              <a:t>        let [sku, qty, unit] = fields.as_slice() else {</a:t>
            </a:r>
          </a:p>
          <a:p>
            <a:r>
              <a:t>            return Err(format!("line {}: expected 3 fields", index + 1));</a:t>
            </a:r>
          </a:p>
          <a:p>
            <a:r>
              <a:t>        };</a:t>
            </a:r>
          </a:p>
          <a:p>
            <a:r>
              <a:t>        let qty: u32 = qty</a:t>
            </a:r>
          </a:p>
          <a:p>
            <a:r>
              <a:t>            .parse()</a:t>
            </a:r>
          </a:p>
          <a:p>
            <a:r>
              <a:t>            .map_err(|_| format!("line {}: bad qty", index + 1))?;</a:t>
            </a:r>
          </a:p>
          <a:p>
            <a:r>
              <a:t>    // ... full code: solution/src/lib.rs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run(csv, threshold) -&gt; Result&lt;String, String&gt; returns "ITEMS n\nTOTAL $D.CC\nLOW STOCK a, b | none". The binary takes &lt;file&gt; [threshold=5]; exit 0 on success, 1 for unreadable or invalid data, 2 for usage errors. Before writing any code, list the public signatures, the edge cases and at least four boundary tests you would expect. Ask me about anything ambiguous.</a:t>
            </a:r>
          </a:p>
          <a:p>
            <a:r>
              <a:t>Generate with AI: Implement "Integrate components into a tested command-line tool" in starter/src so that the supplied tests pass. Keep main thin; put every rule in lib.rs where the library tests can reach it.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7 passed; starter 2 passed / 5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data/stock.csv: 40x899, 5x2499, 0x1299, 12x350.</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 Anchor: MODEL</a:t>
            </a:r>
          </a:p>
          <a:p>
            <a:r>
              <a:t>AI-Assisted Rust Software Design and Documentation</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Reorder-point calculations for StockPilot.   (crate docs)</a:t>
            </a:r>
          </a:p>
          <a:p>
            <a:r>
              <a:t>#![deny(missing_docs)]</a:t>
            </a:r>
          </a:p>
          <a:p/>
          <a:p>
            <a:r>
              <a:t>/// Calculates the reorder point in units.</a:t>
            </a:r>
          </a:p>
          <a:p>
            <a:r>
              <a:t>///</a:t>
            </a:r>
          </a:p>
          <a:p>
            <a:r>
              <a:t>/// `point = daily_usage x lead_days + safety_stock` (R1).</a:t>
            </a:r>
          </a:p>
          <a:p>
            <a:r>
              <a:t>/// Returns `None` instead of wrapping on overflow (R2).</a:t>
            </a:r>
          </a:p>
          <a:p>
            <a:r>
              <a:t>pub fn reorder_point(daily_usage: u32, lead_days: u32,</a:t>
            </a:r>
          </a:p>
          <a:p>
            <a:r>
              <a:t>                     safety_stock: u32) -&gt; Option&lt;u32&gt;</a:t>
            </a:r>
          </a:p>
          <a:p/>
          <a:p>
            <a:r>
              <a:t>cargo doc --no-deps --open</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Summary line = One sentence saying what it does.; Units and ranges = State units (cents, days) and limits.; Failure = Say what None/Err means, or add # Panics / # Errors.; Trace = Reference requirement IDs such as R1.</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warning: missing documentation for a function; Add a /// summary with units, return meaning and an example.; cargo doc builds and clippy -D warnings reports no missing docs.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 # Examples</a:t>
            </a:r>
          </a:p>
          <a:p>
            <a:r>
              <a:t>///</a:t>
            </a:r>
          </a:p>
          <a:p>
            <a:r>
              <a:t>/// ```</a:t>
            </a:r>
          </a:p>
          <a:p>
            <a:r>
              <a:t>/// use activity13::reorder_point;</a:t>
            </a:r>
          </a:p>
          <a:p>
            <a:r>
              <a:t>/// assert_eq!(reorder_point(12, 5, 20), Some(80));</a:t>
            </a:r>
          </a:p>
          <a:p>
            <a:r>
              <a:t>/// ```</a:t>
            </a:r>
          </a:p>
          <a:p>
            <a:r>
              <a:t>pub fn reorder_point(..) -&gt; Option&lt;u32&gt; { .. }</a:t>
            </a:r>
          </a:p>
          <a:p/>
          <a:p>
            <a:r>
              <a:t>$ cargo test</a:t>
            </a:r>
          </a:p>
          <a:p>
            <a:r>
              <a:t>   Doc-tests activity13</a:t>
            </a:r>
          </a:p>
          <a:p>
            <a:r>
              <a:t>test src/lib.rs - reorder_point (line 12) ... ok</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Location = Under a # Examples heading in /// comments.; Imports = Doctests use the crate like an external user.; Hidden lines = Lines starting with # are compiled but not shown.; Evidence = The Doc-tests section of cargo test output.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Doctest fails after a code change; Update the example to the new, specified behaviour, or fix the regression it caught.; Activity 13: 3 unit tests and 3 doctests pass.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ID  Requirement               Test (tests/acceptance.rs)</a:t>
            </a:r>
          </a:p>
          <a:p>
            <a:r>
              <a:t>R1  point = usage*lead+safe   r1_r3_below_the_point_...</a:t>
            </a:r>
          </a:p>
          <a:p>
            <a:r>
              <a:t>R2  above point: no order     r2_above_the_point_...</a:t>
            </a:r>
          </a:p>
          <a:p>
            <a:r>
              <a:t>R3  order up to 7-day target  r2_exactly_at_the_point_...</a:t>
            </a:r>
          </a:p>
          <a:p>
            <a:r>
              <a:t>R4  overflow item skipped     r4_overflow_is_skipped_...</a:t>
            </a:r>
          </a:p>
          <a:p/>
          <a:p>
            <a:r>
              <a:t>Code: reorder_suggestions() in src/lib.rs</a:t>
            </a:r>
          </a:p>
          <a:p>
            <a:r>
              <a:t>R1  checked_mul(..)?.checked_add(..)?</a:t>
            </a:r>
          </a:p>
          <a:p>
            <a:r>
              <a:t>R2  if item.on_hand &gt; point { return None; }</a:t>
            </a:r>
          </a:p>
          <a:p>
            <a:r>
              <a:t>R3  point + cover - on_hand, kept only if &gt; 0</a:t>
            </a:r>
          </a:p>
          <a:p>
            <a:r>
              <a:t>R4  ? after every checked_* call</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Requirement ID = Stable identifiers R1..Rn used in docs, tests and commits.; Code = Function or line that implements it.; Test = Exact test name; the result must be ok.; Status = Passed, failed or not yet run: never assumed.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Requirement without a test; Add a test named after the requirement before claiming it is met.; Activity 14 design.md traces R1-R4 to named, passing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            +-------------+</a:t>
            </a:r>
          </a:p>
          <a:p>
            <a:r>
              <a:t> CSV/JSON -&gt;|  parse      |-- Result&lt;Vec&lt;Line&gt;, Error&gt;</a:t>
            </a:r>
          </a:p>
          <a:p>
            <a:r>
              <a:t>            +-------------+</a:t>
            </a:r>
          </a:p>
          <a:p>
            <a:r>
              <a:t>                   |</a:t>
            </a:r>
          </a:p>
          <a:p>
            <a:r>
              <a:t>            +-------------+     +-------------+</a:t>
            </a:r>
          </a:p>
          <a:p>
            <a:r>
              <a:t>            |  inventory  |----&gt;|  report     |--&gt; stdout</a:t>
            </a:r>
          </a:p>
          <a:p>
            <a:r>
              <a:t>            +-------------+     +-------------+</a:t>
            </a:r>
          </a:p>
          <a:p>
            <a:r>
              <a:t>                   |</a:t>
            </a:r>
          </a:p>
          <a:p>
            <a:r>
              <a:t>            +-------------+</a:t>
            </a:r>
          </a:p>
          <a:p>
            <a:r>
              <a:t>            |  reorder    |--&gt; Vec&lt;Suggestion&gt;</a:t>
            </a:r>
          </a:p>
          <a:p>
            <a:r>
              <a:t>            +-------------+</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Module = Name, responsibility, public functions.; Interface = Input type, output type, error type.; External = Files, arguments, exit codes, crates.; Owner = Who maintains it and where its tests live.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Diagram disagrees with the code; Generate the module list from lib.rs and update the diagram in the same change.; Every box in design.md exists as a module or function in the crate.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Decision:  Skip items whose arithmetic overflows (R4).</a:t>
            </a:r>
          </a:p>
          <a:p>
            <a:r>
              <a:t>Context:   Planning data can contain bad usage values.</a:t>
            </a:r>
          </a:p>
          <a:p>
            <a:r>
              <a:t>Options:   1. panic  2. saturate at u32::MAX  3. skip item</a:t>
            </a:r>
          </a:p>
          <a:p>
            <a:r>
              <a:t>Chosen:    3 - skip; wrong orders are worse than none.</a:t>
            </a:r>
          </a:p>
          <a:p>
            <a:r>
              <a:t>Consequences:</a:t>
            </a:r>
          </a:p>
          <a:p>
            <a:r>
              <a:t>  + no crash, no absurd order quantities</a:t>
            </a:r>
          </a:p>
          <a:p>
            <a:r>
              <a:t>  - skipped items must be visible in a report (future)</a:t>
            </a:r>
          </a:p>
          <a:p>
            <a:r>
              <a:t>Evidence:  test r4_overflow_is_skipped_without_panic</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When = Any choice a maintainer would question later.; Where = docs/design.md next to the code.; AI role = AI may list options; you choose and justify.; Update = Supersede, do not delete, old decisions.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MODEL</a:t>
            </a:r>
          </a:p>
          <a:p>
            <a:r>
              <a:t>Nobody knows why the code behaves this way; Add a decision record with context, options and a linked test.; design.md contains at least one complete decision record.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Prompt: "Draft rustdoc for reorder_suggestions using ONLY</a:t>
            </a:r>
          </a:p>
          <a:p>
            <a:r>
              <a:t>this code and R1-R4. Include units, a # Examples doctest</a:t>
            </a:r>
          </a:p>
          <a:p>
            <a:r>
              <a:t>and a requirement list. Mark anything you are unsure of."</a:t>
            </a:r>
          </a:p>
          <a:p/>
          <a:p>
            <a:r>
              <a:t>Verify:</a:t>
            </a:r>
          </a:p>
          <a:p>
            <a:r>
              <a:t>  cargo test          # doctest compiles and passes</a:t>
            </a:r>
          </a:p>
          <a:p>
            <a:r>
              <a:t>  cargo doc --no-deps # renders</a:t>
            </a:r>
          </a:p>
          <a:p>
            <a:r>
              <a:t>  compare every claim with code and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Accept = Claims that match code and a passing test.; Correct = Wrong units, ranges or missing failure cases.; Reject = Invented functions, options or performance claims.; Record = Section, what was verified, what was changed.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Docs claim a feature that does not exist; Delete the claim or implement and test it; never leave it unverified.; The AI review table in design.md lists verified and corrected sections.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UI</a:t>
            </a:r>
          </a:p>
          <a:p>
            <a:r>
              <a:t>README.md</a:t>
            </a:r>
          </a:p>
          <a:p>
            <a:r>
              <a:t>  What it does           (one paragraph)</a:t>
            </a:r>
          </a:p>
          <a:p>
            <a:r>
              <a:t>  Build and test         cargo test / clippy / fmt</a:t>
            </a:r>
          </a:p>
          <a:p>
            <a:r>
              <a:t>  Usage                  stockpilot &lt;file&gt; [threshold]</a:t>
            </a:r>
          </a:p>
          <a:p>
            <a:r>
              <a:t>  Requirements trace     link to docs/design.md</a:t>
            </a:r>
          </a:p>
          <a:p>
            <a:r>
              <a:t>  Known limits           e.g. skipped overflow items</a:t>
            </a:r>
          </a:p>
          <a:p>
            <a:r>
              <a:t>  Change procedure       update code + docs + tests together</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UI</a:t>
            </a:r>
          </a:p>
          <a:p>
            <a:r>
              <a:t>Build = Toolchain version and commands.; Interfaces = Inputs, outputs, exit codes and data formats.; Quality gates = fmt, clippy -D warnings, test, doc.; Contacts = Owner and where decisions are recorded.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UI</a:t>
            </a:r>
          </a:p>
          <a:p>
            <a:r>
              <a:t>Handover depends on the original developer; Write down commands, limits and decisions until a newcomer can run and change it alone.; A classmate can build, test and explain the capstone from its README and design.md.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reorder_point(daily_usage, lead_days, safety_stock) -&gt; Option&lt;u32&gt; = daily_usage x lead_days + safety_stock (R1), None on overflow (R2). needs_reorder(on_hand, point) is true at or below the point (R3). Every public item is documented; cargo clippy with -D warnings enforces missing_docs.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library: document an API so rustdoc can render it and test it.</a:t>
            </a:r>
          </a:p>
          <a:p/>
          <a:p>
            <a:r>
              <a:t>/// Days of usage kept as safety stock.</a:t>
            </a:r>
          </a:p>
          <a:p>
            <a:r>
              <a:t>pub const SAFETY_DAYS: u32 = 2;</a:t>
            </a:r>
          </a:p>
          <a:p/>
          <a:p>
            <a:r>
              <a:t>/// Returns the safety stock in units for a daily usage.</a:t>
            </a:r>
          </a:p>
          <a:p>
            <a:r>
              <a:t>///</a:t>
            </a:r>
          </a:p>
          <a:p>
            <a:r>
              <a:t>/// # Examples</a:t>
            </a:r>
          </a:p>
          <a:p>
            <a:r>
              <a:t>///</a:t>
            </a:r>
          </a:p>
          <a:p>
            <a:r>
              <a:t>/// ```</a:t>
            </a:r>
          </a:p>
          <a:p>
            <a:r>
              <a:t>/// assert_eq!(docsample::safety_stock(12), Some(24));</a:t>
            </a:r>
          </a:p>
          <a:p>
            <a:r>
              <a:t>/// assert_eq!(docsample::safety_stock(u32::MAX), None);</a:t>
            </a:r>
          </a:p>
          <a:p>
            <a:r>
              <a:t>/// ```</a:t>
            </a:r>
          </a:p>
          <a:p>
            <a:r>
              <a:t>pub fn safety_stock(daily_usage: u32) -&gt; Option&lt;u32&gt; {</a:t>
            </a:r>
          </a:p>
          <a:p>
            <a:r>
              <a:t>    daily_usage.checked_mul(SAFETY_DAYS)</a:t>
            </a:r>
          </a:p>
          <a:p>
            <a:r>
              <a:t>}</a:t>
            </a:r>
          </a:p>
          <a:p/>
          <a:p>
            <a:r>
              <a:t>Expected:</a:t>
            </a:r>
          </a:p>
          <a:p>
            <a:r>
              <a:t>test result: ok. 1 passed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reorder_point(daily_usage, lead_days, safety_stock) -&gt; Option&lt;u32&gt; = daily_usage x lead_days + safety_stock (R1), None on overflow (R2). needs_reorder(on_hand, point) is true at or below the point (R3). Every public item is documented; cargo clippy with -D warnings enforces missing_docs.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Calculates the reorder point in units.</a:t>
            </a:r>
          </a:p>
          <a:p>
            <a:r>
              <a:t>///</a:t>
            </a:r>
          </a:p>
          <a:p>
            <a:r>
              <a:t>/// `reorder point = daily_usage x lead_days + safety_stock` (R1).</a:t>
            </a:r>
          </a:p>
          <a:p>
            <a:r>
              <a:t>///</a:t>
            </a:r>
          </a:p>
          <a:p>
            <a:r>
              <a:t>/// # Examples</a:t>
            </a:r>
          </a:p>
          <a:p>
            <a:r>
              <a:t>///</a:t>
            </a:r>
          </a:p>
          <a:p>
            <a:r>
              <a:t>/// ```</a:t>
            </a:r>
          </a:p>
          <a:p>
            <a:r>
              <a:t>/// ... (full docs in the source file)</a:t>
            </a:r>
          </a:p>
          <a:p>
            <a:r>
              <a:t>pub fn reorder_point(</a:t>
            </a:r>
          </a:p>
          <a:p>
            <a:r>
              <a:t>    daily_usage: u32,</a:t>
            </a:r>
          </a:p>
          <a:p>
            <a:r>
              <a:t>    lead_days: u32,</a:t>
            </a:r>
          </a:p>
          <a:p>
            <a:r>
              <a:t>    safety_stock: u32,</a:t>
            </a:r>
          </a:p>
          <a:p>
            <a:r>
              <a:t>) -&gt; Option&lt;u32&gt; {</a:t>
            </a:r>
          </a:p>
          <a:p>
            <a:r>
              <a:t>    daily_usage</a:t>
            </a:r>
          </a:p>
          <a:p>
            <a:r>
              <a:t>        .checked_mul(lead_days)?</a:t>
            </a:r>
          </a:p>
          <a:p>
            <a:r>
              <a:t>        .checked_add(safety_stock)</a:t>
            </a:r>
          </a:p>
          <a:p>
            <a:r>
              <a:t>}</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reorder_point(daily_usage, lead_days, safety_stock) -&gt; Option&lt;u32&gt; = daily_usage x lead_days + safety_stock (R1), None on overflow (R2). needs_reorder(on_hand, point) is true at or below the point (R3). Every public item is documented; cargo clippy with -D warnings enforces missing_docs. Before writing any code, list the public signatures, the edge cases and at least four boundary tests you would expect. Ask me about anything ambiguous.</a:t>
            </a:r>
          </a:p>
          <a:p>
            <a:r>
              <a:t>Generate with AI: Implement "Document an API with rustdoc and doctests" in starter/src so that the supplied tests pass. Ask the AI to draft docs from the code and requirements only; verify every example by running cargo test.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6 passed; starter 3 passed / 0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CASE</a:t>
            </a:r>
          </a:p>
          <a:p>
            <a:r>
              <a:t>reorder_suggestions(&amp;[StockItem]) -&gt; Vec&lt;Suggestion&gt;. R1 point = usage x lead + safety; R2 items above the point are excluded; R3 order_qty = point + 7 days usage - on_hand, zero quantities excluded; R4 overflowing items are skipped, never wrapped. Output sorted by SKU.</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 Sample: newtypes make invalid values hard to create.</a:t>
            </a:r>
          </a:p>
          <a:p>
            <a:r>
              <a:t>struct Units(u32);</a:t>
            </a:r>
          </a:p>
          <a:p/>
          <a:p>
            <a:r>
              <a:t>struct Sku(String);</a:t>
            </a:r>
          </a:p>
          <a:p/>
          <a:p>
            <a:r>
              <a:t>impl Sku {</a:t>
            </a:r>
          </a:p>
          <a:p>
            <a:r>
              <a:t>    fn parse(text: &amp;str) -&gt; Option&lt;Sku&gt; {</a:t>
            </a:r>
          </a:p>
          <a:p>
            <a:r>
              <a:t>        let valid = text.len() == 8 &amp;&amp; text.as_bytes()[3] == b'-';</a:t>
            </a:r>
          </a:p>
          <a:p>
            <a:r>
              <a:t>        valid.then(|| Sku(text.to_string()))</a:t>
            </a:r>
          </a:p>
          <a:p>
            <a:r>
              <a:t>    }</a:t>
            </a:r>
          </a:p>
          <a:p>
            <a:r>
              <a:t>}</a:t>
            </a:r>
          </a:p>
          <a:p/>
          <a:p>
            <a:r>
              <a:t>fn order(sku: &amp;Sku, qty: Units) -&gt; String {</a:t>
            </a:r>
          </a:p>
          <a:p>
            <a:r>
              <a:t>    format!("order {} x {}", qty.0, sku.0)</a:t>
            </a:r>
          </a:p>
          <a:p>
            <a:r>
              <a:t>}</a:t>
            </a:r>
          </a:p>
          <a:p/>
          <a:p>
            <a:r>
              <a:t>fn main() {</a:t>
            </a:r>
          </a:p>
          <a:p>
            <a:r>
              <a:t>    match Sku::parse("ABC-0001") {</a:t>
            </a:r>
          </a:p>
          <a:p>
            <a:r>
              <a:t>        Some(sku) =&gt; println!("{}", order(&amp;sku, Units(90))),</a:t>
            </a:r>
          </a:p>
          <a:p>
            <a:r>
              <a:t>        None =&gt; println!("invalid SKU"),</a:t>
            </a:r>
          </a:p>
          <a:p>
            <a:r>
              <a:t>    }</a:t>
            </a:r>
          </a:p>
          <a:p>
            <a:r>
              <a:t>    println!("bad SKU accepted? {}", Sku::parse("bad").is_some());</a:t>
            </a:r>
          </a:p>
          <a:p>
            <a:r>
              <a:t>}</a:t>
            </a:r>
          </a:p>
          <a:p/>
          <a:p>
            <a:r>
              <a:t>Expected:</a:t>
            </a:r>
          </a:p>
          <a:p>
            <a:r>
              <a:t>order 90 x ABC-0001</a:t>
            </a:r>
          </a:p>
          <a:p>
            <a:r>
              <a:t>bad SKU accepted? false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ARCH</a:t>
            </a:r>
          </a:p>
          <a:p>
            <a:r>
              <a:t>reorder_suggestions(&amp;[StockItem]) -&gt; Vec&lt;Suggestion&gt;. R1 point = usage x lead + safety; R2 items above the point are excluded; R3 order_qty = point + 7 days usage - on_hand, zero quantities excluded; R4 overflowing items are skipped, never wrapped. Output sorted by SKU.</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CODE</a:t>
            </a:r>
          </a:p>
          <a:p>
            <a:r>
              <a:t>pub fn reorder_suggestions(items: &amp;[StockItem]) -&gt; Vec&lt;Suggestion&gt; {</a:t>
            </a:r>
          </a:p>
          <a:p>
            <a:r>
              <a:t>    let mut suggestions: Vec&lt;Suggestion&gt; = items</a:t>
            </a:r>
          </a:p>
          <a:p>
            <a:r>
              <a:t>        .iter()</a:t>
            </a:r>
          </a:p>
          <a:p>
            <a:r>
              <a:t>        .filter_map(|item| {</a:t>
            </a:r>
          </a:p>
          <a:p>
            <a:r>
              <a:t>            let point = item</a:t>
            </a:r>
          </a:p>
          <a:p>
            <a:r>
              <a:t>                .daily_usage</a:t>
            </a:r>
          </a:p>
          <a:p>
            <a:r>
              <a:t>                .checked_mul(item.lead_days)?</a:t>
            </a:r>
          </a:p>
          <a:p>
            <a:r>
              <a:t>                .checked_add(item.safety_stock)?;</a:t>
            </a:r>
          </a:p>
          <a:p>
            <a:r>
              <a:t>            if item.on_hand &gt; point {</a:t>
            </a:r>
          </a:p>
          <a:p>
            <a:r>
              <a:t>                return None;</a:t>
            </a:r>
          </a:p>
          <a:p>
            <a:r>
              <a:t>            }</a:t>
            </a:r>
          </a:p>
          <a:p>
            <a:r>
              <a:t>            let cover = item.daily_usage.checked_mul(REVIEW_DAYS)?;</a:t>
            </a:r>
          </a:p>
          <a:p>
            <a:r>
              <a:t>            let order_qty = point.checked_add(cover)? - item.on_hand;</a:t>
            </a:r>
          </a:p>
          <a:p>
            <a:r>
              <a:t>            (order_qty &gt; 0).then(|| Suggestion {</a:t>
            </a:r>
          </a:p>
          <a:p>
            <a:r>
              <a:t>                sku: item.sku.clone(),</a:t>
            </a:r>
          </a:p>
          <a:p>
            <a:r>
              <a:t>                order_qty,</a:t>
            </a:r>
          </a:p>
          <a:p>
            <a:r>
              <a:t>    // ... full code: solution/src/lib.rs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CONFIG</a:t>
            </a:r>
          </a:p>
          <a:p>
            <a:r>
              <a:t>Plan before code: Act as a senior Rust reviewer. Specification: reorder_suggestions(&amp;[StockItem]) -&gt; Vec&lt;Suggestion&gt;. R1 point = usage x lead + safety; R2 items above the point are excluded; R3 order_qty = point + 7 days usage - on_hand, zero quantities excluded; R4 overflowing items are skipped, never wrapped. Output sorted by SKU. Before writing any code, list the public signatures, the edge cases and at least four boundary tests you would expect. Ask me about anything ambiguous.</a:t>
            </a:r>
          </a:p>
          <a:p>
            <a:r>
              <a:t>Generate with AI: Implement "Design and document a reorder feature with AI" in starter/src so that the supplied tests pass. Give the AI R1-R4 and the public types; require a trace table in its answer and verify each row against the tests. Keep public signatures unchanged, use no unsafe code, and explain each design decision in one sentence.</a:t>
            </a:r>
          </a:p>
          <a:p>
            <a:r>
              <a:t>Repair from evidence: Here is my exact cargo output: &lt;paste the first error or failing test&gt;. Explain the cause in plain English, propose the smallest fix that keeps the specification, and add one regression test. Do not change expected values in existing tests.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Verified: solution 7 passed; starter 0 passed / 7 failed.</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 Anchor: EVIDENCE</a:t>
            </a:r>
          </a:p>
          <a:p>
            <a:r>
              <a:t>[[1, 5], [2, 6], [3, 5], [4, 5], [5, 4], [6, 6], [7, 6], [8, 6], [9, 5], [10, 5], [11, 6], [12, 7], [13, 6], [14, 7]]</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Outcome recap; 14 activities.</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UI</a:t>
            </a:r>
          </a:p>
          <a:p>
            <a:r>
              <a:t>Screenshot of exams.tertiaryinfotech.com (CCDV-F practice exam page), captured September 2026.</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UI</a:t>
            </a:r>
          </a:p>
          <a:p>
            <a:r>
              <a:t>Screenshot of the live LMS sign-in page (lms-tms.tertiaryinfotech.com), captured September 2026.</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WA/PP durations, counts and timing from the course schedule.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WA then PP, 60 minutes each, five items each, K1-K5 and A1-A5.</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TRAQOM digital attendance via Singpass; course-specific.</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 Anchor: MODEL</a:t>
            </a:r>
          </a:p>
          <a:p>
            <a:r>
              <a:t>Closing after Assessment, Flow, Attendance.</a:t>
            </a:r>
          </a:p>
          <a:p>
            <a:r>
              <a:t>Source: build/course_data.py + build/mechanisms.py + labs/. Version 3.1.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lms-tms.tertiaryinfotech.com/"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rtiarycourses/TGS-2023039924-AI-Vibe-Coding-with-Rust"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rust-lang.org/learn/" TargetMode="External"/><Relationship Id="rId3" Type="http://schemas.openxmlformats.org/officeDocument/2006/relationships/hyperlink" Target="https://www.w3schools.com/rust/" TargetMode="External"/><Relationship Id="rId4" Type="http://schemas.openxmlformats.org/officeDocument/2006/relationships/hyperlink" Target="https://www.w3schools.com/rust/rust_getstarted.php" TargetMode="External"/><Relationship Id="rId5" Type="http://schemas.openxmlformats.org/officeDocument/2006/relationships/hyperlink" Target="https://www.programiz.com/rust" TargetMode="External"/><Relationship Id="rId6" Type="http://schemas.openxmlformats.org/officeDocument/2006/relationships/hyperlink" Target="https://www.ionos.com/digitalguide/websites/web-development/rust-tutorial/" TargetMode="External"/><Relationship Id="rId7" Type="http://schemas.openxmlformats.org/officeDocument/2006/relationships/hyperlink" Target="https://lp.jetbrains.com/getting-started-with-rust/" TargetMode="External"/><Relationship Id="rId8" Type="http://schemas.openxmlformats.org/officeDocument/2006/relationships/hyperlink" Target="https://onecompiler.com/tutorials/rust" TargetMode="External"/><Relationship Id="rId9" Type="http://schemas.openxmlformats.org/officeDocument/2006/relationships/hyperlink" Target="https://itsfoss.com/rust-tutorials/" TargetMode="Externa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exams.tertiaryinfotech.com/practice-exams/anthropic/anthropic-ccdv-foundations" TargetMode="External"/><Relationship Id="rId4"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lms-tms.tertiaryinfotech.com/" TargetMode="External"/><Relationship Id="rId4"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829800" y="603504"/>
            <a:ext cx="1691640"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29800" y="713232"/>
            <a:ext cx="1691640" cy="475488"/>
          </a:xfrm>
          <a:prstGeom prst="rect">
            <a:avLst/>
          </a:prstGeom>
          <a:noFill/>
        </p:spPr>
        <p:txBody>
          <a:bodyPr wrap="square" anchor="t">
            <a:spAutoFit/>
          </a:bodyPr>
          <a:lstStyle/>
          <a:p>
            <a:pPr algn="ctr">
              <a:spcAft>
                <a:spcPts val="400"/>
              </a:spcAft>
            </a:pPr>
            <a:r>
              <a:rPr sz="2000" b="1">
                <a:solidFill>
                  <a:srgbClr val="FFFFFF"/>
                </a:solidFill>
                <a:latin typeface="Arial"/>
              </a:rPr>
              <a:t>RUST</a:t>
            </a:r>
          </a:p>
        </p:txBody>
      </p:sp>
      <p:sp>
        <p:nvSpPr>
          <p:cNvPr id="8" name="TextBox 7"/>
          <p:cNvSpPr txBox="1"/>
          <p:nvPr/>
        </p:nvSpPr>
        <p:spPr>
          <a:xfrm>
            <a:off x="9829800" y="1207008"/>
            <a:ext cx="1691640" cy="365760"/>
          </a:xfrm>
          <a:prstGeom prst="rect">
            <a:avLst/>
          </a:prstGeom>
          <a:noFill/>
        </p:spPr>
        <p:txBody>
          <a:bodyPr wrap="square" anchor="t">
            <a:spAutoFit/>
          </a:bodyPr>
          <a:lstStyle/>
          <a:p>
            <a:pPr algn="ctr">
              <a:spcAft>
                <a:spcPts val="400"/>
              </a:spcAft>
            </a:pPr>
            <a:r>
              <a:rPr sz="1000" b="1">
                <a:solidFill>
                  <a:srgbClr val="FFFFFF"/>
                </a:solidFill>
                <a:latin typeface="Arial"/>
              </a:rPr>
              <a:t>AI VIBE CODING</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6675120" cy="1737360"/>
          </a:xfrm>
          <a:prstGeom prst="rect">
            <a:avLst/>
          </a:prstGeom>
          <a:noFill/>
        </p:spPr>
        <p:txBody>
          <a:bodyPr wrap="square" anchor="t">
            <a:spAutoFit/>
          </a:bodyPr>
          <a:lstStyle/>
          <a:p>
            <a:pPr algn="l">
              <a:spcAft>
                <a:spcPts val="400"/>
              </a:spcAft>
            </a:pPr>
            <a:r>
              <a:rPr sz="3600" b="1">
                <a:solidFill>
                  <a:srgbClr val="161B26"/>
                </a:solidFill>
                <a:latin typeface="Arial"/>
              </a:rPr>
              <a:t>AI Vibe Coding with Rust</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TGS-2023039924</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3.1  ·  27 September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
        <p:nvSpPr>
          <p:cNvPr id="15" name="TextBox 14"/>
          <p:cNvSpPr txBox="1"/>
          <p:nvPr/>
        </p:nvSpPr>
        <p:spPr>
          <a:xfrm>
            <a:off x="822960" y="5623560"/>
            <a:ext cx="6400800" cy="274320"/>
          </a:xfrm>
          <a:prstGeom prst="rect">
            <a:avLst/>
          </a:prstGeom>
          <a:noFill/>
        </p:spPr>
        <p:txBody>
          <a:bodyPr wrap="square" anchor="t">
            <a:spAutoFit/>
          </a:bodyPr>
          <a:lstStyle/>
          <a:p>
            <a:pPr algn="l">
              <a:spcAft>
                <a:spcPts val="400"/>
              </a:spcAft>
            </a:pPr>
            <a:r>
              <a:rPr sz="1200" b="0">
                <a:solidFill>
                  <a:srgbClr val="5B6372"/>
                </a:solidFill>
                <a:latin typeface="Arial"/>
              </a:rPr>
              <a:t>Trainer: Dr Alfred Ang</a:t>
            </a:r>
          </a:p>
        </p:txBody>
      </p:sp>
      <p:pic>
        <p:nvPicPr>
          <p:cNvPr id="16" name="Course cover hero" descr="rust-vibe-workbench.png"/>
          <p:cNvPicPr>
            <a:picLocks noChangeAspect="1"/>
          </p:cNvPicPr>
          <p:nvPr/>
        </p:nvPicPr>
        <p:blipFill>
          <a:blip r:embed="rId4"/>
          <a:stretch>
            <a:fillRect/>
          </a:stretch>
        </p:blipFill>
        <p:spPr>
          <a:xfrm>
            <a:off x="7589520" y="2148840"/>
            <a:ext cx="3931920" cy="2457450"/>
          </a:xfrm>
          <a:prstGeom prst="rect">
            <a:avLst/>
          </a:prstGeom>
        </p:spPr>
      </p:pic>
      <p:sp>
        <p:nvSpPr>
          <p:cNvPr id="17" name="Course cover hero caption"/>
          <p:cNvSpPr txBox="1"/>
          <p:nvPr/>
        </p:nvSpPr>
        <p:spPr>
          <a:xfrm>
            <a:off x="7589520" y="4642866"/>
            <a:ext cx="3931920" cy="256032"/>
          </a:xfrm>
          <a:prstGeom prst="rect">
            <a:avLst/>
          </a:prstGeom>
          <a:noFill/>
        </p:spPr>
        <p:txBody>
          <a:bodyPr wrap="none">
            <a:spAutoFit/>
          </a:bodyPr>
          <a:lstStyle/>
          <a:p>
            <a:r>
              <a:rPr sz="900">
                <a:solidFill>
                  <a:srgbClr val="5B6372"/>
                </a:solidFill>
                <a:latin typeface="Arial"/>
              </a:rPr>
              <a:t>Course illustration: Activity 1 code and its real cargo test result</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MANDATORY LEARNER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TRAQOM / SSG</a:t>
            </a:r>
          </a:p>
          <a:p>
            <a:pPr algn="l">
              <a:spcAft>
                <a:spcPts val="300"/>
              </a:spcAft>
            </a:pPr>
            <a:r>
              <a:rPr sz="1300" b="0">
                <a:solidFill>
                  <a:srgbClr val="5B6372"/>
                </a:solidFill>
                <a:latin typeface="Arial"/>
              </a:rPr>
              <a:t>Take the digital attendance through the Singpass app when the trainer displays the QR code.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AM, PM and assessment</a:t>
            </a:r>
          </a:p>
          <a:p>
            <a:pPr algn="l">
              <a:spcAft>
                <a:spcPts val="300"/>
              </a:spcAft>
            </a:pPr>
            <a:r>
              <a:rPr sz="1300" b="0">
                <a:solidFill>
                  <a:srgbClr val="5B6372"/>
                </a:solidFill>
                <a:latin typeface="Arial"/>
              </a:rPr>
              <a:t>Attendance is taken for each session and separately for the assessment.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At least 75% attendance is required for assessment eligibility and funding.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Your own record</a:t>
            </a:r>
          </a:p>
          <a:p>
            <a:pPr algn="l">
              <a:spcAft>
                <a:spcPts val="300"/>
              </a:spcAft>
            </a:pPr>
            <a:r>
              <a:rPr sz="1300" b="0">
                <a:solidFill>
                  <a:srgbClr val="5B6372"/>
                </a:solidFill>
                <a:latin typeface="Arial"/>
              </a:rPr>
              <a:t>Use only your own Singpass; tell the trainer if the course title or code does not match.</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fast"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GENERAL TRAINER TEMPLATE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General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Complete before delivery</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INDUSTRY / TRAINING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NAMED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Founder / Trainer, Tertiary Infotech Academy</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COURSE</a:t>
            </a:r>
          </a:p>
          <a:p>
            <a:pPr algn="l">
              <a:spcAft>
                <a:spcPts val="300"/>
              </a:spcAft>
            </a:pPr>
            <a:r>
              <a:rPr sz="1400" b="0">
                <a:solidFill>
                  <a:srgbClr val="161B26"/>
                </a:solidFill>
                <a:latin typeface="Arial"/>
              </a:rPr>
              <a:t>AI Vibe Coding with Rust</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FOCUS</a:t>
            </a:r>
          </a:p>
          <a:p>
            <a:pPr algn="l">
              <a:spcAft>
                <a:spcPts val="300"/>
              </a:spcAft>
            </a:pPr>
            <a:r>
              <a:rPr sz="1400" b="0">
                <a:solidFill>
                  <a:srgbClr val="161B26"/>
                </a:solidFill>
                <a:latin typeface="Arial"/>
              </a:rPr>
              <a:t>AI-assisted software development, programming and software design</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TRAINING APPROACH</a:t>
            </a:r>
          </a:p>
          <a:p>
            <a:pPr algn="l">
              <a:spcAft>
                <a:spcPts val="300"/>
              </a:spcAft>
            </a:pPr>
            <a:r>
              <a:rPr sz="1400" b="0">
                <a:solidFill>
                  <a:srgbClr val="161B26"/>
                </a:solidFill>
                <a:latin typeface="Arial"/>
              </a:rPr>
              <a:t>Specification first, vibe-coded drafts, compiler + tests as the gate</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CONTACT</a:t>
            </a:r>
          </a:p>
          <a:p>
            <a:pPr algn="l">
              <a:spcAft>
                <a:spcPts val="300"/>
              </a:spcAft>
            </a:pPr>
            <a:r>
              <a:rPr sz="1400" b="0">
                <a:solidFill>
                  <a:srgbClr val="161B26"/>
                </a:solidFill>
                <a:latin typeface="Arial"/>
              </a:rPr>
              <a:t>enquiry@tertiaryinfotech.com</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KNOW THE CLASS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Learner Introduction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Your name and role</a:t>
            </a:r>
          </a:p>
          <a:p>
            <a:pPr algn="l">
              <a:spcAft>
                <a:spcPts val="300"/>
              </a:spcAft>
            </a:pPr>
            <a:r>
              <a:rPr sz="1300" b="0">
                <a:solidFill>
                  <a:srgbClr val="5B6372"/>
                </a:solidFill>
                <a:latin typeface="Arial"/>
              </a:rPr>
              <a:t>What do you do at work today?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Programming background</a:t>
            </a:r>
          </a:p>
          <a:p>
            <a:pPr algn="l">
              <a:spcAft>
                <a:spcPts val="300"/>
              </a:spcAft>
            </a:pPr>
            <a:r>
              <a:rPr sz="1300" b="0">
                <a:solidFill>
                  <a:srgbClr val="5B6372"/>
                </a:solidFill>
                <a:latin typeface="Arial"/>
              </a:rPr>
              <a:t>Any language: Python, JavaScript, C, none yet?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AI coding tools</a:t>
            </a:r>
          </a:p>
          <a:p>
            <a:pPr algn="l">
              <a:spcAft>
                <a:spcPts val="300"/>
              </a:spcAft>
            </a:pPr>
            <a:r>
              <a:rPr sz="1300" b="0">
                <a:solidFill>
                  <a:srgbClr val="5B6372"/>
                </a:solidFill>
                <a:latin typeface="Arial"/>
              </a:rPr>
              <a:t>Which assistant have you tried: Copilot, Claude, ChatGPT?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Your goal</a:t>
            </a:r>
          </a:p>
          <a:p>
            <a:pPr algn="l">
              <a:spcAft>
                <a:spcPts val="300"/>
              </a:spcAft>
            </a:pPr>
            <a:r>
              <a:rPr sz="1300" b="0">
                <a:solidFill>
                  <a:srgbClr val="5B6372"/>
                </a:solidFill>
                <a:latin typeface="Arial"/>
              </a:rPr>
              <a:t>One tool or service you would like to build in Rust.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CLASS WORKING AGREEMENT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Your code, your call</a:t>
            </a:r>
          </a:p>
          <a:p>
            <a:pPr algn="l">
              <a:spcAft>
                <a:spcPts val="300"/>
              </a:spcAft>
            </a:pPr>
            <a:r>
              <a:rPr sz="1300" b="0">
                <a:solidFill>
                  <a:srgbClr val="5B6372"/>
                </a:solidFill>
                <a:latin typeface="Arial"/>
              </a:rPr>
              <a:t>AI drafts; you accept only what you can explain.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Evidence over opinion</a:t>
            </a:r>
          </a:p>
          <a:p>
            <a:pPr algn="l">
              <a:spcAft>
                <a:spcPts val="300"/>
              </a:spcAft>
            </a:pPr>
            <a:r>
              <a:rPr sz="1300" b="0">
                <a:solidFill>
                  <a:srgbClr val="5B6372"/>
                </a:solidFill>
                <a:latin typeface="Arial"/>
              </a:rPr>
              <a:t>cargo test, clippy and fmt decide "done", not the AI.</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Privacy</a:t>
            </a:r>
          </a:p>
          <a:p>
            <a:pPr algn="l">
              <a:spcAft>
                <a:spcPts val="300"/>
              </a:spcAft>
            </a:pPr>
            <a:r>
              <a:rPr sz="1300" b="0">
                <a:solidFill>
                  <a:srgbClr val="5B6372"/>
                </a:solidFill>
                <a:latin typeface="Arial"/>
              </a:rPr>
              <a:t>Never paste passwords, keys, personal data or assessment answers into AI tools.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Respect</a:t>
            </a:r>
          </a:p>
          <a:p>
            <a:pPr algn="l">
              <a:spcAft>
                <a:spcPts val="300"/>
              </a:spcAft>
            </a:pPr>
            <a:r>
              <a:rPr sz="1300" b="0">
                <a:solidFill>
                  <a:srgbClr val="5B6372"/>
                </a:solidFill>
                <a:latin typeface="Arial"/>
              </a:rPr>
              <a:t>Phones on silent; ask questions early; help without giving answers.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FIVE TOPICS / 14 HANDS-ON ACTIVITIES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Topic 1</a:t>
            </a:r>
          </a:p>
          <a:p>
            <a:pPr algn="l">
              <a:spcAft>
                <a:spcPts val="300"/>
              </a:spcAft>
            </a:pPr>
            <a:r>
              <a:rPr sz="1200" b="0">
                <a:solidFill>
                  <a:srgbClr val="5B6372"/>
                </a:solidFill>
                <a:latin typeface="Arial"/>
              </a:rPr>
              <a:t>Rust Programming Fundamentals and Software Components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Topic 2</a:t>
            </a:r>
          </a:p>
          <a:p>
            <a:pPr algn="l">
              <a:spcAft>
                <a:spcPts val="300"/>
              </a:spcAft>
            </a:pPr>
            <a:r>
              <a:rPr sz="1200" b="0">
                <a:solidFill>
                  <a:srgbClr val="5B6372"/>
                </a:solidFill>
                <a:latin typeface="Arial"/>
              </a:rPr>
              <a:t>AI Vibe Coding for Rust Application Development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Topic 3</a:t>
            </a:r>
          </a:p>
          <a:p>
            <a:pPr algn="l">
              <a:spcAft>
                <a:spcPts val="300"/>
              </a:spcAft>
            </a:pPr>
            <a:r>
              <a:rPr sz="1200" b="0">
                <a:solidFill>
                  <a:srgbClr val="5B6372"/>
                </a:solidFill>
                <a:latin typeface="Arial"/>
              </a:rPr>
              <a:t>Rust Programming Controls, Functions and Features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Topic 4</a:t>
            </a:r>
          </a:p>
          <a:p>
            <a:pPr algn="l">
              <a:spcAft>
                <a:spcPts val="300"/>
              </a:spcAft>
            </a:pPr>
            <a:r>
              <a:rPr sz="1200" b="0">
                <a:solidFill>
                  <a:srgbClr val="5B6372"/>
                </a:solidFill>
                <a:latin typeface="Arial"/>
              </a:rPr>
              <a:t>Testing, Debugging and Integrating Rust Components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Topic 5</a:t>
            </a:r>
          </a:p>
          <a:p>
            <a:pPr algn="l">
              <a:spcAft>
                <a:spcPts val="300"/>
              </a:spcAft>
            </a:pPr>
            <a:r>
              <a:rPr sz="1200" b="0">
                <a:solidFill>
                  <a:srgbClr val="5B6372"/>
                </a:solidFill>
                <a:latin typeface="Arial"/>
              </a:rPr>
              <a:t>AI-Assisted Rust Software Design and Documentation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Assessment</a:t>
            </a:r>
          </a:p>
          <a:p>
            <a:pPr algn="l">
              <a:spcAft>
                <a:spcPts val="300"/>
              </a:spcAft>
            </a:pPr>
            <a:r>
              <a:rPr sz="1200" b="0">
                <a:solidFill>
                  <a:srgbClr val="5B6372"/>
                </a:solidFill>
                <a:latin typeface="Arial"/>
              </a:rPr>
              <a:t>Written Assessment + Practical Performance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9:30 AM-6:30 PM / 14 TRAINING + 2 ASSESSMENT HOURS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two days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Time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Day 1</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Day 2</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Morning</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9:30-11:30 Topic 1 / 2h; 11:30-12:30 Topic 2 / 1h</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9:30-12:30 Topic 4 / 3h</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12:30-1:30 PM</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Lunch / 1 hour</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Lunch / 1 hour</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Afternoon</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1:30-3:30 Topic 2 / 2h; 3:30-6:30 Topic 3 / 3h</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1:30-4:30 Topic 5 / 3h</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Assessment</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No assessment on Day 1</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WA 4:30-5:30 PM / PP 5:30-6:30 PM</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Topic durations 2/3/3/3/3 hours. Day 1: 8 training hours. Day 2: 6 training hours + 2 assessment hours. Lunch excluded.</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SOFTWARE DESIGN ICT-DES-3005-1.1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LO1</a:t>
            </a:r>
          </a:p>
          <a:p>
            <a:pPr algn="l">
              <a:spcAft>
                <a:spcPts val="300"/>
              </a:spcAft>
            </a:pPr>
            <a:r>
              <a:rPr sz="1100" b="0">
                <a:solidFill>
                  <a:srgbClr val="5B6372"/>
                </a:solidFill>
                <a:latin typeface="Arial"/>
              </a:rPr>
              <a:t>Determine basic software components using programming methodologies to meet functional specifications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LO2</a:t>
            </a:r>
          </a:p>
          <a:p>
            <a:pPr algn="l">
              <a:spcAft>
                <a:spcPts val="300"/>
              </a:spcAft>
            </a:pPr>
            <a:r>
              <a:rPr sz="1100" b="0">
                <a:solidFill>
                  <a:srgbClr val="5B6372"/>
                </a:solidFill>
                <a:latin typeface="Arial"/>
              </a:rPr>
              <a:t>Apply programming methodologies and tools for software creation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LO3</a:t>
            </a:r>
          </a:p>
          <a:p>
            <a:pPr algn="l">
              <a:spcAft>
                <a:spcPts val="300"/>
              </a:spcAft>
            </a:pPr>
            <a:r>
              <a:rPr sz="1100" b="0">
                <a:solidFill>
                  <a:srgbClr val="5B6372"/>
                </a:solidFill>
                <a:latin typeface="Arial"/>
              </a:rPr>
              <a:t>Select essential programming controls and features to meet software design requirements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LO4</a:t>
            </a:r>
          </a:p>
          <a:p>
            <a:pPr algn="l">
              <a:spcAft>
                <a:spcPts val="300"/>
              </a:spcAft>
            </a:pPr>
            <a:r>
              <a:rPr sz="1100" b="0">
                <a:solidFill>
                  <a:srgbClr val="5B6372"/>
                </a:solidFill>
                <a:latin typeface="Arial"/>
              </a:rPr>
              <a:t>Examine the interoperability and functionality of programming components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LO5</a:t>
            </a:r>
          </a:p>
          <a:p>
            <a:pPr algn="l">
              <a:spcAft>
                <a:spcPts val="300"/>
              </a:spcAft>
            </a:pPr>
            <a:r>
              <a:rPr sz="1100" b="0">
                <a:solidFill>
                  <a:srgbClr val="5B6372"/>
                </a:solidFill>
                <a:latin typeface="Arial"/>
              </a:rPr>
              <a:t>Generate programming design documentation aligned with user specifications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BEFORE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Instruments</a:t>
            </a:r>
          </a:p>
          <a:p>
            <a:pPr algn="l">
              <a:spcAft>
                <a:spcPts val="300"/>
              </a:spcAft>
            </a:pPr>
            <a:r>
              <a:rPr sz="1300" b="0">
                <a:solidFill>
                  <a:srgbClr val="5B6372"/>
                </a:solidFill>
                <a:latin typeface="Arial"/>
              </a:rPr>
              <a:t>Written Assessment: 5 open-ended questions. Practical Performance: 5 hands-on tasks.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What is assessed</a:t>
            </a:r>
          </a:p>
          <a:p>
            <a:pPr algn="l">
              <a:spcAft>
                <a:spcPts val="300"/>
              </a:spcAft>
            </a:pPr>
            <a:r>
              <a:rPr sz="1300" b="0">
                <a:solidFill>
                  <a:srgbClr val="5B6372"/>
                </a:solidFill>
                <a:latin typeface="Arial"/>
              </a:rPr>
              <a:t>Components, tools, controls/features, testing/integration and documentation.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Conditions</a:t>
            </a:r>
          </a:p>
          <a:p>
            <a:pPr algn="l">
              <a:spcAft>
                <a:spcPts val="300"/>
              </a:spcAft>
            </a:pPr>
            <a:r>
              <a:rPr sz="1300" b="0">
                <a:solidFill>
                  <a:srgbClr val="5B6372"/>
                </a:solidFill>
                <a:latin typeface="Arial"/>
              </a:rPr>
              <a:t>Open book, individual. AI only where a PP task explicitly allows a reviewed draft.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Evidence</a:t>
            </a:r>
          </a:p>
          <a:p>
            <a:pPr algn="l">
              <a:spcAft>
                <a:spcPts val="300"/>
              </a:spcAft>
            </a:pPr>
            <a:r>
              <a:rPr sz="1300" b="0">
                <a:solidFill>
                  <a:srgbClr val="5B6372"/>
                </a:solidFill>
                <a:latin typeface="Arial"/>
              </a:rPr>
              <a:t>Keep your crates, cargo output and records; upload as instructed.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DAY / 2 HOURS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&amp;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Written Assessment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Day 2, 4:30-5:30 PM</a:t>
            </a:r>
          </a:p>
          <a:p>
            <a:pPr>
              <a:spcAft>
                <a:spcPts val="900"/>
              </a:spcAft>
            </a:pPr>
            <a:r>
              <a:rPr sz="1400" b="0">
                <a:solidFill>
                  <a:srgbClr val="161B26"/>
                </a:solidFill>
                <a:latin typeface="Arial"/>
              </a:rPr>
              <a:t>•  60 minutes / 5 questions</a:t>
            </a:r>
          </a:p>
          <a:p>
            <a:pPr>
              <a:spcAft>
                <a:spcPts val="900"/>
              </a:spcAft>
            </a:pPr>
            <a:r>
              <a:rPr sz="1400" b="0">
                <a:solidFill>
                  <a:srgbClr val="161B26"/>
                </a:solidFill>
                <a:latin typeface="Arial"/>
              </a:rPr>
              <a:t>•  K1-K5 / open book</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Practical Performance</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Day 2, 5:30-6:30 PM</a:t>
            </a:r>
          </a:p>
          <a:p>
            <a:pPr>
              <a:spcAft>
                <a:spcPts val="900"/>
              </a:spcAft>
            </a:pPr>
            <a:r>
              <a:rPr sz="1400" b="0">
                <a:solidFill>
                  <a:srgbClr val="161B26"/>
                </a:solidFill>
                <a:latin typeface="Arial"/>
              </a:rPr>
              <a:t>•  60 minutes / 5 tasks</a:t>
            </a:r>
          </a:p>
          <a:p>
            <a:pPr>
              <a:spcAft>
                <a:spcPts val="900"/>
              </a:spcAft>
            </a:pPr>
            <a:r>
              <a:rPr sz="1400" b="0">
                <a:solidFill>
                  <a:srgbClr val="161B26"/>
                </a:solidFill>
                <a:latin typeface="Arial"/>
              </a:rPr>
              <a:t>•  A1-A5 / Rust crates + evidence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Result and funding</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All items attempted individually</a:t>
            </a:r>
          </a:p>
          <a:p>
            <a:pPr>
              <a:spcAft>
                <a:spcPts val="900"/>
              </a:spcAft>
            </a:pPr>
            <a:r>
              <a:rPr sz="1400" b="0">
                <a:solidFill>
                  <a:srgbClr val="161B26"/>
                </a:solidFill>
                <a:latin typeface="Arial"/>
              </a:rPr>
              <a:t>•  Competent (C) or NYC</a:t>
            </a:r>
          </a:p>
          <a:p>
            <a:pPr>
              <a:spcAft>
                <a:spcPts val="900"/>
              </a:spcAft>
            </a:pPr>
            <a:r>
              <a:rPr sz="1400" b="0">
                <a:solidFill>
                  <a:srgbClr val="161B26"/>
                </a:solidFill>
                <a:latin typeface="Arial"/>
              </a:rPr>
              <a:t>•  Funding requires 75% attendance + C</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OPEN BOOK / INDIVIDUAL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Attendance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Assessment attendance</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Written Assessment</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60 min, 5 questions</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Practical Performance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60 min, 5 tasks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Submit on LMS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Upload answers + evidence</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Assessor sign-off</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 / NYC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ORDER OF THE DAY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Written Assessment (K1-K5) 4:30-5:30 PM, then Practical Performance (A1-A5) 5:30-6:30 PM on Day 2. Follow the assessor's submission instructions.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LEARNER ACCESS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course material from the LMS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ms-login-screenshot.png"/>
          <p:cNvPicPr>
            <a:picLocks noChangeAspect="1"/>
          </p:cNvPicPr>
          <p:nvPr/>
        </p:nvPicPr>
        <p:blipFill>
          <a:blip r:embed="rId2"/>
          <a:stretch>
            <a:fillRect/>
          </a:stretch>
        </p:blipFill>
        <p:spPr>
          <a:xfrm>
            <a:off x="777240" y="1783080"/>
            <a:ext cx="6492240" cy="4057650"/>
          </a:xfrm>
          <a:prstGeom prst="rect">
            <a:avLst/>
          </a:prstGeom>
          <a:ln>
            <a:solidFill>
              <a:srgbClr val="E2E8F0"/>
            </a:solidFill>
          </a:ln>
        </p:spPr>
      </p:pic>
      <p:sp>
        <p:nvSpPr>
          <p:cNvPr id="8" name="Rectangle 7"/>
          <p:cNvSpPr/>
          <p:nvPr/>
        </p:nvSpPr>
        <p:spPr>
          <a:xfrm>
            <a:off x="7498079" y="1783080"/>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79" y="1783080"/>
            <a:ext cx="82296"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99248" y="1856231"/>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1. Sign in</a:t>
            </a:r>
          </a:p>
        </p:txBody>
      </p:sp>
      <p:sp>
        <p:nvSpPr>
          <p:cNvPr id="11" name="TextBox 10"/>
          <p:cNvSpPr txBox="1"/>
          <p:nvPr/>
        </p:nvSpPr>
        <p:spPr>
          <a:xfrm>
            <a:off x="7699248" y="2130552"/>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Open lms-tms.tertiaryinfotech.com and sign in with your email (OTP) or password.</a:t>
            </a:r>
          </a:p>
        </p:txBody>
      </p:sp>
      <p:sp>
        <p:nvSpPr>
          <p:cNvPr id="12" name="Rectangle 11"/>
          <p:cNvSpPr/>
          <p:nvPr/>
        </p:nvSpPr>
        <p:spPr>
          <a:xfrm>
            <a:off x="7498079" y="2807208"/>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98079" y="2807208"/>
            <a:ext cx="82296"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99248" y="2880360"/>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2. Open this course</a:t>
            </a:r>
          </a:p>
        </p:txBody>
      </p:sp>
      <p:sp>
        <p:nvSpPr>
          <p:cNvPr id="15" name="TextBox 14"/>
          <p:cNvSpPr txBox="1"/>
          <p:nvPr/>
        </p:nvSpPr>
        <p:spPr>
          <a:xfrm>
            <a:off x="7699248" y="3154680"/>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AI Vibe Coding with Rust (TGS-2023039924).</a:t>
            </a:r>
          </a:p>
        </p:txBody>
      </p:sp>
      <p:sp>
        <p:nvSpPr>
          <p:cNvPr id="16" name="Rectangle 15"/>
          <p:cNvSpPr/>
          <p:nvPr/>
        </p:nvSpPr>
        <p:spPr>
          <a:xfrm>
            <a:off x="7498079" y="3831336"/>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98079" y="3831336"/>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3904488"/>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3. Download</a:t>
            </a:r>
          </a:p>
        </p:txBody>
      </p:sp>
      <p:sp>
        <p:nvSpPr>
          <p:cNvPr id="19" name="TextBox 18"/>
          <p:cNvSpPr txBox="1"/>
          <p:nvPr/>
        </p:nvSpPr>
        <p:spPr>
          <a:xfrm>
            <a:off x="7699248" y="4178808"/>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Learner slides PDF, Learner Guide and the Activities link.</a:t>
            </a:r>
          </a:p>
        </p:txBody>
      </p:sp>
      <p:sp>
        <p:nvSpPr>
          <p:cNvPr id="20" name="Rectangle 19"/>
          <p:cNvSpPr/>
          <p:nvPr/>
        </p:nvSpPr>
        <p:spPr>
          <a:xfrm>
            <a:off x="7498079" y="4855464"/>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98079" y="4855464"/>
            <a:ext cx="82296" cy="932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9248" y="4928616"/>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4. Assessment</a:t>
            </a:r>
          </a:p>
        </p:txBody>
      </p:sp>
      <p:sp>
        <p:nvSpPr>
          <p:cNvPr id="23" name="TextBox 22"/>
          <p:cNvSpPr txBox="1"/>
          <p:nvPr/>
        </p:nvSpPr>
        <p:spPr>
          <a:xfrm>
            <a:off x="7699248" y="5202936"/>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Question papers open on the assessment day; upload your answers there.</a:t>
            </a:r>
          </a:p>
        </p:txBody>
      </p:sp>
      <p:sp>
        <p:nvSpPr>
          <p:cNvPr id="24" name="TextBox 23"/>
          <p:cNvSpPr txBox="1"/>
          <p:nvPr/>
        </p:nvSpPr>
        <p:spPr>
          <a:xfrm>
            <a:off x="777240" y="5943600"/>
            <a:ext cx="6492240" cy="274320"/>
          </a:xfrm>
          <a:prstGeom prst="rect">
            <a:avLst/>
          </a:prstGeom>
          <a:noFill/>
        </p:spPr>
        <p:txBody>
          <a:bodyPr wrap="square" anchor="t">
            <a:spAutoFit/>
          </a:bodyPr>
          <a:lstStyle/>
          <a:p>
            <a:pPr algn="l">
              <a:spcAft>
                <a:spcPts val="400"/>
              </a:spcAft>
            </a:pPr>
            <a:r>
              <a:rPr sz="1000" b="0">
                <a:solidFill>
                  <a:srgbClr val="5B6372"/>
                </a:solidFill>
                <a:latin typeface="Arial"/>
              </a:rPr>
              <a:t>Screenshot of the live LMS sign-in page (lms-tms.tertiaryinfotech.com), captured September 2026.</a:t>
            </a:r>
          </a:p>
        </p:txBody>
      </p:sp>
      <p:sp>
        <p:nvSpPr>
          <p:cNvPr id="25" name="TextBox 24"/>
          <p:cNvSpPr txBox="1"/>
          <p:nvPr/>
        </p:nvSpPr>
        <p:spPr>
          <a:xfrm>
            <a:off x="7498079" y="5897880"/>
            <a:ext cx="3931920" cy="411480"/>
          </a:xfrm>
          <a:prstGeom prst="rect">
            <a:avLst/>
          </a:prstGeom>
          <a:noFill/>
        </p:spPr>
        <p:txBody>
          <a:bodyPr wrap="square" anchor="t">
            <a:spAutoFit/>
          </a:bodyPr>
          <a:lstStyle/>
          <a:p>
            <a:pPr algn="l">
              <a:spcAft>
                <a:spcPts val="400"/>
              </a:spcAft>
            </a:pPr>
            <a:r>
              <a:rPr sz="1200" b="1">
                <a:solidFill>
                  <a:srgbClr val="1F6FEB"/>
                </a:solidFill>
                <a:latin typeface="Arial"/>
                <a:hlinkClick r:id="rId3"/>
              </a:rPr>
              <a:t>Open the LMS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CLICKABLE LEARNER REPOSITORY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Get the Hands-On Activities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Course repository</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14 activity folders</a:t>
            </a:r>
          </a:p>
          <a:p>
            <a:pPr>
              <a:spcAft>
                <a:spcPts val="900"/>
              </a:spcAft>
            </a:pPr>
            <a:r>
              <a:rPr sz="1400" b="0">
                <a:solidFill>
                  <a:srgbClr val="161B26"/>
                </a:solidFill>
                <a:latin typeface="Arial"/>
              </a:rPr>
              <a:t>•  starter/ + solution/ crates</a:t>
            </a:r>
          </a:p>
          <a:p>
            <a:pPr>
              <a:spcAft>
                <a:spcPts val="900"/>
              </a:spcAft>
            </a:pPr>
            <a:r>
              <a:rPr sz="1400" b="0">
                <a:solidFill>
                  <a:srgbClr val="161B26"/>
                </a:solidFill>
                <a:latin typeface="Arial"/>
              </a:rPr>
              <a:t>•  Data files and prompts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Get a working copy</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git clone, or</a:t>
            </a:r>
          </a:p>
          <a:p>
            <a:pPr>
              <a:spcAft>
                <a:spcPts val="900"/>
              </a:spcAft>
            </a:pPr>
            <a:r>
              <a:rPr sz="1400" b="0">
                <a:solidFill>
                  <a:srgbClr val="161B26"/>
                </a:solidFill>
                <a:latin typeface="Arial"/>
              </a:rPr>
              <a:t>•  Download ZIP from GitHub</a:t>
            </a:r>
          </a:p>
          <a:p>
            <a:pPr>
              <a:spcAft>
                <a:spcPts val="900"/>
              </a:spcAft>
            </a:pPr>
            <a:r>
              <a:rPr sz="1400" b="0">
                <a:solidFill>
                  <a:srgbClr val="161B26"/>
                </a:solidFill>
                <a:latin typeface="Arial"/>
              </a:rPr>
              <a:t>•  Open a folder in VS Code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Toolchain check</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rustc --version</a:t>
            </a:r>
          </a:p>
          <a:p>
            <a:pPr>
              <a:spcAft>
                <a:spcPts val="900"/>
              </a:spcAft>
            </a:pPr>
            <a:r>
              <a:rPr sz="1400" b="0">
                <a:solidFill>
                  <a:srgbClr val="161B26"/>
                </a:solidFill>
                <a:latin typeface="Arial"/>
              </a:rPr>
              <a:t>•  cargo --version</a:t>
            </a:r>
          </a:p>
          <a:p>
            <a:pPr>
              <a:spcAft>
                <a:spcPts val="900"/>
              </a:spcAft>
            </a:pPr>
            <a:r>
              <a:rPr sz="1400" b="0">
                <a:solidFill>
                  <a:srgbClr val="161B26"/>
                </a:solidFill>
                <a:latin typeface="Arial"/>
              </a:rPr>
              <a:t>•  cargo test in solution/</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
        <p:nvSpPr>
          <p:cNvPr id="22" name="TextBox 21"/>
          <p:cNvSpPr txBox="1"/>
          <p:nvPr/>
        </p:nvSpPr>
        <p:spPr>
          <a:xfrm>
            <a:off x="868680" y="5760720"/>
            <a:ext cx="10241280" cy="411480"/>
          </a:xfrm>
          <a:prstGeom prst="rect">
            <a:avLst/>
          </a:prstGeom>
          <a:noFill/>
        </p:spPr>
        <p:txBody>
          <a:bodyPr wrap="square" anchor="t">
            <a:spAutoFit/>
          </a:bodyPr>
          <a:lstStyle/>
          <a:p>
            <a:pPr algn="l">
              <a:spcAft>
                <a:spcPts val="400"/>
              </a:spcAft>
            </a:pPr>
            <a:r>
              <a:rPr sz="1200" b="1">
                <a:solidFill>
                  <a:srgbClr val="1F6FEB"/>
                </a:solidFill>
                <a:latin typeface="Arial"/>
                <a:hlinkClick r:id="rId2"/>
              </a:rPr>
              <a:t>https://github.com/tertiarycourses/TGS-2023039924-AI-Vibe-Coding-with-Rust</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HOW WE WORK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AI Vibe Coding workbench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ust-vibe-workbench.png"/>
          <p:cNvPicPr>
            <a:picLocks noChangeAspect="1"/>
          </p:cNvPicPr>
          <p:nvPr/>
        </p:nvPicPr>
        <p:blipFill>
          <a:blip r:embed="rId2"/>
          <a:stretch>
            <a:fillRect/>
          </a:stretch>
        </p:blipFill>
        <p:spPr>
          <a:xfrm>
            <a:off x="777240" y="1783080"/>
            <a:ext cx="6492240" cy="4057650"/>
          </a:xfrm>
          <a:prstGeom prst="rect">
            <a:avLst/>
          </a:prstGeom>
          <a:ln>
            <a:solidFill>
              <a:srgbClr val="E2E8F0"/>
            </a:solidFill>
          </a:ln>
        </p:spPr>
      </p:pic>
      <p:sp>
        <p:nvSpPr>
          <p:cNvPr id="8" name="Rectangle 7"/>
          <p:cNvSpPr/>
          <p:nvPr/>
        </p:nvSpPr>
        <p:spPr>
          <a:xfrm>
            <a:off x="7498079" y="1783080"/>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79" y="1783080"/>
            <a:ext cx="82296"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99248" y="1856231"/>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Editor</a:t>
            </a:r>
          </a:p>
        </p:txBody>
      </p:sp>
      <p:sp>
        <p:nvSpPr>
          <p:cNvPr id="11" name="TextBox 10"/>
          <p:cNvSpPr txBox="1"/>
          <p:nvPr/>
        </p:nvSpPr>
        <p:spPr>
          <a:xfrm>
            <a:off x="7699248" y="2130552"/>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VS Code + rust-analyzer shows types and errors as you type.</a:t>
            </a:r>
          </a:p>
        </p:txBody>
      </p:sp>
      <p:sp>
        <p:nvSpPr>
          <p:cNvPr id="12" name="Rectangle 11"/>
          <p:cNvSpPr/>
          <p:nvPr/>
        </p:nvSpPr>
        <p:spPr>
          <a:xfrm>
            <a:off x="7498079" y="2807208"/>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98079" y="2807208"/>
            <a:ext cx="82296"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99248" y="2880360"/>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AI assistant</a:t>
            </a:r>
          </a:p>
        </p:txBody>
      </p:sp>
      <p:sp>
        <p:nvSpPr>
          <p:cNvPr id="15" name="TextBox 14"/>
          <p:cNvSpPr txBox="1"/>
          <p:nvPr/>
        </p:nvSpPr>
        <p:spPr>
          <a:xfrm>
            <a:off x="7699248" y="3154680"/>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Drafts code, tests and docs from a bounded prompt.</a:t>
            </a:r>
          </a:p>
        </p:txBody>
      </p:sp>
      <p:sp>
        <p:nvSpPr>
          <p:cNvPr id="16" name="Rectangle 15"/>
          <p:cNvSpPr/>
          <p:nvPr/>
        </p:nvSpPr>
        <p:spPr>
          <a:xfrm>
            <a:off x="7498079" y="3831336"/>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98079" y="3831336"/>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3904488"/>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Cargo</a:t>
            </a:r>
          </a:p>
        </p:txBody>
      </p:sp>
      <p:sp>
        <p:nvSpPr>
          <p:cNvPr id="19" name="TextBox 18"/>
          <p:cNvSpPr txBox="1"/>
          <p:nvPr/>
        </p:nvSpPr>
        <p:spPr>
          <a:xfrm>
            <a:off x="7699248" y="4178808"/>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Builds, tests, lints and formats: the objective gate.</a:t>
            </a:r>
          </a:p>
        </p:txBody>
      </p:sp>
      <p:sp>
        <p:nvSpPr>
          <p:cNvPr id="20" name="Rectangle 19"/>
          <p:cNvSpPr/>
          <p:nvPr/>
        </p:nvSpPr>
        <p:spPr>
          <a:xfrm>
            <a:off x="7498079" y="4855464"/>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98079" y="4855464"/>
            <a:ext cx="82296" cy="932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9248" y="4928616"/>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You</a:t>
            </a:r>
          </a:p>
        </p:txBody>
      </p:sp>
      <p:sp>
        <p:nvSpPr>
          <p:cNvPr id="23" name="TextBox 22"/>
          <p:cNvSpPr txBox="1"/>
          <p:nvPr/>
        </p:nvSpPr>
        <p:spPr>
          <a:xfrm>
            <a:off x="7699248" y="5202936"/>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Decide what is accepted, and record why.</a:t>
            </a:r>
          </a:p>
        </p:txBody>
      </p:sp>
      <p:sp>
        <p:nvSpPr>
          <p:cNvPr id="24" name="TextBox 23"/>
          <p:cNvSpPr txBox="1"/>
          <p:nvPr/>
        </p:nvSpPr>
        <p:spPr>
          <a:xfrm>
            <a:off x="777240" y="5943600"/>
            <a:ext cx="6492240" cy="274320"/>
          </a:xfrm>
          <a:prstGeom prst="rect">
            <a:avLst/>
          </a:prstGeom>
          <a:noFill/>
        </p:spPr>
        <p:txBody>
          <a:bodyPr wrap="square" anchor="t">
            <a:spAutoFit/>
          </a:bodyPr>
          <a:lstStyle/>
          <a:p>
            <a:pPr algn="l">
              <a:spcAft>
                <a:spcPts val="400"/>
              </a:spcAft>
            </a:pPr>
            <a:r>
              <a:rPr sz="1000" b="0">
                <a:solidFill>
                  <a:srgbClr val="5B6372"/>
                </a:solidFill>
                <a:latin typeface="Arial"/>
              </a:rPr>
              <a:t>Course illustration; the code and test result shown are from Activity 1 of this course.</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LEARN RUST / BEYOND THE CLASS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 Rust: recommended resources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960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874519"/>
            <a:ext cx="4846320" cy="365760"/>
          </a:xfrm>
          <a:prstGeom prst="rect">
            <a:avLst/>
          </a:prstGeom>
          <a:noFill/>
        </p:spPr>
        <p:txBody>
          <a:bodyPr wrap="square" anchor="t">
            <a:spAutoFit/>
          </a:bodyPr>
          <a:lstStyle/>
          <a:p>
            <a:pPr algn="l">
              <a:spcAft>
                <a:spcPts val="400"/>
              </a:spcAft>
            </a:pPr>
            <a:r>
              <a:rPr sz="1300" b="1">
                <a:solidFill>
                  <a:srgbClr val="161B26"/>
                </a:solidFill>
                <a:latin typeface="Arial"/>
              </a:rPr>
              <a:t>Rust official learning hub</a:t>
            </a:r>
          </a:p>
        </p:txBody>
      </p:sp>
      <p:sp>
        <p:nvSpPr>
          <p:cNvPr id="10" name="TextBox 9"/>
          <p:cNvSpPr txBox="1"/>
          <p:nvPr/>
        </p:nvSpPr>
        <p:spPr>
          <a:xfrm>
            <a:off x="1005840" y="2286000"/>
            <a:ext cx="4846320" cy="411480"/>
          </a:xfrm>
          <a:prstGeom prst="rect">
            <a:avLst/>
          </a:prstGeom>
          <a:noFill/>
        </p:spPr>
        <p:txBody>
          <a:bodyPr wrap="square" anchor="t">
            <a:spAutoFit/>
          </a:bodyPr>
          <a:lstStyle/>
          <a:p>
            <a:pPr algn="l">
              <a:spcAft>
                <a:spcPts val="400"/>
              </a:spcAft>
            </a:pPr>
            <a:r>
              <a:rPr sz="1000" b="1">
                <a:solidFill>
                  <a:srgbClr val="1F6FEB"/>
                </a:solidFill>
                <a:latin typeface="Arial"/>
                <a:hlinkClick r:id="rId2"/>
              </a:rPr>
              <a:t>https://rust-lang.org/learn/</a:t>
            </a:r>
          </a:p>
        </p:txBody>
      </p:sp>
      <p:sp>
        <p:nvSpPr>
          <p:cNvPr id="11" name="Rectangle 10"/>
          <p:cNvSpPr/>
          <p:nvPr/>
        </p:nvSpPr>
        <p:spPr>
          <a:xfrm>
            <a:off x="6172200" y="1783080"/>
            <a:ext cx="521208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82296"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874519"/>
            <a:ext cx="4846320" cy="365760"/>
          </a:xfrm>
          <a:prstGeom prst="rect">
            <a:avLst/>
          </a:prstGeom>
          <a:noFill/>
        </p:spPr>
        <p:txBody>
          <a:bodyPr wrap="square" anchor="t">
            <a:spAutoFit/>
          </a:bodyPr>
          <a:lstStyle/>
          <a:p>
            <a:pPr algn="l">
              <a:spcAft>
                <a:spcPts val="400"/>
              </a:spcAft>
            </a:pPr>
            <a:r>
              <a:rPr sz="1300" b="1">
                <a:solidFill>
                  <a:srgbClr val="161B26"/>
                </a:solidFill>
                <a:latin typeface="Arial"/>
              </a:rPr>
              <a:t>W3Schools Rust tutorial</a:t>
            </a:r>
          </a:p>
        </p:txBody>
      </p:sp>
      <p:sp>
        <p:nvSpPr>
          <p:cNvPr id="14" name="TextBox 13"/>
          <p:cNvSpPr txBox="1"/>
          <p:nvPr/>
        </p:nvSpPr>
        <p:spPr>
          <a:xfrm>
            <a:off x="6400800" y="2286000"/>
            <a:ext cx="4846320" cy="411480"/>
          </a:xfrm>
          <a:prstGeom prst="rect">
            <a:avLst/>
          </a:prstGeom>
          <a:noFill/>
        </p:spPr>
        <p:txBody>
          <a:bodyPr wrap="square" anchor="t">
            <a:spAutoFit/>
          </a:bodyPr>
          <a:lstStyle/>
          <a:p>
            <a:pPr algn="l">
              <a:spcAft>
                <a:spcPts val="400"/>
              </a:spcAft>
            </a:pPr>
            <a:r>
              <a:rPr sz="1000" b="1">
                <a:solidFill>
                  <a:srgbClr val="1F6FEB"/>
                </a:solidFill>
                <a:latin typeface="Arial"/>
                <a:hlinkClick r:id="rId3"/>
              </a:rPr>
              <a:t>https://www.w3schools.com/rust/</a:t>
            </a:r>
          </a:p>
        </p:txBody>
      </p:sp>
      <p:sp>
        <p:nvSpPr>
          <p:cNvPr id="15" name="Rectangle 14"/>
          <p:cNvSpPr/>
          <p:nvPr/>
        </p:nvSpPr>
        <p:spPr>
          <a:xfrm>
            <a:off x="777240" y="2880360"/>
            <a:ext cx="521208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880360"/>
            <a:ext cx="82296"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971800"/>
            <a:ext cx="4846320" cy="365760"/>
          </a:xfrm>
          <a:prstGeom prst="rect">
            <a:avLst/>
          </a:prstGeom>
          <a:noFill/>
        </p:spPr>
        <p:txBody>
          <a:bodyPr wrap="square" anchor="t">
            <a:spAutoFit/>
          </a:bodyPr>
          <a:lstStyle/>
          <a:p>
            <a:pPr algn="l">
              <a:spcAft>
                <a:spcPts val="400"/>
              </a:spcAft>
            </a:pPr>
            <a:r>
              <a:rPr sz="1300" b="1">
                <a:solidFill>
                  <a:srgbClr val="161B26"/>
                </a:solidFill>
                <a:latin typeface="Arial"/>
              </a:rPr>
              <a:t>W3Schools: Get Started with Rust</a:t>
            </a:r>
          </a:p>
        </p:txBody>
      </p:sp>
      <p:sp>
        <p:nvSpPr>
          <p:cNvPr id="18" name="TextBox 17"/>
          <p:cNvSpPr txBox="1"/>
          <p:nvPr/>
        </p:nvSpPr>
        <p:spPr>
          <a:xfrm>
            <a:off x="1005840" y="3383280"/>
            <a:ext cx="4846320" cy="411480"/>
          </a:xfrm>
          <a:prstGeom prst="rect">
            <a:avLst/>
          </a:prstGeom>
          <a:noFill/>
        </p:spPr>
        <p:txBody>
          <a:bodyPr wrap="square" anchor="t">
            <a:spAutoFit/>
          </a:bodyPr>
          <a:lstStyle/>
          <a:p>
            <a:pPr algn="l">
              <a:spcAft>
                <a:spcPts val="400"/>
              </a:spcAft>
            </a:pPr>
            <a:r>
              <a:rPr sz="1000" b="1">
                <a:solidFill>
                  <a:srgbClr val="1F6FEB"/>
                </a:solidFill>
                <a:latin typeface="Arial"/>
                <a:hlinkClick r:id="rId4"/>
              </a:rPr>
              <a:t>https://www.w3schools.com/rust/rust_getstarted.php</a:t>
            </a:r>
          </a:p>
        </p:txBody>
      </p:sp>
      <p:sp>
        <p:nvSpPr>
          <p:cNvPr id="19" name="Rectangle 18"/>
          <p:cNvSpPr/>
          <p:nvPr/>
        </p:nvSpPr>
        <p:spPr>
          <a:xfrm>
            <a:off x="6172200" y="2880360"/>
            <a:ext cx="521208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2880360"/>
            <a:ext cx="82296"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2971800"/>
            <a:ext cx="4846320" cy="365760"/>
          </a:xfrm>
          <a:prstGeom prst="rect">
            <a:avLst/>
          </a:prstGeom>
          <a:noFill/>
        </p:spPr>
        <p:txBody>
          <a:bodyPr wrap="square" anchor="t">
            <a:spAutoFit/>
          </a:bodyPr>
          <a:lstStyle/>
          <a:p>
            <a:pPr algn="l">
              <a:spcAft>
                <a:spcPts val="400"/>
              </a:spcAft>
            </a:pPr>
            <a:r>
              <a:rPr sz="1300" b="1">
                <a:solidFill>
                  <a:srgbClr val="161B26"/>
                </a:solidFill>
                <a:latin typeface="Arial"/>
              </a:rPr>
              <a:t>Programiz: Learn Rust</a:t>
            </a:r>
          </a:p>
        </p:txBody>
      </p:sp>
      <p:sp>
        <p:nvSpPr>
          <p:cNvPr id="22" name="TextBox 21"/>
          <p:cNvSpPr txBox="1"/>
          <p:nvPr/>
        </p:nvSpPr>
        <p:spPr>
          <a:xfrm>
            <a:off x="6400800" y="3383280"/>
            <a:ext cx="4846320" cy="411480"/>
          </a:xfrm>
          <a:prstGeom prst="rect">
            <a:avLst/>
          </a:prstGeom>
          <a:noFill/>
        </p:spPr>
        <p:txBody>
          <a:bodyPr wrap="square" anchor="t">
            <a:spAutoFit/>
          </a:bodyPr>
          <a:lstStyle/>
          <a:p>
            <a:pPr algn="l">
              <a:spcAft>
                <a:spcPts val="400"/>
              </a:spcAft>
            </a:pPr>
            <a:r>
              <a:rPr sz="1000" b="1">
                <a:solidFill>
                  <a:srgbClr val="1F6FEB"/>
                </a:solidFill>
                <a:latin typeface="Arial"/>
                <a:hlinkClick r:id="rId5"/>
              </a:rPr>
              <a:t>https://www.programiz.com/rust</a:t>
            </a:r>
          </a:p>
        </p:txBody>
      </p:sp>
      <p:sp>
        <p:nvSpPr>
          <p:cNvPr id="23" name="Rectangle 22"/>
          <p:cNvSpPr/>
          <p:nvPr/>
        </p:nvSpPr>
        <p:spPr>
          <a:xfrm>
            <a:off x="777240" y="3977639"/>
            <a:ext cx="521208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3977639"/>
            <a:ext cx="82296" cy="960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4069079"/>
            <a:ext cx="4846320" cy="365760"/>
          </a:xfrm>
          <a:prstGeom prst="rect">
            <a:avLst/>
          </a:prstGeom>
          <a:noFill/>
        </p:spPr>
        <p:txBody>
          <a:bodyPr wrap="square" anchor="t">
            <a:spAutoFit/>
          </a:bodyPr>
          <a:lstStyle/>
          <a:p>
            <a:pPr algn="l">
              <a:spcAft>
                <a:spcPts val="400"/>
              </a:spcAft>
            </a:pPr>
            <a:r>
              <a:rPr sz="1300" b="1">
                <a:solidFill>
                  <a:srgbClr val="161B26"/>
                </a:solidFill>
                <a:latin typeface="Arial"/>
              </a:rPr>
              <a:t>IONOS Digital Guide: Rust tutorial</a:t>
            </a:r>
          </a:p>
        </p:txBody>
      </p:sp>
      <p:sp>
        <p:nvSpPr>
          <p:cNvPr id="26" name="TextBox 25"/>
          <p:cNvSpPr txBox="1"/>
          <p:nvPr/>
        </p:nvSpPr>
        <p:spPr>
          <a:xfrm>
            <a:off x="1005840" y="4480559"/>
            <a:ext cx="4846320" cy="411480"/>
          </a:xfrm>
          <a:prstGeom prst="rect">
            <a:avLst/>
          </a:prstGeom>
          <a:noFill/>
        </p:spPr>
        <p:txBody>
          <a:bodyPr wrap="square" anchor="t">
            <a:spAutoFit/>
          </a:bodyPr>
          <a:lstStyle/>
          <a:p>
            <a:pPr algn="l">
              <a:spcAft>
                <a:spcPts val="400"/>
              </a:spcAft>
            </a:pPr>
            <a:r>
              <a:rPr sz="1000" b="1">
                <a:solidFill>
                  <a:srgbClr val="1F6FEB"/>
                </a:solidFill>
                <a:latin typeface="Arial"/>
                <a:hlinkClick r:id="rId6"/>
              </a:rPr>
              <a:t>https://www.ionos.com/digitalguide/websites/web-development/rust-tutorial/</a:t>
            </a:r>
          </a:p>
        </p:txBody>
      </p:sp>
      <p:sp>
        <p:nvSpPr>
          <p:cNvPr id="27" name="Rectangle 26"/>
          <p:cNvSpPr/>
          <p:nvPr/>
        </p:nvSpPr>
        <p:spPr>
          <a:xfrm>
            <a:off x="6172200" y="3977639"/>
            <a:ext cx="521208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2200" y="3977639"/>
            <a:ext cx="82296"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0" y="4069079"/>
            <a:ext cx="4846320" cy="365760"/>
          </a:xfrm>
          <a:prstGeom prst="rect">
            <a:avLst/>
          </a:prstGeom>
          <a:noFill/>
        </p:spPr>
        <p:txBody>
          <a:bodyPr wrap="square" anchor="t">
            <a:spAutoFit/>
          </a:bodyPr>
          <a:lstStyle/>
          <a:p>
            <a:pPr algn="l">
              <a:spcAft>
                <a:spcPts val="400"/>
              </a:spcAft>
            </a:pPr>
            <a:r>
              <a:rPr sz="1300" b="1">
                <a:solidFill>
                  <a:srgbClr val="161B26"/>
                </a:solidFill>
                <a:latin typeface="Arial"/>
              </a:rPr>
              <a:t>JetBrains: Getting Started with Rust</a:t>
            </a:r>
          </a:p>
        </p:txBody>
      </p:sp>
      <p:sp>
        <p:nvSpPr>
          <p:cNvPr id="30" name="TextBox 29"/>
          <p:cNvSpPr txBox="1"/>
          <p:nvPr/>
        </p:nvSpPr>
        <p:spPr>
          <a:xfrm>
            <a:off x="6400800" y="4480559"/>
            <a:ext cx="4846320" cy="411480"/>
          </a:xfrm>
          <a:prstGeom prst="rect">
            <a:avLst/>
          </a:prstGeom>
          <a:noFill/>
        </p:spPr>
        <p:txBody>
          <a:bodyPr wrap="square" anchor="t">
            <a:spAutoFit/>
          </a:bodyPr>
          <a:lstStyle/>
          <a:p>
            <a:pPr algn="l">
              <a:spcAft>
                <a:spcPts val="400"/>
              </a:spcAft>
            </a:pPr>
            <a:r>
              <a:rPr sz="1000" b="1">
                <a:solidFill>
                  <a:srgbClr val="1F6FEB"/>
                </a:solidFill>
                <a:latin typeface="Arial"/>
                <a:hlinkClick r:id="rId7"/>
              </a:rPr>
              <a:t>https://lp.jetbrains.com/getting-started-with-rust/</a:t>
            </a:r>
          </a:p>
        </p:txBody>
      </p:sp>
      <p:sp>
        <p:nvSpPr>
          <p:cNvPr id="31" name="Rectangle 30"/>
          <p:cNvSpPr/>
          <p:nvPr/>
        </p:nvSpPr>
        <p:spPr>
          <a:xfrm>
            <a:off x="777240" y="5074920"/>
            <a:ext cx="521208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074920"/>
            <a:ext cx="82296"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5166359"/>
            <a:ext cx="4846320" cy="365760"/>
          </a:xfrm>
          <a:prstGeom prst="rect">
            <a:avLst/>
          </a:prstGeom>
          <a:noFill/>
        </p:spPr>
        <p:txBody>
          <a:bodyPr wrap="square" anchor="t">
            <a:spAutoFit/>
          </a:bodyPr>
          <a:lstStyle/>
          <a:p>
            <a:pPr algn="l">
              <a:spcAft>
                <a:spcPts val="400"/>
              </a:spcAft>
            </a:pPr>
            <a:r>
              <a:rPr sz="1300" b="1">
                <a:solidFill>
                  <a:srgbClr val="161B26"/>
                </a:solidFill>
                <a:latin typeface="Arial"/>
              </a:rPr>
              <a:t>OneCompiler: Rust tutorial</a:t>
            </a:r>
          </a:p>
        </p:txBody>
      </p:sp>
      <p:sp>
        <p:nvSpPr>
          <p:cNvPr id="34" name="TextBox 33"/>
          <p:cNvSpPr txBox="1"/>
          <p:nvPr/>
        </p:nvSpPr>
        <p:spPr>
          <a:xfrm>
            <a:off x="1005840" y="5577840"/>
            <a:ext cx="4846320" cy="411480"/>
          </a:xfrm>
          <a:prstGeom prst="rect">
            <a:avLst/>
          </a:prstGeom>
          <a:noFill/>
        </p:spPr>
        <p:txBody>
          <a:bodyPr wrap="square" anchor="t">
            <a:spAutoFit/>
          </a:bodyPr>
          <a:lstStyle/>
          <a:p>
            <a:pPr algn="l">
              <a:spcAft>
                <a:spcPts val="400"/>
              </a:spcAft>
            </a:pPr>
            <a:r>
              <a:rPr sz="1000" b="1">
                <a:solidFill>
                  <a:srgbClr val="1F6FEB"/>
                </a:solidFill>
                <a:latin typeface="Arial"/>
                <a:hlinkClick r:id="rId8"/>
              </a:rPr>
              <a:t>https://onecompiler.com/tutorials/rust</a:t>
            </a:r>
          </a:p>
        </p:txBody>
      </p:sp>
      <p:sp>
        <p:nvSpPr>
          <p:cNvPr id="35" name="Rectangle 34"/>
          <p:cNvSpPr/>
          <p:nvPr/>
        </p:nvSpPr>
        <p:spPr>
          <a:xfrm>
            <a:off x="6172200" y="5074920"/>
            <a:ext cx="521208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72200" y="5074920"/>
            <a:ext cx="82296"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0" y="5166359"/>
            <a:ext cx="4846320" cy="365760"/>
          </a:xfrm>
          <a:prstGeom prst="rect">
            <a:avLst/>
          </a:prstGeom>
          <a:noFill/>
        </p:spPr>
        <p:txBody>
          <a:bodyPr wrap="square" anchor="t">
            <a:spAutoFit/>
          </a:bodyPr>
          <a:lstStyle/>
          <a:p>
            <a:pPr algn="l">
              <a:spcAft>
                <a:spcPts val="400"/>
              </a:spcAft>
            </a:pPr>
            <a:r>
              <a:rPr sz="1300" b="1">
                <a:solidFill>
                  <a:srgbClr val="161B26"/>
                </a:solidFill>
                <a:latin typeface="Arial"/>
              </a:rPr>
              <a:t>It's FOSS: Rust programming tutorial series</a:t>
            </a:r>
          </a:p>
        </p:txBody>
      </p:sp>
      <p:sp>
        <p:nvSpPr>
          <p:cNvPr id="38" name="TextBox 37"/>
          <p:cNvSpPr txBox="1"/>
          <p:nvPr/>
        </p:nvSpPr>
        <p:spPr>
          <a:xfrm>
            <a:off x="6400800" y="5577840"/>
            <a:ext cx="4846320" cy="411480"/>
          </a:xfrm>
          <a:prstGeom prst="rect">
            <a:avLst/>
          </a:prstGeom>
          <a:noFill/>
        </p:spPr>
        <p:txBody>
          <a:bodyPr wrap="square" anchor="t">
            <a:spAutoFit/>
          </a:bodyPr>
          <a:lstStyle/>
          <a:p>
            <a:pPr algn="l">
              <a:spcAft>
                <a:spcPts val="400"/>
              </a:spcAft>
            </a:pPr>
            <a:r>
              <a:rPr sz="1000" b="1">
                <a:solidFill>
                  <a:srgbClr val="1F6FEB"/>
                </a:solidFill>
                <a:latin typeface="Arial"/>
                <a:hlinkClick r:id="rId9"/>
              </a:rPr>
              <a:t>https://itsfoss.com/rust-tutorials/</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 / K1/A1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Rust Programming Fundamentals and Software Components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Activities 1-3 / concepts, contracts, failure modes and evidence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med" advClick="1">
    <p:push dir="l"/>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specification becomes a component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6A9955"/>
                </a:solidFill>
                <a:latin typeface="Consolas"/>
              </a:rPr>
              <a:t>R1 price one order line in cents</a:t>
            </a:r>
          </a:p>
          <a:p>
            <a:pPr>
              <a:spcAft>
                <a:spcPts val="100"/>
              </a:spcAft>
            </a:pPr>
            <a:r>
              <a:rPr sz="1200">
                <a:solidFill>
                  <a:srgbClr val="6A9955"/>
                </a:solidFill>
                <a:latin typeface="Consolas"/>
              </a:rPr>
              <a:t>R2 quantity must be 1..=10,000</a:t>
            </a:r>
          </a:p>
          <a:p>
            <a:pPr>
              <a:spcAft>
                <a:spcPts val="100"/>
              </a:spcAft>
            </a:pPr>
            <a:r>
              <a:rPr sz="1200">
                <a:solidFill>
                  <a:srgbClr val="6A9955"/>
                </a:solidFill>
                <a:latin typeface="Consolas"/>
              </a:rPr>
              <a:t>R3 never wrap or lose money on overflow</a:t>
            </a:r>
          </a:p>
          <a:p>
            <a:pPr>
              <a:spcAft>
                <a:spcPts val="100"/>
              </a:spcAft>
            </a:pPr>
            <a:r>
              <a:rPr sz="1200">
                <a:solidFill>
                  <a:srgbClr val="D4D4D4"/>
                </a:solidFill>
                <a:latin typeface="Consolas"/>
              </a:rPr>
              <a:t> </a:t>
            </a:r>
          </a:p>
          <a:p>
            <a:pPr>
              <a:spcAft>
                <a:spcPts val="100"/>
              </a:spcAft>
            </a:pPr>
            <a:r>
              <a:rPr sz="1200">
                <a:solidFill>
                  <a:srgbClr val="D4D4D4"/>
                </a:solidFill>
                <a:latin typeface="Consolas"/>
              </a:rPr>
              <a:t>component: fn line_total(</a:t>
            </a:r>
          </a:p>
          <a:p>
            <a:pPr>
              <a:spcAft>
                <a:spcPts val="100"/>
              </a:spcAft>
            </a:pPr>
            <a:r>
              <a:rPr sz="1200">
                <a:solidFill>
                  <a:srgbClr val="D4D4D4"/>
                </a:solidFill>
                <a:latin typeface="Consolas"/>
              </a:rPr>
              <a:t>    unit_price_cents: u64,   // input</a:t>
            </a:r>
          </a:p>
          <a:p>
            <a:pPr>
              <a:spcAft>
                <a:spcPts val="100"/>
              </a:spcAft>
            </a:pPr>
            <a:r>
              <a:rPr sz="1200">
                <a:solidFill>
                  <a:srgbClr val="D4D4D4"/>
                </a:solidFill>
                <a:latin typeface="Consolas"/>
              </a:rPr>
              <a:t>    qty: u32,                // input</a:t>
            </a:r>
          </a:p>
          <a:p>
            <a:pPr>
              <a:spcAft>
                <a:spcPts val="100"/>
              </a:spcAft>
            </a:pPr>
            <a:r>
              <a:rPr sz="1200">
                <a:solidFill>
                  <a:srgbClr val="D4D4D4"/>
                </a:solidFill>
                <a:latin typeface="Consolas"/>
              </a:rPr>
              <a:t>) -&gt; Option&lt;u64&gt;             // output or refusal</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Requirement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Write the rule in business words before any code exists.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Input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Each input gets a type that already excludes invalid values (u32 is never negative).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Output</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Option&lt;u64&gt; makes "refused" part of the signature, not a comment.</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Evidence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Each requirement maps to at least one named test.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K1/A1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 specification becomes a component contract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Business rule</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Totals are whole cents; quantity 1..=10,000; overflow is refused.</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Rust types</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u64 for money in cents, u32 for quantity, Option for refusal.</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Component boundary</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 pure function: no printing, no files, no global state.</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Acceptance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Tests at 0, 1, 10,000, 10,001 and u64::MAX.</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Every requirement ID appears in a test name or a trace table row.</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K1/A1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 specification becomes a component contract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Ambiguous rule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Ask the business owner (or the AI, then verify) before coding: is 0 an error or a no-op?</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Every requirement ID appears in a test name or a trace table row.</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CONFIG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Rust toolchain: rustup, cargo and rustc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6A9955"/>
                </a:solidFill>
                <a:latin typeface="Consolas"/>
              </a:rPr>
              <a:t># install once (macOS/Linux; Windows uses rustup-init.exe)</a:t>
            </a:r>
          </a:p>
          <a:p>
            <a:pPr>
              <a:spcAft>
                <a:spcPts val="100"/>
              </a:spcAft>
            </a:pPr>
            <a:r>
              <a:rPr sz="1200">
                <a:solidFill>
                  <a:srgbClr val="D4D4D4"/>
                </a:solidFill>
                <a:latin typeface="Consolas"/>
              </a:rPr>
              <a:t>curl https://sh.rustup.rs -sSf | sh</a:t>
            </a:r>
          </a:p>
          <a:p>
            <a:pPr>
              <a:spcAft>
                <a:spcPts val="100"/>
              </a:spcAft>
            </a:pPr>
            <a:r>
              <a:rPr sz="1200">
                <a:solidFill>
                  <a:srgbClr val="D4D4D4"/>
                </a:solidFill>
                <a:latin typeface="Consolas"/>
              </a:rPr>
              <a:t>rustup component add clippy rustfmt</a:t>
            </a:r>
          </a:p>
          <a:p>
            <a:pPr>
              <a:spcAft>
                <a:spcPts val="100"/>
              </a:spcAft>
            </a:pPr>
            <a:r>
              <a:rPr sz="1200">
                <a:solidFill>
                  <a:srgbClr val="D4D4D4"/>
                </a:solidFill>
                <a:latin typeface="Consolas"/>
              </a:rPr>
              <a:t> </a:t>
            </a:r>
          </a:p>
          <a:p>
            <a:pPr>
              <a:spcAft>
                <a:spcPts val="100"/>
              </a:spcAft>
            </a:pPr>
            <a:r>
              <a:rPr sz="1200">
                <a:solidFill>
                  <a:srgbClr val="D4D4D4"/>
                </a:solidFill>
                <a:latin typeface="Consolas"/>
              </a:rPr>
              <a:t>rustc --version      # the compiler</a:t>
            </a:r>
          </a:p>
          <a:p>
            <a:pPr>
              <a:spcAft>
                <a:spcPts val="100"/>
              </a:spcAft>
            </a:pPr>
            <a:r>
              <a:rPr sz="1200">
                <a:solidFill>
                  <a:srgbClr val="D4D4D4"/>
                </a:solidFill>
                <a:latin typeface="Consolas"/>
              </a:rPr>
              <a:t>cargo --version      # build tool + package manager</a:t>
            </a:r>
          </a:p>
          <a:p>
            <a:pPr>
              <a:spcAft>
                <a:spcPts val="100"/>
              </a:spcAft>
            </a:pPr>
            <a:r>
              <a:rPr sz="1200">
                <a:solidFill>
                  <a:srgbClr val="D4D4D4"/>
                </a:solidFill>
                <a:latin typeface="Consolas"/>
              </a:rPr>
              <a:t>cargo new stockpilot # create a package</a:t>
            </a:r>
          </a:p>
          <a:p>
            <a:pPr>
              <a:spcAft>
                <a:spcPts val="100"/>
              </a:spcAft>
            </a:pPr>
            <a:r>
              <a:rPr sz="1200">
                <a:solidFill>
                  <a:srgbClr val="D4D4D4"/>
                </a:solidFill>
                <a:latin typeface="Consolas"/>
              </a:rPr>
              <a:t>cargo run            # build and run</a:t>
            </a:r>
          </a:p>
          <a:p>
            <a:pPr>
              <a:spcAft>
                <a:spcPts val="100"/>
              </a:spcAft>
            </a:pPr>
            <a:r>
              <a:rPr sz="1200">
                <a:solidFill>
                  <a:srgbClr val="D4D4D4"/>
                </a:solidFill>
                <a:latin typeface="Consolas"/>
              </a:rPr>
              <a:t>cargo test           # build and run tests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rustup</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Installs and updates Rust toolchains and components.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cargo</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One command for new, build, run, test, fmt, clippy and doc.</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rustc</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compiler; cargo calls it for you with the right flags.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stable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course uses the stable channel; record the version as evidence.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K1/A1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The Rust toolchain: rustup, cargo and rustc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Install</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rustup from rustup.rs; Windows also needs the MSVC build tools.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Editor</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Visual Studio Code with the rust-analyzer extension.</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Components</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clippy (lints) and rustfmt (formatting) via rustup component add.</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Evidence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rustc --version output is recorded in every verification record.</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rustc --version and cargo --version both print a version in the VS Code terminal.</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K1/A1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The Rust toolchain: rustup, cargo and rustc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cargo: command not found</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Open a new terminal so PATH includes ~/.cargo/bin, or run the rustup installer again.</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rustc --version and cargo --version both print a version in the VS Code terminal.</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ARCH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Anatomy of a Cargo package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D4D4D4"/>
                </a:solidFill>
                <a:latin typeface="Consolas"/>
              </a:rPr>
              <a:t>activity01/</a:t>
            </a:r>
          </a:p>
          <a:p>
            <a:pPr>
              <a:spcAft>
                <a:spcPts val="100"/>
              </a:spcAft>
            </a:pPr>
            <a:r>
              <a:rPr sz="1200">
                <a:solidFill>
                  <a:srgbClr val="D4D4D4"/>
                </a:solidFill>
                <a:latin typeface="Consolas"/>
              </a:rPr>
              <a:t>  Cargo.toml        # name, edition, dependencies</a:t>
            </a:r>
          </a:p>
          <a:p>
            <a:pPr>
              <a:spcAft>
                <a:spcPts val="100"/>
              </a:spcAft>
            </a:pPr>
            <a:r>
              <a:rPr sz="1200">
                <a:solidFill>
                  <a:srgbClr val="D4D4D4"/>
                </a:solidFill>
                <a:latin typeface="Consolas"/>
              </a:rPr>
              <a:t>  Cargo.lock        # exact resolved versions</a:t>
            </a:r>
          </a:p>
          <a:p>
            <a:pPr>
              <a:spcAft>
                <a:spcPts val="100"/>
              </a:spcAft>
            </a:pPr>
            <a:r>
              <a:rPr sz="1200">
                <a:solidFill>
                  <a:srgbClr val="D4D4D4"/>
                </a:solidFill>
                <a:latin typeface="Consolas"/>
              </a:rPr>
              <a:t>  src/</a:t>
            </a:r>
          </a:p>
          <a:p>
            <a:pPr>
              <a:spcAft>
                <a:spcPts val="100"/>
              </a:spcAft>
            </a:pPr>
            <a:r>
              <a:rPr sz="1200">
                <a:solidFill>
                  <a:srgbClr val="D4D4D4"/>
                </a:solidFill>
                <a:latin typeface="Consolas"/>
              </a:rPr>
              <a:t>    lib.rs          # library crate: the logic</a:t>
            </a:r>
          </a:p>
          <a:p>
            <a:pPr>
              <a:spcAft>
                <a:spcPts val="100"/>
              </a:spcAft>
            </a:pPr>
            <a:r>
              <a:rPr sz="1200">
                <a:solidFill>
                  <a:srgbClr val="D4D4D4"/>
                </a:solidFill>
                <a:latin typeface="Consolas"/>
              </a:rPr>
              <a:t>    main.rs         # binary crate: thin entry point</a:t>
            </a:r>
          </a:p>
          <a:p>
            <a:pPr>
              <a:spcAft>
                <a:spcPts val="100"/>
              </a:spcAft>
            </a:pPr>
            <a:r>
              <a:rPr sz="1200">
                <a:solidFill>
                  <a:srgbClr val="D4D4D4"/>
                </a:solidFill>
                <a:latin typeface="Consolas"/>
              </a:rPr>
              <a:t>  tests/</a:t>
            </a:r>
          </a:p>
          <a:p>
            <a:pPr>
              <a:spcAft>
                <a:spcPts val="100"/>
              </a:spcAft>
            </a:pPr>
            <a:r>
              <a:rPr sz="1200">
                <a:solidFill>
                  <a:srgbClr val="D4D4D4"/>
                </a:solidFill>
                <a:latin typeface="Consolas"/>
              </a:rPr>
              <a:t>    acceptance.rs   # integration tests (public API)</a:t>
            </a:r>
          </a:p>
          <a:p>
            <a:pPr>
              <a:spcAft>
                <a:spcPts val="100"/>
              </a:spcAft>
            </a:pPr>
            <a:r>
              <a:rPr sz="1200">
                <a:solidFill>
                  <a:srgbClr val="D4D4D4"/>
                </a:solidFill>
                <a:latin typeface="Consolas"/>
              </a:rPr>
              <a:t>  target/           # build output (never commit)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Cargo.toml</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manifest: package metadata and dependencies.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lib.rs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Holds the reusable, testable components.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main.rs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Only parses arguments, calls the library and prints results.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tests/</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Each file is compiled as a separate crate that uses the public API.</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K1/A1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Anatomy of a Cargo package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Package</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One Cargo.toml; can contain one library and several binaries.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Crate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 compilation unit: lib.rs or main.rs and its modules.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Edition</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edition = "2021" fixes the language rules the crate uses.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Build output</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target/ is generated; add it to .gitignore.</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cargo test builds lib, bin and tests; tests only use pub items.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K1/A1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Anatomy of a Cargo package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Logic hidden in main.rs</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Move it into lib.rs so integration tests can call it directly.</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cargo test builds lib, bin and tests; tests only use pub items.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Variables are immutable by default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C586C0"/>
                </a:solidFill>
                <a:latin typeface="Consolas"/>
              </a:rPr>
              <a:t>let qty = 4;               // immutable binding</a:t>
            </a:r>
          </a:p>
          <a:p>
            <a:pPr>
              <a:spcAft>
                <a:spcPts val="100"/>
              </a:spcAft>
            </a:pPr>
            <a:r>
              <a:rPr sz="1200">
                <a:solidFill>
                  <a:srgbClr val="C586C0"/>
                </a:solidFill>
                <a:latin typeface="Consolas"/>
              </a:rPr>
              <a:t>let mut stock = 10;        // mutable binding</a:t>
            </a:r>
          </a:p>
          <a:p>
            <a:pPr>
              <a:spcAft>
                <a:spcPts val="100"/>
              </a:spcAft>
            </a:pPr>
            <a:r>
              <a:rPr sz="1200">
                <a:solidFill>
                  <a:srgbClr val="D4D4D4"/>
                </a:solidFill>
                <a:latin typeface="Consolas"/>
              </a:rPr>
              <a:t>stock -= qty;              // allowed: declared mut</a:t>
            </a:r>
          </a:p>
          <a:p>
            <a:pPr>
              <a:spcAft>
                <a:spcPts val="100"/>
              </a:spcAft>
            </a:pPr>
            <a:r>
              <a:rPr sz="1200">
                <a:solidFill>
                  <a:srgbClr val="D4D4D4"/>
                </a:solidFill>
                <a:latin typeface="Consolas"/>
              </a:rPr>
              <a:t> </a:t>
            </a:r>
          </a:p>
          <a:p>
            <a:pPr>
              <a:spcAft>
                <a:spcPts val="100"/>
              </a:spcAft>
            </a:pPr>
            <a:r>
              <a:rPr sz="1200">
                <a:solidFill>
                  <a:srgbClr val="C586C0"/>
                </a:solidFill>
                <a:latin typeface="Consolas"/>
              </a:rPr>
              <a:t>const MAX_QTY: u32 = 10_000;   // compile-time constant</a:t>
            </a:r>
          </a:p>
          <a:p>
            <a:pPr>
              <a:spcAft>
                <a:spcPts val="100"/>
              </a:spcAft>
            </a:pPr>
            <a:r>
              <a:rPr sz="1200">
                <a:solidFill>
                  <a:srgbClr val="D4D4D4"/>
                </a:solidFill>
                <a:latin typeface="Consolas"/>
              </a:rPr>
              <a:t> </a:t>
            </a:r>
          </a:p>
          <a:p>
            <a:pPr>
              <a:spcAft>
                <a:spcPts val="100"/>
              </a:spcAft>
            </a:pPr>
            <a:r>
              <a:rPr sz="1200">
                <a:solidFill>
                  <a:srgbClr val="C586C0"/>
                </a:solidFill>
                <a:latin typeface="Consolas"/>
              </a:rPr>
              <a:t>let input = " 42 ";</a:t>
            </a:r>
          </a:p>
          <a:p>
            <a:pPr>
              <a:spcAft>
                <a:spcPts val="100"/>
              </a:spcAft>
            </a:pPr>
            <a:r>
              <a:rPr sz="1200">
                <a:solidFill>
                  <a:srgbClr val="C586C0"/>
                </a:solidFill>
                <a:latin typeface="Consolas"/>
              </a:rPr>
              <a:t>let input: u32 = input.trim().parse().unwrap_or(0);</a:t>
            </a:r>
          </a:p>
          <a:p>
            <a:pPr>
              <a:spcAft>
                <a:spcPts val="100"/>
              </a:spcAft>
            </a:pPr>
            <a:r>
              <a:rPr sz="1200">
                <a:solidFill>
                  <a:srgbClr val="6A9955"/>
                </a:solidFill>
                <a:latin typeface="Consolas"/>
              </a:rPr>
              <a:t>// shadowing: same name, new type and value</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let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 binding cannot change unless you opt in with mut.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mut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Makes every place that changes state easy to find in review.</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const</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Named, typed constant; UPPER_SNAKE_CASE by convention.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Shadowing</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Re-using a name with let creates a new variable, often of a new type.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K1/A1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Variables are immutable by default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Default</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Immutable: accidental writes are compile errors (E0384).</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Constants</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Must have an explicit type; evaluated at compile time.</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Naming</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snake_case for variables and functions, CamelCase for types.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Review rule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Every mut should be necessary; clippy flags unused mut.</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 code compiles with no unused_mut warnings under clippy.</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K1/A1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Variables are immutable by default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error[E0384]: cannot assign twice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Add mut only if the value truly changes; otherwise create a new binding.</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The code compiles with no unused_mut warnings under clippy.</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FORMULA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Choose integer types deliberately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C586C0"/>
                </a:solidFill>
                <a:latin typeface="Consolas"/>
              </a:rPr>
              <a:t>let unit: u64 = 250;              // cents, never float</a:t>
            </a:r>
          </a:p>
          <a:p>
            <a:pPr>
              <a:spcAft>
                <a:spcPts val="100"/>
              </a:spcAft>
            </a:pPr>
            <a:r>
              <a:rPr sz="1100">
                <a:solidFill>
                  <a:srgbClr val="C586C0"/>
                </a:solidFill>
                <a:latin typeface="Consolas"/>
              </a:rPr>
              <a:t>let qty: u32 = 4;                 // cannot be negative</a:t>
            </a:r>
          </a:p>
          <a:p>
            <a:pPr>
              <a:spcAft>
                <a:spcPts val="100"/>
              </a:spcAft>
            </a:pPr>
            <a:r>
              <a:rPr sz="1100">
                <a:solidFill>
                  <a:srgbClr val="C586C0"/>
                </a:solidFill>
                <a:latin typeface="Consolas"/>
              </a:rPr>
              <a:t>let total = unit * u64::from(qty);   // widen, then multiply</a:t>
            </a:r>
          </a:p>
          <a:p>
            <a:pPr>
              <a:spcAft>
                <a:spcPts val="100"/>
              </a:spcAft>
            </a:pPr>
            <a:r>
              <a:rPr sz="1100">
                <a:solidFill>
                  <a:srgbClr val="D4D4D4"/>
                </a:solidFill>
                <a:latin typeface="Consolas"/>
              </a:rPr>
              <a:t> </a:t>
            </a:r>
          </a:p>
          <a:p>
            <a:pPr>
              <a:spcAft>
                <a:spcPts val="100"/>
              </a:spcAft>
            </a:pPr>
            <a:r>
              <a:rPr sz="1100">
                <a:solidFill>
                  <a:srgbClr val="D4D4D4"/>
                </a:solidFill>
                <a:latin typeface="Consolas"/>
              </a:rPr>
              <a:t>u64::MAX.checked_mul(2)           // None</a:t>
            </a:r>
          </a:p>
          <a:p>
            <a:pPr>
              <a:spcAft>
                <a:spcPts val="100"/>
              </a:spcAft>
            </a:pPr>
            <a:r>
              <a:rPr sz="1100">
                <a:solidFill>
                  <a:srgbClr val="D4D4D4"/>
                </a:solidFill>
                <a:latin typeface="Consolas"/>
              </a:rPr>
              <a:t>250u64.checked_mul(4)             // Some(1000)</a:t>
            </a:r>
          </a:p>
          <a:p>
            <a:pPr>
              <a:spcAft>
                <a:spcPts val="100"/>
              </a:spcAft>
            </a:pPr>
            <a:r>
              <a:rPr sz="1100">
                <a:solidFill>
                  <a:srgbClr val="D4D4D4"/>
                </a:solidFill>
                <a:latin typeface="Consolas"/>
              </a:rPr>
              <a:t>3u32.checked_sub(5)               // None</a:t>
            </a:r>
          </a:p>
          <a:p>
            <a:pPr>
              <a:spcAft>
                <a:spcPts val="100"/>
              </a:spcAft>
            </a:pPr>
            <a:r>
              <a:rPr sz="1100">
                <a:solidFill>
                  <a:srgbClr val="D4D4D4"/>
                </a:solidFill>
                <a:latin typeface="Consolas"/>
              </a:rPr>
              <a:t>(-4i64).abs()                     // 4</a:t>
            </a:r>
          </a:p>
          <a:p>
            <a:pPr>
              <a:spcAft>
                <a:spcPts val="100"/>
              </a:spcAft>
            </a:pPr>
            <a:r>
              <a:rPr sz="1100">
                <a:solidFill>
                  <a:srgbClr val="D4D4D4"/>
                </a:solidFill>
                <a:latin typeface="Consolas"/>
              </a:rPr>
              <a:t>u32::try_from(-1i64)              // Err(..)</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Money</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Store cents in an integer; floats cannot represent 0.10 exactly.</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Widening</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u64::from(qty) converts losslessly before multiplying.</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checked_*</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Returns None instead of overflowing.</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try_from</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Narrowing conversions return Result because they can fail.</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K1/A1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Choose integer types deliberately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u32</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0..=4,294,967,295: quantities and counts.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u64</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0..=18.4 quintillion: money in cents and large totals.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i64</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Signed: adjustments that can be negative.</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Overflow policy</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Debug builds panic, release builds wrap: so use checked_* explicitly.</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Tests at u64::MAX and u32::MAX prove the overflow policy.</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K1/A1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Choose integer types deliberately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attempt to multiply with overflow (panic)</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Replace * with checked_mul and return None or an error to the caller.</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Tests at u64::MAX and u32::MAX prove the overflow policy.</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Functions: the signature is the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C586C0"/>
                </a:solidFill>
                <a:latin typeface="Consolas"/>
              </a:rPr>
              <a:t>pub fn line_total(</a:t>
            </a:r>
          </a:p>
          <a:p>
            <a:pPr>
              <a:spcAft>
                <a:spcPts val="100"/>
              </a:spcAft>
            </a:pPr>
            <a:r>
              <a:rPr sz="1200">
                <a:solidFill>
                  <a:srgbClr val="D4D4D4"/>
                </a:solidFill>
                <a:latin typeface="Consolas"/>
              </a:rPr>
              <a:t>    unit_price_cents: u64,</a:t>
            </a:r>
          </a:p>
          <a:p>
            <a:pPr>
              <a:spcAft>
                <a:spcPts val="100"/>
              </a:spcAft>
            </a:pPr>
            <a:r>
              <a:rPr sz="1200">
                <a:solidFill>
                  <a:srgbClr val="D4D4D4"/>
                </a:solidFill>
                <a:latin typeface="Consolas"/>
              </a:rPr>
              <a:t>    qty: u32,</a:t>
            </a:r>
          </a:p>
          <a:p>
            <a:pPr>
              <a:spcAft>
                <a:spcPts val="100"/>
              </a:spcAft>
            </a:pPr>
            <a:r>
              <a:rPr sz="1200">
                <a:solidFill>
                  <a:srgbClr val="D4D4D4"/>
                </a:solidFill>
                <a:latin typeface="Consolas"/>
              </a:rPr>
              <a:t>) -&gt; Option&lt;u64&gt; {</a:t>
            </a:r>
          </a:p>
          <a:p>
            <a:pPr>
              <a:spcAft>
                <a:spcPts val="100"/>
              </a:spcAft>
            </a:pPr>
            <a:r>
              <a:rPr sz="1200">
                <a:solidFill>
                  <a:srgbClr val="C586C0"/>
                </a:solidFill>
                <a:latin typeface="Consolas"/>
              </a:rPr>
              <a:t>    if qty == 0 || qty &gt; MAX_QTY {</a:t>
            </a:r>
          </a:p>
          <a:p>
            <a:pPr>
              <a:spcAft>
                <a:spcPts val="100"/>
              </a:spcAft>
            </a:pPr>
            <a:r>
              <a:rPr sz="1200">
                <a:solidFill>
                  <a:srgbClr val="D4D4D4"/>
                </a:solidFill>
                <a:latin typeface="Consolas"/>
              </a:rPr>
              <a:t>        return None;              // early return</a:t>
            </a:r>
          </a:p>
          <a:p>
            <a:pPr>
              <a:spcAft>
                <a:spcPts val="100"/>
              </a:spcAft>
            </a:pPr>
            <a:r>
              <a:rPr sz="1200">
                <a:solidFill>
                  <a:srgbClr val="D4D4D4"/>
                </a:solidFill>
                <a:latin typeface="Consolas"/>
              </a:rPr>
              <a:t>    }</a:t>
            </a:r>
          </a:p>
          <a:p>
            <a:pPr>
              <a:spcAft>
                <a:spcPts val="100"/>
              </a:spcAft>
            </a:pPr>
            <a:r>
              <a:rPr sz="1200">
                <a:solidFill>
                  <a:srgbClr val="D4D4D4"/>
                </a:solidFill>
                <a:latin typeface="Consolas"/>
              </a:rPr>
              <a:t>    unit_price_cents.checked_mul(u64::from(qty))</a:t>
            </a:r>
          </a:p>
          <a:p>
            <a:pPr>
              <a:spcAft>
                <a:spcPts val="100"/>
              </a:spcAft>
            </a:pPr>
            <a:r>
              <a:rPr sz="1200">
                <a:solidFill>
                  <a:srgbClr val="6A9955"/>
                </a:solidFill>
                <a:latin typeface="Consolas"/>
              </a:rPr>
              <a:t>    // last expression, no semicolon = return value</a:t>
            </a:r>
          </a:p>
          <a:p>
            <a:pPr>
              <a:spcAft>
                <a:spcPts val="100"/>
              </a:spcAft>
            </a:pPr>
            <a:r>
              <a:rPr sz="12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Parameters</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Every parameter has an explicit type; nothing is inferred at the boundary.</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Return type</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arrow type tells callers what they must handle.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Expression body</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final expression without ; is the value returned.</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pub</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Only pub functions are part of the crate API.</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K1/A1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Functions: the signature is the contract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Inputs</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unit_price_cents: u64, qty: u32.</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Output</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Some(total) or None, never a panic.</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Side effects</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None: no printing, files or globals.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Tests</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Normal, zero, maximum, above maximum and overflow.</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Five boundary tests in Activity 1 pass.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K1/A1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Functions: the signature is the contract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mismatched types: expected Option&lt;u64&gt;, found u64</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Wrap the success value in Some(...) or return the checked_* result directly.</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Five boundary tests in Activity 1 pass.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String and &amp;str: owned text and borrowed text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C586C0"/>
                </a:solidFill>
                <a:latin typeface="Consolas"/>
              </a:rPr>
              <a:t>let owned: String = String::from("abc-1234");</a:t>
            </a:r>
          </a:p>
          <a:p>
            <a:pPr>
              <a:spcAft>
                <a:spcPts val="100"/>
              </a:spcAft>
            </a:pPr>
            <a:r>
              <a:rPr sz="1100">
                <a:solidFill>
                  <a:srgbClr val="C586C0"/>
                </a:solidFill>
                <a:latin typeface="Consolas"/>
              </a:rPr>
              <a:t>let view: &amp;str = &amp;owned;           // borrow, no copy</a:t>
            </a:r>
          </a:p>
          <a:p>
            <a:pPr>
              <a:spcAft>
                <a:spcPts val="100"/>
              </a:spcAft>
            </a:pPr>
            <a:r>
              <a:rPr sz="1100">
                <a:solidFill>
                  <a:srgbClr val="C586C0"/>
                </a:solidFill>
                <a:latin typeface="Consolas"/>
              </a:rPr>
              <a:t>let trimmed: &amp;str = "  ABC-1234 ".trim();</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fn is_valid_sku(code: &amp;str) -&gt; bool { /* reads */ }</a:t>
            </a:r>
          </a:p>
          <a:p>
            <a:pPr>
              <a:spcAft>
                <a:spcPts val="100"/>
              </a:spcAft>
            </a:pPr>
            <a:r>
              <a:rPr sz="1100">
                <a:solidFill>
                  <a:srgbClr val="C586C0"/>
                </a:solidFill>
                <a:latin typeface="Consolas"/>
              </a:rPr>
              <a:t>fn normalise_sku(code: &amp;str) -&gt; Option&lt;String&gt; {</a:t>
            </a:r>
          </a:p>
          <a:p>
            <a:pPr>
              <a:spcAft>
                <a:spcPts val="100"/>
              </a:spcAft>
            </a:pPr>
            <a:r>
              <a:rPr sz="1100">
                <a:solidFill>
                  <a:srgbClr val="C586C0"/>
                </a:solidFill>
                <a:latin typeface="Consolas"/>
              </a:rPr>
              <a:t>    let upper = code.trim().to_ascii_uppercase(); // new String</a:t>
            </a:r>
          </a:p>
          <a:p>
            <a:pPr>
              <a:spcAft>
                <a:spcPts val="100"/>
              </a:spcAft>
            </a:pPr>
            <a:r>
              <a:rPr sz="1100">
                <a:solidFill>
                  <a:srgbClr val="D4D4D4"/>
                </a:solidFill>
                <a:latin typeface="Consolas"/>
              </a:rPr>
              <a:t>    is_valid_sku(&amp;upper).then_some(upper)</a:t>
            </a:r>
          </a:p>
          <a:p>
            <a:pPr>
              <a:spcAft>
                <a:spcPts val="100"/>
              </a:spcAft>
            </a:pPr>
            <a:r>
              <a:rPr sz="11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String</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Owns growable UTF-8 text on the heap.</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&amp;str</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 borrowed view of text; the preferred parameter type.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Returning String</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Needed only when the function creates new text.</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UTF-8</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Byte length and character count differ for non-ASCII text.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K1/A1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String and &amp;str: owned text and borrowed text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Parameter</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Accept &amp;str so callers can pass literals or &amp;String.</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Return</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String when new text is produced; &amp;str when returning part of an input.</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Validation</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ASCII rules can use bytes safely; general text should use chars().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Tests</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Include whitespace, lower case and a non-ASCII letter.</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2 tests pass, including "ÄBC-1234" being rejected.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K1/A1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String and &amp;str: owned text and borrowed text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expected &amp;str, found String</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Pass a borrow: &amp;my_string, or change the parameter to &amp;str.</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2 tests pass, including "ÄBC-1234" being rejected.</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Ownership moves; borrowing lends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C586C0"/>
                </a:solidFill>
                <a:latin typeface="Consolas"/>
              </a:rPr>
              <a:t>let items = vec![cable, charger];</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let total = total_quantity(&amp;items);   // shared borrow</a:t>
            </a:r>
          </a:p>
          <a:p>
            <a:pPr>
              <a:spcAft>
                <a:spcPts val="100"/>
              </a:spcAft>
            </a:pPr>
            <a:r>
              <a:rPr sz="1100">
                <a:solidFill>
                  <a:srgbClr val="D4D4D4"/>
                </a:solidFill>
                <a:latin typeface="Consolas"/>
              </a:rPr>
              <a:t>restock(&amp;mut items[0], 3);            // exclusive borrow</a:t>
            </a:r>
          </a:p>
          <a:p>
            <a:pPr>
              <a:spcAft>
                <a:spcPts val="100"/>
              </a:spcAft>
            </a:pPr>
            <a:r>
              <a:rPr sz="1100">
                <a:solidFill>
                  <a:srgbClr val="C586C0"/>
                </a:solidFill>
                <a:latin typeface="Consolas"/>
              </a:rPr>
              <a:t>let kept = in_stock(items);           // move: items is gone</a:t>
            </a:r>
          </a:p>
          <a:p>
            <a:pPr>
              <a:spcAft>
                <a:spcPts val="100"/>
              </a:spcAft>
            </a:pPr>
            <a:r>
              <a:rPr sz="1100">
                <a:solidFill>
                  <a:srgbClr val="D4D4D4"/>
                </a:solidFill>
                <a:latin typeface="Consolas"/>
              </a:rPr>
              <a:t> </a:t>
            </a:r>
          </a:p>
          <a:p>
            <a:pPr>
              <a:spcAft>
                <a:spcPts val="100"/>
              </a:spcAft>
            </a:pPr>
            <a:r>
              <a:rPr sz="1100">
                <a:solidFill>
                  <a:srgbClr val="6A9955"/>
                </a:solidFill>
                <a:latin typeface="Consolas"/>
              </a:rPr>
              <a:t>// println!("{:?}", items);</a:t>
            </a:r>
          </a:p>
          <a:p>
            <a:pPr>
              <a:spcAft>
                <a:spcPts val="100"/>
              </a:spcAft>
            </a:pPr>
            <a:r>
              <a:rPr sz="1100">
                <a:solidFill>
                  <a:srgbClr val="6A9955"/>
                </a:solidFill>
                <a:latin typeface="Consolas"/>
              </a:rPr>
              <a:t>// error[E0382]: borrow of moved value: `items`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Owner</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Every value has exactly one owner; it is dropped when the owner goes out of scope.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&amp;T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Any number of readers at once; nobody may change the value.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&amp;mut T</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Exactly one writer and no readers at the same time.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Move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Passing by value transfers ownership; the old name cannot be used.</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K1/A1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Ownership moves; borrowing lends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Read only</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fn f(items: &amp;[Item]) - caller keeps ownership.</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Change in place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fn f(item: &amp;mut Item) - caller sees the change.</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Consume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fn f(items: Vec&lt;Item&gt;) -&gt; Vec&lt;Item&gt; - caller hands the value over.</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Clone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An explicit copy; justify it in review because it costs memory and time.</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3 compiles with no clone() and all five tests pass.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K1/A1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Ownership moves; borrowing lends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error[E0382]: borrow of moved value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Borrow instead of moving (&amp;items), or clone only if two owners are truly needed.</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3 compiles with no clone() and all five tests pass.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25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Turn a specification into a Rust function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StockPilot must price an order line. The specification limits quantity to 1..10,000 and forbids a silently wrapped total. You create the Cargo package, write the function and prove it with tests.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labs/activity-01-line-total: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5 passed; cargo run prints "4 x 250 cents = 1000 cents".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Turn a specification into a Rust function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samples/01_variables_and_types.rs: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6A9955"/>
                </a:solidFill>
                <a:latin typeface="Consolas"/>
              </a:rPr>
              <a:t>// Sample: variables, mutability, constants and integer types.</a:t>
            </a:r>
          </a:p>
          <a:p>
            <a:pPr>
              <a:spcAft>
                <a:spcPts val="100"/>
              </a:spcAft>
            </a:pPr>
            <a:r>
              <a:rPr sz="1100">
                <a:solidFill>
                  <a:srgbClr val="C586C0"/>
                </a:solidFill>
                <a:latin typeface="Consolas"/>
              </a:rPr>
              <a:t>const MAX_QTY: u32 = 10_000;</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fn main() {</a:t>
            </a:r>
          </a:p>
          <a:p>
            <a:pPr>
              <a:spcAft>
                <a:spcPts val="100"/>
              </a:spcAft>
            </a:pPr>
            <a:r>
              <a:rPr sz="1100">
                <a:solidFill>
                  <a:srgbClr val="C586C0"/>
                </a:solidFill>
                <a:latin typeface="Consolas"/>
              </a:rPr>
              <a:t>    let unit_price_cents: u64 = 250; // immutable by default</a:t>
            </a:r>
          </a:p>
          <a:p>
            <a:pPr>
              <a:spcAft>
                <a:spcPts val="100"/>
              </a:spcAft>
            </a:pPr>
            <a:r>
              <a:rPr sz="1100">
                <a:solidFill>
                  <a:srgbClr val="C586C0"/>
                </a:solidFill>
                <a:latin typeface="Consolas"/>
              </a:rPr>
              <a:t>    let mut qty: u32 = 4; // mut: this value will change</a:t>
            </a:r>
          </a:p>
          <a:p>
            <a:pPr>
              <a:spcAft>
                <a:spcPts val="100"/>
              </a:spcAft>
            </a:pPr>
            <a:r>
              <a:rPr sz="1100">
                <a:solidFill>
                  <a:srgbClr val="D4D4D4"/>
                </a:solidFill>
                <a:latin typeface="Consolas"/>
              </a:rPr>
              <a:t>    println!("price = {unit_price_cents} cents, qty = {qty}");</a:t>
            </a:r>
          </a:p>
          <a:p>
            <a:pPr>
              <a:spcAft>
                <a:spcPts val="100"/>
              </a:spcAft>
            </a:pPr>
            <a:r>
              <a:rPr sz="1100">
                <a:solidFill>
                  <a:srgbClr val="D4D4D4"/>
                </a:solidFill>
                <a:latin typeface="Consolas"/>
              </a:rPr>
              <a:t>    qty += 1;</a:t>
            </a:r>
          </a:p>
          <a:p>
            <a:pPr>
              <a:spcAft>
                <a:spcPts val="100"/>
              </a:spcAft>
            </a:pPr>
            <a:r>
              <a:rPr sz="1100">
                <a:solidFill>
                  <a:srgbClr val="D4D4D4"/>
                </a:solidFill>
                <a:latin typeface="Consolas"/>
              </a:rPr>
              <a:t>    println!("after adding one: qty = {qty} (max {MAX_QTY})");</a:t>
            </a:r>
          </a:p>
          <a:p>
            <a:pPr>
              <a:spcAft>
                <a:spcPts val="100"/>
              </a:spcAft>
            </a:pPr>
            <a:r>
              <a:rPr sz="1100">
                <a:solidFill>
                  <a:srgbClr val="C586C0"/>
                </a:solidFill>
                <a:latin typeface="Consolas"/>
              </a:rPr>
              <a:t>    let total = unit_price_cents * u64::from(qty);</a:t>
            </a:r>
          </a:p>
          <a:p>
            <a:pPr>
              <a:spcAft>
                <a:spcPts val="100"/>
              </a:spcAft>
            </a:pPr>
            <a:r>
              <a:rPr sz="1100">
                <a:solidFill>
                  <a:srgbClr val="D4D4D4"/>
                </a:solidFill>
                <a:latin typeface="Consolas"/>
              </a:rPr>
              <a:t>    println!(</a:t>
            </a:r>
          </a:p>
          <a:p>
            <a:pPr>
              <a:spcAft>
                <a:spcPts val="100"/>
              </a:spcAft>
            </a:pPr>
            <a:r>
              <a:rPr sz="1100">
                <a:solidFill>
                  <a:srgbClr val="D4D4D4"/>
                </a:solidFill>
                <a:latin typeface="Consolas"/>
              </a:rPr>
              <a:t>        "total = {total} cents = ${}.{:02}",</a:t>
            </a:r>
          </a:p>
          <a:p>
            <a:pPr>
              <a:spcAft>
                <a:spcPts val="100"/>
              </a:spcAft>
            </a:pPr>
            <a:r>
              <a:rPr sz="1100">
                <a:solidFill>
                  <a:srgbClr val="D4D4D4"/>
                </a:solidFill>
                <a:latin typeface="Consolas"/>
              </a:rPr>
              <a:t>        total / 100,</a:t>
            </a:r>
          </a:p>
          <a:p>
            <a:pPr>
              <a:spcAft>
                <a:spcPts val="100"/>
              </a:spcAft>
            </a:pPr>
            <a:r>
              <a:rPr sz="1100">
                <a:solidFill>
                  <a:srgbClr val="D4D4D4"/>
                </a:solidFill>
                <a:latin typeface="Consolas"/>
              </a:rPr>
              <a:t>        total % 100</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    let big: u64 = u64::MAX;</a:t>
            </a:r>
          </a:p>
          <a:p>
            <a:pPr>
              <a:spcAft>
                <a:spcPts val="100"/>
              </a:spcAft>
            </a:pPr>
            <a:r>
              <a:rPr sz="1100">
                <a:solidFill>
                  <a:srgbClr val="6A9955"/>
                </a:solidFill>
                <a:latin typeface="Consolas"/>
              </a:rPr>
              <a:t>// ... full script: samples/01_variables_and_types.rs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01_variables_and_types.rs &amp;&amp; ./01_variables_and_types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Cargo, variables, mutability, constants, integer types and functions that return Option.</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variables, integer types and overflow.</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Turn a specification into a Rust function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line_total(unit_price_cents: u64, qty: u32) -&gt; Option&lt;u64&gt;. qty 0 or above MAX_QTY (10,000) returns None; an overflowing product returns None; otherwise Some(total cents).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Turn a specification into a Rust function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Returns the line total in cents.</a:t>
            </a:r>
          </a:p>
          <a:p>
            <a:pPr>
              <a:spcAft>
                <a:spcPts val="100"/>
              </a:spcAft>
            </a:pPr>
            <a:r>
              <a:rPr sz="1000">
                <a:solidFill>
                  <a:srgbClr val="6A9955"/>
                </a:solidFill>
                <a:latin typeface="Consolas"/>
              </a:rPr>
              <a:t>///</a:t>
            </a:r>
          </a:p>
          <a:p>
            <a:pPr>
              <a:spcAft>
                <a:spcPts val="100"/>
              </a:spcAft>
            </a:pPr>
            <a:r>
              <a:rPr sz="1000">
                <a:solidFill>
                  <a:srgbClr val="6A9955"/>
                </a:solidFill>
                <a:latin typeface="Consolas"/>
              </a:rPr>
              <a:t>/// Returns `None` when `qty` is outside `1..=MAX_QTY` or when the</a:t>
            </a:r>
          </a:p>
          <a:p>
            <a:pPr>
              <a:spcAft>
                <a:spcPts val="100"/>
              </a:spcAft>
            </a:pPr>
            <a:r>
              <a:rPr sz="1000">
                <a:solidFill>
                  <a:srgbClr val="6A9955"/>
                </a:solidFill>
                <a:latin typeface="Consolas"/>
              </a:rPr>
              <a:t>/// multiplication would overflow `u64`.</a:t>
            </a:r>
          </a:p>
          <a:p>
            <a:pPr>
              <a:spcAft>
                <a:spcPts val="100"/>
              </a:spcAft>
            </a:pPr>
            <a:r>
              <a:rPr sz="1000">
                <a:solidFill>
                  <a:srgbClr val="C586C0"/>
                </a:solidFill>
                <a:latin typeface="Consolas"/>
              </a:rPr>
              <a:t>pub fn line_total(unit_price_cents: u64, qty: u32) -&gt; Option&lt;u64&gt; {</a:t>
            </a:r>
          </a:p>
          <a:p>
            <a:pPr>
              <a:spcAft>
                <a:spcPts val="100"/>
              </a:spcAft>
            </a:pPr>
            <a:r>
              <a:rPr sz="1000">
                <a:solidFill>
                  <a:srgbClr val="C586C0"/>
                </a:solidFill>
                <a:latin typeface="Consolas"/>
              </a:rPr>
              <a:t>    if qty == 0 || qty &gt; MAX_QTY {</a:t>
            </a:r>
          </a:p>
          <a:p>
            <a:pPr>
              <a:spcAft>
                <a:spcPts val="100"/>
              </a:spcAft>
            </a:pPr>
            <a:r>
              <a:rPr sz="1000">
                <a:solidFill>
                  <a:srgbClr val="D4D4D4"/>
                </a:solidFill>
                <a:latin typeface="Consolas"/>
              </a:rPr>
              <a:t>        return None;</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    unit_price_cents.checked_mul(u64::from(qty))</a:t>
            </a:r>
          </a:p>
          <a:p>
            <a:pPr>
              <a:spcAft>
                <a:spcPts val="100"/>
              </a:spcAft>
            </a:pPr>
            <a:r>
              <a:rPr sz="10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Specification</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Quantity range and overflow policy are decided before any code is written.</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Types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u64 cents avoid floating-point rounding; u32 quantity cannot be negative.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Option</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None is an explicit, typed rejection that the caller must handle.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checked_mul</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Overflow becomes None instead of wrapping or panicking.</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Turn a specification into a Rust function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200" b="0">
                <a:solidFill>
                  <a:srgbClr val="161B26"/>
                </a:solidFill>
                <a:latin typeface="Arial"/>
              </a:rPr>
              <a:t>•  Act as a senior Rust reviewer. Specification: line_total(unit_price_cents: u64, qty: u32) -&gt; Option&lt;u64&gt;. qty 0 or above MAX_QTY (10,000) returns None; an overflowing product returns None; otherwise Some(total cents).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"Turn a specification into a Rust function" in starter/src so that the supplied tests pass. Keep the u64/u32 types and the Option return; use checked arithmetic only.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Turn a specification into a Rust function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5 passed; cargo run prints "4 x 250 cents = 1000 cents".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 25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Validate a product code with strings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Product codes arrive from scanners and spreadsheets with stray spaces and lower-case letters. StockPilot accepts only the SKU format AAA-9999 and normalises valid input to upper case.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labs/activity-02-sku-validation: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6 passed, including the non-ASCII and whitespace cases.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Validate a product code with strings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samples/01_string_and_str.rs: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6A9955"/>
                </a:solidFill>
                <a:latin typeface="Consolas"/>
              </a:rPr>
              <a:t>// Sample: owned String versus borrowed &amp;str, and bytes versus characters.</a:t>
            </a:r>
          </a:p>
          <a:p>
            <a:pPr>
              <a:spcAft>
                <a:spcPts val="100"/>
              </a:spcAft>
            </a:pPr>
            <a:r>
              <a:rPr sz="900">
                <a:solidFill>
                  <a:srgbClr val="C586C0"/>
                </a:solidFill>
                <a:latin typeface="Consolas"/>
              </a:rPr>
              <a:t>fn describe(text: &amp;str) {</a:t>
            </a:r>
          </a:p>
          <a:p>
            <a:pPr>
              <a:spcAft>
                <a:spcPts val="100"/>
              </a:spcAft>
            </a:pPr>
            <a:r>
              <a:rPr sz="900">
                <a:solidFill>
                  <a:srgbClr val="D4D4D4"/>
                </a:solidFill>
                <a:latin typeface="Consolas"/>
              </a:rPr>
              <a:t>    println!(</a:t>
            </a:r>
          </a:p>
          <a:p>
            <a:pPr>
              <a:spcAft>
                <a:spcPts val="100"/>
              </a:spcAft>
            </a:pPr>
            <a:r>
              <a:rPr sz="900">
                <a:solidFill>
                  <a:srgbClr val="D4D4D4"/>
                </a:solidFill>
                <a:latin typeface="Consolas"/>
              </a:rPr>
              <a:t>        "{text:?}: {} bytes, {} chars",</a:t>
            </a:r>
          </a:p>
          <a:p>
            <a:pPr>
              <a:spcAft>
                <a:spcPts val="100"/>
              </a:spcAft>
            </a:pPr>
            <a:r>
              <a:rPr sz="900">
                <a:solidFill>
                  <a:srgbClr val="D4D4D4"/>
                </a:solidFill>
                <a:latin typeface="Consolas"/>
              </a:rPr>
              <a:t>        text.len(),</a:t>
            </a:r>
          </a:p>
          <a:p>
            <a:pPr>
              <a:spcAft>
                <a:spcPts val="100"/>
              </a:spcAft>
            </a:pPr>
            <a:r>
              <a:rPr sz="900">
                <a:solidFill>
                  <a:srgbClr val="D4D4D4"/>
                </a:solidFill>
                <a:latin typeface="Consolas"/>
              </a:rPr>
              <a:t>        text.chars().count()</a:t>
            </a:r>
          </a:p>
          <a:p>
            <a:pPr>
              <a:spcAft>
                <a:spcPts val="100"/>
              </a:spcAft>
            </a:pPr>
            <a:r>
              <a:rPr sz="900">
                <a:solidFill>
                  <a:srgbClr val="D4D4D4"/>
                </a:solidFill>
                <a:latin typeface="Consolas"/>
              </a:rPr>
              <a:t>    );</a:t>
            </a:r>
          </a:p>
          <a:p>
            <a:pPr>
              <a:spcAft>
                <a:spcPts val="100"/>
              </a:spcAft>
            </a:pPr>
            <a:r>
              <a:rPr sz="900">
                <a:solidFill>
                  <a:srgbClr val="D4D4D4"/>
                </a:solidFill>
                <a:latin typeface="Consolas"/>
              </a:rPr>
              <a:t>}</a:t>
            </a:r>
          </a:p>
          <a:p>
            <a:pPr>
              <a:spcAft>
                <a:spcPts val="100"/>
              </a:spcAft>
            </a:pPr>
            <a:r>
              <a:rPr sz="900">
                <a:solidFill>
                  <a:srgbClr val="D4D4D4"/>
                </a:solidFill>
                <a:latin typeface="Consolas"/>
              </a:rPr>
              <a:t> </a:t>
            </a:r>
          </a:p>
          <a:p>
            <a:pPr>
              <a:spcAft>
                <a:spcPts val="100"/>
              </a:spcAft>
            </a:pPr>
            <a:r>
              <a:rPr sz="900">
                <a:solidFill>
                  <a:srgbClr val="C586C0"/>
                </a:solidFill>
                <a:latin typeface="Consolas"/>
              </a:rPr>
              <a:t>fn main() {</a:t>
            </a:r>
          </a:p>
          <a:p>
            <a:pPr>
              <a:spcAft>
                <a:spcPts val="100"/>
              </a:spcAft>
            </a:pPr>
            <a:r>
              <a:rPr sz="900">
                <a:solidFill>
                  <a:srgbClr val="C586C0"/>
                </a:solidFill>
                <a:latin typeface="Consolas"/>
              </a:rPr>
              <a:t>    let owned: String = String::from("  abc-1234  ");</a:t>
            </a:r>
          </a:p>
          <a:p>
            <a:pPr>
              <a:spcAft>
                <a:spcPts val="100"/>
              </a:spcAft>
            </a:pPr>
            <a:r>
              <a:rPr sz="900">
                <a:solidFill>
                  <a:srgbClr val="C586C0"/>
                </a:solidFill>
                <a:latin typeface="Consolas"/>
              </a:rPr>
              <a:t>    let trimmed: &amp;str = owned.trim(); // borrows part of `owned`</a:t>
            </a:r>
          </a:p>
          <a:p>
            <a:pPr>
              <a:spcAft>
                <a:spcPts val="100"/>
              </a:spcAft>
            </a:pPr>
            <a:r>
              <a:rPr sz="900">
                <a:solidFill>
                  <a:srgbClr val="C586C0"/>
                </a:solidFill>
                <a:latin typeface="Consolas"/>
              </a:rPr>
              <a:t>    let upper: String = trimmed.to_ascii_uppercase(); // new owned text</a:t>
            </a:r>
          </a:p>
          <a:p>
            <a:pPr>
              <a:spcAft>
                <a:spcPts val="100"/>
              </a:spcAft>
            </a:pPr>
            <a:r>
              <a:rPr sz="900">
                <a:solidFill>
                  <a:srgbClr val="D4D4D4"/>
                </a:solidFill>
                <a:latin typeface="Consolas"/>
              </a:rPr>
              <a:t>    describe(&amp;owned);</a:t>
            </a:r>
          </a:p>
          <a:p>
            <a:pPr>
              <a:spcAft>
                <a:spcPts val="100"/>
              </a:spcAft>
            </a:pPr>
            <a:r>
              <a:rPr sz="900">
                <a:solidFill>
                  <a:srgbClr val="D4D4D4"/>
                </a:solidFill>
                <a:latin typeface="Consolas"/>
              </a:rPr>
              <a:t>    describe(trimmed);</a:t>
            </a:r>
          </a:p>
          <a:p>
            <a:pPr>
              <a:spcAft>
                <a:spcPts val="100"/>
              </a:spcAft>
            </a:pPr>
            <a:r>
              <a:rPr sz="900">
                <a:solidFill>
                  <a:srgbClr val="D4D4D4"/>
                </a:solidFill>
                <a:latin typeface="Consolas"/>
              </a:rPr>
              <a:t>    describe(&amp;upper);</a:t>
            </a:r>
          </a:p>
          <a:p>
            <a:pPr>
              <a:spcAft>
                <a:spcPts val="100"/>
              </a:spcAft>
            </a:pPr>
            <a:r>
              <a:rPr sz="900">
                <a:solidFill>
                  <a:srgbClr val="6A9955"/>
                </a:solidFill>
                <a:latin typeface="Consolas"/>
              </a:rPr>
              <a:t>// ... full script: samples/01_string_and_str.rs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01_string_and_str.rs &amp;&amp; ./01_string_and_str</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String versus &amp;str, trimming, UTF-8 bytes versus chars, and validating text.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strings and text.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2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Validate a product code with strings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is_valid_sku(&amp;str) -&gt; bool: after trimming, exactly 3 ASCII upper-case letters, "-", 4 ASCII digits. normalise_sku(&amp;str) -&gt; Option&lt;String&gt;: trimmed upper-case SKU when valid, else None.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Validate a product code with strings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Returns true when `code`, after trimming, has the form `AAA-9999`.</a:t>
            </a:r>
          </a:p>
          <a:p>
            <a:pPr>
              <a:spcAft>
                <a:spcPts val="100"/>
              </a:spcAft>
            </a:pPr>
            <a:r>
              <a:rPr sz="1000">
                <a:solidFill>
                  <a:srgbClr val="C586C0"/>
                </a:solidFill>
                <a:latin typeface="Consolas"/>
              </a:rPr>
              <a:t>pub fn is_valid_sku(code: &amp;str) -&gt; bool {</a:t>
            </a:r>
          </a:p>
          <a:p>
            <a:pPr>
              <a:spcAft>
                <a:spcPts val="100"/>
              </a:spcAft>
            </a:pPr>
            <a:r>
              <a:rPr sz="1000">
                <a:solidFill>
                  <a:srgbClr val="C586C0"/>
                </a:solidFill>
                <a:latin typeface="Consolas"/>
              </a:rPr>
              <a:t>    let bytes = code.trim().as_bytes();</a:t>
            </a:r>
          </a:p>
          <a:p>
            <a:pPr>
              <a:spcAft>
                <a:spcPts val="100"/>
              </a:spcAft>
            </a:pPr>
            <a:r>
              <a:rPr sz="1000">
                <a:solidFill>
                  <a:srgbClr val="D4D4D4"/>
                </a:solidFill>
                <a:latin typeface="Consolas"/>
              </a:rPr>
              <a:t>    bytes.len() == 8</a:t>
            </a:r>
          </a:p>
          <a:p>
            <a:pPr>
              <a:spcAft>
                <a:spcPts val="100"/>
              </a:spcAft>
            </a:pPr>
            <a:r>
              <a:rPr sz="1000">
                <a:solidFill>
                  <a:srgbClr val="D4D4D4"/>
                </a:solidFill>
                <a:latin typeface="Consolas"/>
              </a:rPr>
              <a:t>        &amp;&amp; bytes[..3].iter().all(u8::is_ascii_uppercase)</a:t>
            </a:r>
          </a:p>
          <a:p>
            <a:pPr>
              <a:spcAft>
                <a:spcPts val="100"/>
              </a:spcAft>
            </a:pPr>
            <a:r>
              <a:rPr sz="1000">
                <a:solidFill>
                  <a:srgbClr val="D4D4D4"/>
                </a:solidFill>
                <a:latin typeface="Consolas"/>
              </a:rPr>
              <a:t>        &amp;&amp; bytes[3] == b'-'</a:t>
            </a:r>
          </a:p>
          <a:p>
            <a:pPr>
              <a:spcAft>
                <a:spcPts val="100"/>
              </a:spcAft>
            </a:pPr>
            <a:r>
              <a:rPr sz="1000">
                <a:solidFill>
                  <a:srgbClr val="D4D4D4"/>
                </a:solidFill>
                <a:latin typeface="Consolas"/>
              </a:rPr>
              <a:t>        &amp;&amp; bytes[4..].iter().all(u8::is_ascii_digit)</a:t>
            </a:r>
          </a:p>
          <a:p>
            <a:pPr>
              <a:spcAft>
                <a:spcPts val="100"/>
              </a:spcAft>
            </a:pPr>
            <a:r>
              <a:rPr sz="10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&amp;str</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validator borrows text; it never needs to own or copy it.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trim</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Returns a slice of the same text without leading or trailing whitespace.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Bytes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format is ASCII, so byte positions are exact character positions.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String</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normalise_sku returns an owned String because it creates new text.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2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Validate a product code with strings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200" b="0">
                <a:solidFill>
                  <a:srgbClr val="161B26"/>
                </a:solidFill>
                <a:latin typeface="Arial"/>
              </a:rPr>
              <a:t>•  Act as a senior Rust reviewer. Specification: is_valid_sku(&amp;str) -&gt; bool: after trimming, exactly 3 ASCII upper-case letters, "-", 4 ASCII digits. normalise_sku(&amp;str) -&gt; Option&lt;String&gt;: trimmed upper-case SKU when valid, else None.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"Validate a product code with strings" in starter/src so that the supplied tests pass. Borrow &amp;str inputs, return an owned String only from normalise_sku, and do not use regex crates.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Validate a product code with strings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6 passed, including the non-ASCII and whitespace cases.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K1/A1 K3/A3 / 25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Share inventory records with ownership and borrowing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Three StockPilot functions handle the same item list differently: one only reads it, one changes one item and one consumes the list. You choose the parameter types that express those intentions.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labs/activity-03-ownership-borrowing: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5 passed; the overflow test proves the item is unchanged.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Share inventory records with ownership and borrowing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samples/01_move_and_clone.rs: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800">
                <a:solidFill>
                  <a:srgbClr val="6A9955"/>
                </a:solidFill>
                <a:latin typeface="Consolas"/>
              </a:rPr>
              <a:t>// Sample: moving ownership, cloning, and Copy types.</a:t>
            </a:r>
          </a:p>
          <a:p>
            <a:pPr>
              <a:spcAft>
                <a:spcPts val="100"/>
              </a:spcAft>
            </a:pPr>
            <a:r>
              <a:rPr sz="800">
                <a:solidFill>
                  <a:srgbClr val="C586C0"/>
                </a:solidFill>
                <a:latin typeface="Consolas"/>
              </a:rPr>
              <a:t>fn consume(items: Vec&lt;String&gt;) -&gt; usize {</a:t>
            </a:r>
          </a:p>
          <a:p>
            <a:pPr>
              <a:spcAft>
                <a:spcPts val="100"/>
              </a:spcAft>
            </a:pPr>
            <a:r>
              <a:rPr sz="800">
                <a:solidFill>
                  <a:srgbClr val="D4D4D4"/>
                </a:solidFill>
                <a:latin typeface="Consolas"/>
              </a:rPr>
              <a:t>    items.len() // `items` is dropped at the end of this function</a:t>
            </a:r>
          </a:p>
          <a:p>
            <a:pPr>
              <a:spcAft>
                <a:spcPts val="100"/>
              </a:spcAft>
            </a:pPr>
            <a:r>
              <a:rPr sz="800">
                <a:solidFill>
                  <a:srgbClr val="D4D4D4"/>
                </a:solidFill>
                <a:latin typeface="Consolas"/>
              </a:rPr>
              <a:t>}</a:t>
            </a:r>
          </a:p>
          <a:p>
            <a:pPr>
              <a:spcAft>
                <a:spcPts val="100"/>
              </a:spcAft>
            </a:pPr>
            <a:r>
              <a:rPr sz="800">
                <a:solidFill>
                  <a:srgbClr val="D4D4D4"/>
                </a:solidFill>
                <a:latin typeface="Consolas"/>
              </a:rPr>
              <a:t> </a:t>
            </a:r>
          </a:p>
          <a:p>
            <a:pPr>
              <a:spcAft>
                <a:spcPts val="100"/>
              </a:spcAft>
            </a:pPr>
            <a:r>
              <a:rPr sz="800">
                <a:solidFill>
                  <a:srgbClr val="C586C0"/>
                </a:solidFill>
                <a:latin typeface="Consolas"/>
              </a:rPr>
              <a:t>fn main() {</a:t>
            </a:r>
          </a:p>
          <a:p>
            <a:pPr>
              <a:spcAft>
                <a:spcPts val="100"/>
              </a:spcAft>
            </a:pPr>
            <a:r>
              <a:rPr sz="800">
                <a:solidFill>
                  <a:srgbClr val="C586C0"/>
                </a:solidFill>
                <a:latin typeface="Consolas"/>
              </a:rPr>
              <a:t>    let items = vec![String::from("cable"), String::from("charger")];</a:t>
            </a:r>
          </a:p>
          <a:p>
            <a:pPr>
              <a:spcAft>
                <a:spcPts val="100"/>
              </a:spcAft>
            </a:pPr>
            <a:r>
              <a:rPr sz="800">
                <a:solidFill>
                  <a:srgbClr val="C586C0"/>
                </a:solidFill>
                <a:latin typeface="Consolas"/>
              </a:rPr>
              <a:t>    let copy = items.clone(); // explicit deep copy</a:t>
            </a:r>
          </a:p>
          <a:p>
            <a:pPr>
              <a:spcAft>
                <a:spcPts val="100"/>
              </a:spcAft>
            </a:pPr>
            <a:r>
              <a:rPr sz="800">
                <a:solidFill>
                  <a:srgbClr val="C586C0"/>
                </a:solidFill>
                <a:latin typeface="Consolas"/>
              </a:rPr>
              <a:t>    let count = consume(items); // ownership moves into `consume`</a:t>
            </a:r>
          </a:p>
          <a:p>
            <a:pPr>
              <a:spcAft>
                <a:spcPts val="100"/>
              </a:spcAft>
            </a:pPr>
            <a:r>
              <a:rPr sz="800">
                <a:solidFill>
                  <a:srgbClr val="6A9955"/>
                </a:solidFill>
                <a:latin typeface="Consolas"/>
              </a:rPr>
              <a:t>                                // println!("{:?}", items); // error[E0382]: borrow of moved value</a:t>
            </a:r>
          </a:p>
          <a:p>
            <a:pPr>
              <a:spcAft>
                <a:spcPts val="100"/>
              </a:spcAft>
            </a:pPr>
            <a:r>
              <a:rPr sz="800">
                <a:solidFill>
                  <a:srgbClr val="D4D4D4"/>
                </a:solidFill>
                <a:latin typeface="Consolas"/>
              </a:rPr>
              <a:t>    println!("consumed {count} items; the clone still has {copy:?}");</a:t>
            </a:r>
          </a:p>
          <a:p>
            <a:pPr>
              <a:spcAft>
                <a:spcPts val="100"/>
              </a:spcAft>
            </a:pPr>
            <a:r>
              <a:rPr sz="800">
                <a:solidFill>
                  <a:srgbClr val="C586C0"/>
                </a:solidFill>
                <a:latin typeface="Consolas"/>
              </a:rPr>
              <a:t>    let n: u32 = 5;</a:t>
            </a:r>
          </a:p>
          <a:p>
            <a:pPr>
              <a:spcAft>
                <a:spcPts val="100"/>
              </a:spcAft>
            </a:pPr>
            <a:r>
              <a:rPr sz="800">
                <a:solidFill>
                  <a:srgbClr val="C586C0"/>
                </a:solidFill>
                <a:latin typeface="Consolas"/>
              </a:rPr>
              <a:t>    let m = n; // integers are Copy: both stay usable</a:t>
            </a:r>
          </a:p>
          <a:p>
            <a:pPr>
              <a:spcAft>
                <a:spcPts val="100"/>
              </a:spcAft>
            </a:pPr>
            <a:r>
              <a:rPr sz="800">
                <a:solidFill>
                  <a:srgbClr val="D4D4D4"/>
                </a:solidFill>
                <a:latin typeface="Consolas"/>
              </a:rPr>
              <a:t>    println!("n = {n}, m = {m}");</a:t>
            </a:r>
          </a:p>
          <a:p>
            <a:pPr>
              <a:spcAft>
                <a:spcPts val="100"/>
              </a:spcAft>
            </a:pPr>
            <a:r>
              <a:rPr sz="8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01_move_and_clone.rs &amp;&amp; ./01_move_and_clone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ownership, moves, Copy types, clone, shared borrows (&amp;) and mutable borrows (&amp;mut).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ownership and borrowing (memory management).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3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Share inventory records with ownership and borrowing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Item { sku, name, qty: u32 }. total_quantity(&amp;[Item]) -&gt; u64 reads; restock(&amp;mut Item, u32) -&gt; Option&lt;u32&gt; changes one item and leaves it unchanged on overflow; in_stock(Vec&lt;Item&gt;) -&gt; Vec&lt;Item&gt; consumes the list.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Share inventory records with ownership and borrowing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Borrows one item mutably and returns its new quantity.</a:t>
            </a:r>
          </a:p>
          <a:p>
            <a:pPr>
              <a:spcAft>
                <a:spcPts val="100"/>
              </a:spcAft>
            </a:pPr>
            <a:r>
              <a:rPr sz="1000">
                <a:solidFill>
                  <a:srgbClr val="6A9955"/>
                </a:solidFill>
                <a:latin typeface="Consolas"/>
              </a:rPr>
              <a:t>///</a:t>
            </a:r>
          </a:p>
          <a:p>
            <a:pPr>
              <a:spcAft>
                <a:spcPts val="100"/>
              </a:spcAft>
            </a:pPr>
            <a:r>
              <a:rPr sz="1000">
                <a:solidFill>
                  <a:srgbClr val="6A9955"/>
                </a:solidFill>
                <a:latin typeface="Consolas"/>
              </a:rPr>
              <a:t>/// On overflow the item is left unchanged and `None` is returned.</a:t>
            </a:r>
          </a:p>
          <a:p>
            <a:pPr>
              <a:spcAft>
                <a:spcPts val="100"/>
              </a:spcAft>
            </a:pPr>
            <a:r>
              <a:rPr sz="1000">
                <a:solidFill>
                  <a:srgbClr val="C586C0"/>
                </a:solidFill>
                <a:latin typeface="Consolas"/>
              </a:rPr>
              <a:t>pub fn restock(item: &amp;mut Item, amount: u32) -&gt; Option&lt;u32&gt; {</a:t>
            </a:r>
          </a:p>
          <a:p>
            <a:pPr>
              <a:spcAft>
                <a:spcPts val="100"/>
              </a:spcAft>
            </a:pPr>
            <a:r>
              <a:rPr sz="1000">
                <a:solidFill>
                  <a:srgbClr val="C586C0"/>
                </a:solidFill>
                <a:latin typeface="Consolas"/>
              </a:rPr>
              <a:t>    let new_qty = item.qty.checked_add(amount)?;</a:t>
            </a:r>
          </a:p>
          <a:p>
            <a:pPr>
              <a:spcAft>
                <a:spcPts val="100"/>
              </a:spcAft>
            </a:pPr>
            <a:r>
              <a:rPr sz="1000">
                <a:solidFill>
                  <a:srgbClr val="D4D4D4"/>
                </a:solidFill>
                <a:latin typeface="Consolas"/>
              </a:rPr>
              <a:t>    item.qty = new_qty;</a:t>
            </a:r>
          </a:p>
          <a:p>
            <a:pPr>
              <a:spcAft>
                <a:spcPts val="100"/>
              </a:spcAft>
            </a:pPr>
            <a:r>
              <a:rPr sz="1000">
                <a:solidFill>
                  <a:srgbClr val="D4D4D4"/>
                </a:solidFill>
                <a:latin typeface="Consolas"/>
              </a:rPr>
              <a:t>    Some(new_qty)</a:t>
            </a:r>
          </a:p>
          <a:p>
            <a:pPr>
              <a:spcAft>
                <a:spcPts val="100"/>
              </a:spcAft>
            </a:pPr>
            <a:r>
              <a:rPr sz="10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&amp;[Item]</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 shared borrow: many readers, no changes, caller keeps ownership.</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&amp;mut Item</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An exclusive borrow: exactly one writer while the borrow lives.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Vec&lt;Item&gt;</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Passing by value moves ownership; the caller can no longer use the list.</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 on Option</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checked_add(...)? returns None early before the item is modified.</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3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Share inventory records with ownership and borrowing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200" b="0">
                <a:solidFill>
                  <a:srgbClr val="161B26"/>
                </a:solidFill>
                <a:latin typeface="Arial"/>
              </a:rPr>
              <a:t>•  Act as a senior Rust reviewer. Specification: Item { sku, name, qty: u32 }. total_quantity(&amp;[Item]) -&gt; u64 reads; restock(&amp;mut Item, u32) -&gt; Option&lt;u32&gt; changes one item and leaves it unchanged on overflow; in_stock(Vec&lt;Item&gt;) -&gt; Vec&lt;Item&gt; consumes the list.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"Share inventory records with ownership and borrowing" in starter/src so that the supplied tests pass. Choose &amp;, &amp;mut or by-value parameters to match each function's intent; avoid clone() unless you justify it.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Share inventory records with ownership and borrowing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5 passed; the overflow test proves the item is unchanged.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2 / K2/A2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AI Vibe Coding for Rust Application Development</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Activities 4-6 / concepts, contracts, failure modes and evidence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med" advClick="1">
    <p:push dir="l"/>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vibe-coding loop for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D4D4D4"/>
                </a:solidFill>
                <a:latin typeface="Consolas"/>
              </a:rPr>
              <a:t>1. intent     "parse add/remove/list commands"</a:t>
            </a:r>
          </a:p>
          <a:p>
            <a:pPr>
              <a:spcAft>
                <a:spcPts val="100"/>
              </a:spcAft>
            </a:pPr>
            <a:r>
              <a:rPr sz="1200">
                <a:solidFill>
                  <a:srgbClr val="D4D4D4"/>
                </a:solidFill>
                <a:latin typeface="Consolas"/>
              </a:rPr>
              <a:t>2. contract   types, ranges, errors, tests</a:t>
            </a:r>
          </a:p>
          <a:p>
            <a:pPr>
              <a:spcAft>
                <a:spcPts val="100"/>
              </a:spcAft>
            </a:pPr>
            <a:r>
              <a:rPr sz="1200">
                <a:solidFill>
                  <a:srgbClr val="D4D4D4"/>
                </a:solidFill>
                <a:latin typeface="Consolas"/>
              </a:rPr>
              <a:t>3. prompt     bounded request to the AI</a:t>
            </a:r>
          </a:p>
          <a:p>
            <a:pPr>
              <a:spcAft>
                <a:spcPts val="100"/>
              </a:spcAft>
            </a:pPr>
            <a:r>
              <a:rPr sz="1200">
                <a:solidFill>
                  <a:srgbClr val="D4D4D4"/>
                </a:solidFill>
                <a:latin typeface="Consolas"/>
              </a:rPr>
              <a:t>4. generate   AI proposes code</a:t>
            </a:r>
          </a:p>
          <a:p>
            <a:pPr>
              <a:spcAft>
                <a:spcPts val="100"/>
              </a:spcAft>
            </a:pPr>
            <a:r>
              <a:rPr sz="1200">
                <a:solidFill>
                  <a:srgbClr val="D4D4D4"/>
                </a:solidFill>
                <a:latin typeface="Consolas"/>
              </a:rPr>
              <a:t>5. compile    cargo build   (the first reviewer)</a:t>
            </a:r>
          </a:p>
          <a:p>
            <a:pPr>
              <a:spcAft>
                <a:spcPts val="100"/>
              </a:spcAft>
            </a:pPr>
            <a:r>
              <a:rPr sz="1200">
                <a:solidFill>
                  <a:srgbClr val="D4D4D4"/>
                </a:solidFill>
                <a:latin typeface="Consolas"/>
              </a:rPr>
              <a:t>6. test       cargo test    (the specification)</a:t>
            </a:r>
          </a:p>
          <a:p>
            <a:pPr>
              <a:spcAft>
                <a:spcPts val="100"/>
              </a:spcAft>
            </a:pPr>
            <a:r>
              <a:rPr sz="1200">
                <a:solidFill>
                  <a:srgbClr val="D4D4D4"/>
                </a:solidFill>
                <a:latin typeface="Consolas"/>
              </a:rPr>
              <a:t>7. review     read, question, accept or reject</a:t>
            </a:r>
          </a:p>
          <a:p>
            <a:pPr>
              <a:spcAft>
                <a:spcPts val="100"/>
              </a:spcAft>
            </a:pPr>
            <a:r>
              <a:rPr sz="1200">
                <a:solidFill>
                  <a:srgbClr val="D4D4D4"/>
                </a:solidFill>
                <a:latin typeface="Consolas"/>
              </a:rPr>
              <a:t>8. record     decision + evidence</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Intent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Describe the outcome in plain language, as a user would.</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Contract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Pin down types, ranges and errors so the output can be judged.</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Compiler + tests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rejects many wrong programs before they run.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Human review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You own the code: accept only what you can explain.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K2/A2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vibe-coding loop for Rust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Speed</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AI drafts in seconds; the loop turns drafts into trusted code.</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Iteration</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Small prompts and small diffs are easier to review.</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Stop rule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Never accept code that fails a gate or that you cannot explain.</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Record</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Keep prompt, proposal, decision and test result for each change.</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Each activity review record shows prompt, decision and the passing test result.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K2/A2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vibe-coding loop for Rust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AI output looks right but was never run</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Run cargo test and clippy before accepting; paste failures back as evidence.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Each activity review record shows prompt, decision and the passing test result.</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CONFIG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Write a bounded prompt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D4D4D4"/>
                </a:solidFill>
                <a:latin typeface="Consolas"/>
              </a:rPr>
              <a:t>Role:      Act as a senior Rust reviewer.</a:t>
            </a:r>
          </a:p>
          <a:p>
            <a:pPr>
              <a:spcAft>
                <a:spcPts val="100"/>
              </a:spcAft>
            </a:pPr>
            <a:r>
              <a:rPr sz="1100">
                <a:solidFill>
                  <a:srgbClr val="D4D4D4"/>
                </a:solidFill>
                <a:latin typeface="Consolas"/>
              </a:rPr>
              <a:t>Context:   StockPilot command parser, Rust 2021, std only.</a:t>
            </a:r>
          </a:p>
          <a:p>
            <a:pPr>
              <a:spcAft>
                <a:spcPts val="100"/>
              </a:spcAft>
            </a:pPr>
            <a:r>
              <a:rPr sz="1100">
                <a:solidFill>
                  <a:srgbClr val="D4D4D4"/>
                </a:solidFill>
                <a:latin typeface="Consolas"/>
              </a:rPr>
              <a:t>Contract:  parse_command(&amp;[&amp;str]) -&gt; Result&lt;Command, String&gt;</a:t>
            </a:r>
          </a:p>
          <a:p>
            <a:pPr>
              <a:spcAft>
                <a:spcPts val="100"/>
              </a:spcAft>
            </a:pPr>
            <a:r>
              <a:rPr sz="1100">
                <a:solidFill>
                  <a:srgbClr val="D4D4D4"/>
                </a:solidFill>
                <a:latin typeface="Consolas"/>
              </a:rPr>
              <a:t>           list | add &lt;sku&gt; &lt;qty&gt; | remove &lt;sku&gt; &lt;qty&gt;</a:t>
            </a:r>
          </a:p>
          <a:p>
            <a:pPr>
              <a:spcAft>
                <a:spcPts val="100"/>
              </a:spcAft>
            </a:pPr>
            <a:r>
              <a:rPr sz="1100">
                <a:solidFill>
                  <a:srgbClr val="D4D4D4"/>
                </a:solidFill>
                <a:latin typeface="Consolas"/>
              </a:rPr>
              <a:t>           qty: u32 and &gt;= 1</a:t>
            </a:r>
          </a:p>
          <a:p>
            <a:pPr>
              <a:spcAft>
                <a:spcPts val="100"/>
              </a:spcAft>
            </a:pPr>
            <a:r>
              <a:rPr sz="1100">
                <a:solidFill>
                  <a:srgbClr val="D4D4D4"/>
                </a:solidFill>
                <a:latin typeface="Consolas"/>
              </a:rPr>
              <a:t>Limits:    no new crates, no unsafe, no unwrap on input,</a:t>
            </a:r>
          </a:p>
          <a:p>
            <a:pPr>
              <a:spcAft>
                <a:spcPts val="100"/>
              </a:spcAft>
            </a:pPr>
            <a:r>
              <a:rPr sz="1100">
                <a:solidFill>
                  <a:srgbClr val="D4D4D4"/>
                </a:solidFill>
                <a:latin typeface="Consolas"/>
              </a:rPr>
              <a:t>           keep the public signature.</a:t>
            </a:r>
          </a:p>
          <a:p>
            <a:pPr>
              <a:spcAft>
                <a:spcPts val="100"/>
              </a:spcAft>
            </a:pPr>
            <a:r>
              <a:rPr sz="1100">
                <a:solidFill>
                  <a:srgbClr val="D4D4D4"/>
                </a:solidFill>
                <a:latin typeface="Consolas"/>
              </a:rPr>
              <a:t>Output:    code + 4 boundary tests + one-line reasons.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Role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Sets the expected quality bar and tone.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Contract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exact signature and rules to satisfy.</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Limits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What the AI must not do: crates, unsafe, signature changes.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Output</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for tests and reasons, not only code.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K2/A2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Write a bounded prompt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Include</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Specification, relevant file, exact cargo output.</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Exclude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Secrets, API keys, personal data, assessment answers.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Size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One function or one fix per prompt.</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Follow-up</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Ask "which edge case did you not test?" before accepting.</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 accepted proposal compiles, passes the tests and respects every limit.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K2/A2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Write a bounded prompt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AI invents a crate or API</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Reject; restate the limits and ask for a std-only version, then compile to confirm.</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The accepted proposal compiles, passes the tests and respects every limit.</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compiler is your first reviewer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F48771"/>
                </a:solidFill>
                <a:latin typeface="Consolas"/>
              </a:rPr>
              <a:t>error[E0382]: borrow of moved value: `items`</a:t>
            </a:r>
          </a:p>
          <a:p>
            <a:pPr>
              <a:spcAft>
                <a:spcPts val="100"/>
              </a:spcAft>
            </a:pPr>
            <a:r>
              <a:rPr sz="1100">
                <a:solidFill>
                  <a:srgbClr val="D4D4D4"/>
                </a:solidFill>
                <a:latin typeface="Consolas"/>
              </a:rPr>
              <a:t> --&gt; src/main.rs:9:22</a:t>
            </a:r>
          </a:p>
          <a:p>
            <a:pPr>
              <a:spcAft>
                <a:spcPts val="100"/>
              </a:spcAft>
            </a:pPr>
            <a:r>
              <a:rPr sz="1100">
                <a:solidFill>
                  <a:srgbClr val="6A9955"/>
                </a:solidFill>
                <a:latin typeface="Consolas"/>
              </a:rPr>
              <a:t>  |</a:t>
            </a:r>
          </a:p>
          <a:p>
            <a:pPr>
              <a:spcAft>
                <a:spcPts val="100"/>
              </a:spcAft>
            </a:pPr>
            <a:r>
              <a:rPr sz="1100">
                <a:solidFill>
                  <a:srgbClr val="D4D4D4"/>
                </a:solidFill>
                <a:latin typeface="Consolas"/>
              </a:rPr>
              <a:t>5 |     let items = vec![cable, charger];</a:t>
            </a:r>
          </a:p>
          <a:p>
            <a:pPr>
              <a:spcAft>
                <a:spcPts val="100"/>
              </a:spcAft>
            </a:pPr>
            <a:r>
              <a:rPr sz="1100">
                <a:solidFill>
                  <a:srgbClr val="6A9955"/>
                </a:solidFill>
                <a:latin typeface="Consolas"/>
              </a:rPr>
              <a:t>  |         ----- move occurs because `items` has type</a:t>
            </a:r>
          </a:p>
          <a:p>
            <a:pPr>
              <a:spcAft>
                <a:spcPts val="100"/>
              </a:spcAft>
            </a:pPr>
            <a:r>
              <a:rPr sz="1100">
                <a:solidFill>
                  <a:srgbClr val="6A9955"/>
                </a:solidFill>
                <a:latin typeface="Consolas"/>
              </a:rPr>
              <a:t>  |               `Vec&lt;Item&gt;`, which does not implement Copy</a:t>
            </a:r>
          </a:p>
          <a:p>
            <a:pPr>
              <a:spcAft>
                <a:spcPts val="100"/>
              </a:spcAft>
            </a:pPr>
            <a:r>
              <a:rPr sz="1100">
                <a:solidFill>
                  <a:srgbClr val="D4D4D4"/>
                </a:solidFill>
                <a:latin typeface="Consolas"/>
              </a:rPr>
              <a:t>7 |     let kept = in_stock(items);</a:t>
            </a:r>
          </a:p>
          <a:p>
            <a:pPr>
              <a:spcAft>
                <a:spcPts val="100"/>
              </a:spcAft>
            </a:pPr>
            <a:r>
              <a:rPr sz="1100">
                <a:solidFill>
                  <a:srgbClr val="6A9955"/>
                </a:solidFill>
                <a:latin typeface="Consolas"/>
              </a:rPr>
              <a:t>  |                         ----- value moved here</a:t>
            </a:r>
          </a:p>
          <a:p>
            <a:pPr>
              <a:spcAft>
                <a:spcPts val="100"/>
              </a:spcAft>
            </a:pPr>
            <a:r>
              <a:rPr sz="1100">
                <a:solidFill>
                  <a:srgbClr val="D4D4D4"/>
                </a:solidFill>
                <a:latin typeface="Consolas"/>
              </a:rPr>
              <a:t>9 |     println!("{:?}", items);</a:t>
            </a:r>
          </a:p>
          <a:p>
            <a:pPr>
              <a:spcAft>
                <a:spcPts val="100"/>
              </a:spcAft>
            </a:pPr>
            <a:r>
              <a:rPr sz="1100">
                <a:solidFill>
                  <a:srgbClr val="6A9955"/>
                </a:solidFill>
                <a:latin typeface="Consolas"/>
              </a:rPr>
              <a:t>  |                      ^^^^^ value borrowed here after move</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Error code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E0382 can be looked up with rustc --explain E0382.</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Spans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arrows show where the value moved and where it was used.</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Help lines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Often suggest the exact fix (borrow, clone, add mut).</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AI use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Paste the full message; ask for the cause before the fix.</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K2/A2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compiler is your first reviewer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Read order</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First error first; later errors are often consequences.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Explain</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rustc --explain E0XXX gives a worked example.</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Fix scope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Smallest change that keeps the contract.</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Evidence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Record the error and the fix in the review record.</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cargo build reports zero errors and zero warnings.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K2/A2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compiler is your first reviewer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Many errors after one AI change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Revert to the last green state, apply the change in smaller steps and rebuild.</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cargo build reports zero errors and zero warnings.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Review AI-generated Rust before accepting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Red flags in a proposal</a:t>
            </a:r>
          </a:p>
          <a:p>
            <a:pPr>
              <a:spcAft>
                <a:spcPts val="100"/>
              </a:spcAft>
            </a:pPr>
            <a:r>
              <a:rPr sz="1000">
                <a:solidFill>
                  <a:srgbClr val="C586C0"/>
                </a:solidFill>
                <a:latin typeface="Consolas"/>
              </a:rPr>
              <a:t>let qty: u32 = args[2].parse().unwrap();   // panics on bad input</a:t>
            </a:r>
          </a:p>
          <a:p>
            <a:pPr>
              <a:spcAft>
                <a:spcPts val="100"/>
              </a:spcAft>
            </a:pPr>
            <a:r>
              <a:rPr sz="1000">
                <a:solidFill>
                  <a:srgbClr val="D4D4D4"/>
                </a:solidFill>
                <a:latin typeface="Consolas"/>
              </a:rPr>
              <a:t>unsafe { ... }                             // never needed here</a:t>
            </a:r>
          </a:p>
          <a:p>
            <a:pPr>
              <a:spcAft>
                <a:spcPts val="100"/>
              </a:spcAft>
            </a:pPr>
            <a:r>
              <a:rPr sz="1000">
                <a:solidFill>
                  <a:srgbClr val="C586C0"/>
                </a:solidFill>
                <a:latin typeface="Consolas"/>
              </a:rPr>
              <a:t>let copy = items.clone();                  // unjustified clone</a:t>
            </a:r>
          </a:p>
          <a:p>
            <a:pPr>
              <a:spcAft>
                <a:spcPts val="100"/>
              </a:spcAft>
            </a:pPr>
            <a:r>
              <a:rPr sz="1000">
                <a:solidFill>
                  <a:srgbClr val="C586C0"/>
                </a:solidFill>
                <a:latin typeface="Consolas"/>
              </a:rPr>
              <a:t>use clap::Parser;                          // new crate, not allowed</a:t>
            </a:r>
          </a:p>
          <a:p>
            <a:pPr>
              <a:spcAft>
                <a:spcPts val="100"/>
              </a:spcAft>
            </a:pPr>
            <a:r>
              <a:rPr sz="1000">
                <a:solidFill>
                  <a:srgbClr val="D4D4D4"/>
                </a:solidFill>
                <a:latin typeface="Consolas"/>
              </a:rPr>
              <a:t> </a:t>
            </a:r>
          </a:p>
          <a:p>
            <a:pPr>
              <a:spcAft>
                <a:spcPts val="100"/>
              </a:spcAft>
            </a:pPr>
            <a:r>
              <a:rPr sz="1000">
                <a:solidFill>
                  <a:srgbClr val="6A9955"/>
                </a:solidFill>
                <a:latin typeface="Consolas"/>
              </a:rPr>
              <a:t>// Accept when</a:t>
            </a:r>
          </a:p>
          <a:p>
            <a:pPr>
              <a:spcAft>
                <a:spcPts val="100"/>
              </a:spcAft>
            </a:pPr>
            <a:r>
              <a:rPr sz="1000">
                <a:solidFill>
                  <a:srgbClr val="D4D4D4"/>
                </a:solidFill>
                <a:latin typeface="Consolas"/>
              </a:rPr>
              <a:t>cargo test                                 # all pass</a:t>
            </a:r>
          </a:p>
          <a:p>
            <a:pPr>
              <a:spcAft>
                <a:spcPts val="100"/>
              </a:spcAft>
            </a:pPr>
            <a:r>
              <a:rPr sz="1000">
                <a:solidFill>
                  <a:srgbClr val="D4D4D4"/>
                </a:solidFill>
                <a:latin typeface="Consolas"/>
              </a:rPr>
              <a:t>cargo clippy --all-targets -- -D warnings  # clean</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unwrap/expect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Acceptable in tests; in library code they turn bad input into a crash.</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unsafe</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Removes compiler guarantees; not needed for this course.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clone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Often hides an ownership question; ask why it is needed.</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New crates</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Add supply-chain risk; only with explicit approval.</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K2/A2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Review AI-generated Rust before accepting it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Signatures</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Public API unchanged unless the specification changed.</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Errors</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Invalid input returns Err/None, never panics.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Tests</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Every boundary in the specification is tested.</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Explainability</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You can explain every line to a colleague.</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 review record lists at least one rejected or edited suggestion with a reason.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K2/A2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Review AI-generated Rust before accepting it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Proposal passes tests but uses unwrap on input</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Reject; ask for map_err/? so bad input returns an error the caller can handle.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The review record lists at least one rejected or edited suggestion with a reason.</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ARCH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Modules and visibility organise a crate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6A9955"/>
                </a:solidFill>
                <a:latin typeface="Consolas"/>
              </a:rPr>
              <a:t>// src/lib.rs</a:t>
            </a:r>
          </a:p>
          <a:p>
            <a:pPr>
              <a:spcAft>
                <a:spcPts val="100"/>
              </a:spcAft>
            </a:pPr>
            <a:r>
              <a:rPr sz="1200">
                <a:solidFill>
                  <a:srgbClr val="C586C0"/>
                </a:solidFill>
                <a:latin typeface="Consolas"/>
              </a:rPr>
              <a:t>pub mod money;      // loads src/money.rs</a:t>
            </a:r>
          </a:p>
          <a:p>
            <a:pPr>
              <a:spcAft>
                <a:spcPts val="100"/>
              </a:spcAft>
            </a:pPr>
            <a:r>
              <a:rPr sz="1200">
                <a:solidFill>
                  <a:srgbClr val="C586C0"/>
                </a:solidFill>
                <a:latin typeface="Consolas"/>
              </a:rPr>
              <a:t>pub mod report;     // loads src/report.rs</a:t>
            </a:r>
          </a:p>
          <a:p>
            <a:pPr>
              <a:spcAft>
                <a:spcPts val="100"/>
              </a:spcAft>
            </a:pPr>
            <a:r>
              <a:rPr sz="1200">
                <a:solidFill>
                  <a:srgbClr val="D4D4D4"/>
                </a:solidFill>
                <a:latin typeface="Consolas"/>
              </a:rPr>
              <a:t> </a:t>
            </a:r>
          </a:p>
          <a:p>
            <a:pPr>
              <a:spcAft>
                <a:spcPts val="100"/>
              </a:spcAft>
            </a:pPr>
            <a:r>
              <a:rPr sz="1200">
                <a:solidFill>
                  <a:srgbClr val="6A9955"/>
                </a:solidFill>
                <a:latin typeface="Consolas"/>
              </a:rPr>
              <a:t>// src/report.rs</a:t>
            </a:r>
          </a:p>
          <a:p>
            <a:pPr>
              <a:spcAft>
                <a:spcPts val="100"/>
              </a:spcAft>
            </a:pPr>
            <a:r>
              <a:rPr sz="1200">
                <a:solidFill>
                  <a:srgbClr val="C586C0"/>
                </a:solidFill>
                <a:latin typeface="Consolas"/>
              </a:rPr>
              <a:t>use crate::money::format_cents;</a:t>
            </a:r>
          </a:p>
          <a:p>
            <a:pPr>
              <a:spcAft>
                <a:spcPts val="100"/>
              </a:spcAft>
            </a:pPr>
            <a:r>
              <a:rPr sz="1200">
                <a:solidFill>
                  <a:srgbClr val="D4D4D4"/>
                </a:solidFill>
                <a:latin typeface="Consolas"/>
              </a:rPr>
              <a:t> </a:t>
            </a:r>
          </a:p>
          <a:p>
            <a:pPr>
              <a:spcAft>
                <a:spcPts val="100"/>
              </a:spcAft>
            </a:pPr>
            <a:r>
              <a:rPr sz="1200">
                <a:solidFill>
                  <a:srgbClr val="C586C0"/>
                </a:solidFill>
                <a:latin typeface="Consolas"/>
              </a:rPr>
              <a:t>pub fn report_line(name: &amp;str, qty: u32, unit: u64)</a:t>
            </a:r>
          </a:p>
          <a:p>
            <a:pPr>
              <a:spcAft>
                <a:spcPts val="100"/>
              </a:spcAft>
            </a:pPr>
            <a:r>
              <a:rPr sz="1200">
                <a:solidFill>
                  <a:srgbClr val="D4D4D4"/>
                </a:solidFill>
                <a:latin typeface="Consolas"/>
              </a:rPr>
              <a:t>    -&gt; Option&lt;String&gt; { /* ... */ }</a:t>
            </a:r>
          </a:p>
          <a:p>
            <a:pPr>
              <a:spcAft>
                <a:spcPts val="100"/>
              </a:spcAft>
            </a:pPr>
            <a:r>
              <a:rPr sz="1200">
                <a:solidFill>
                  <a:srgbClr val="C586C0"/>
                </a:solidFill>
                <a:latin typeface="Consolas"/>
              </a:rPr>
              <a:t>fn helper() {}      // private to this module</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mod</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Declares a module; the file name matches the module name.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Privacy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Everything is private unless marked pub.</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Paths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crate:: starts from the crate root; super:: goes up one level.</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use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Brings a path into scope so it can be called by its short name.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K2/A2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Modules and visibility organise a crate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pub</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Visible to other crates, including your tests/ folder.</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pub(crate)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Visible inside this crate only.</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Module per concern</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money formats currency; report builds lines.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API check</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Integration tests compile only against pub items.</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5 tests import activity05::money and activity05::report successfully.</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K2/A2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Modules and visibility organise a crate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error[E0603]: function is private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Make it pub if it is part of the API, or test it inside the module with #[cfg(test)].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5 tests import activity05::money and activity05::report successfully.</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CONFIG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Cargo dependencies and Cargo.lock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6A9955"/>
                </a:solidFill>
                <a:latin typeface="Consolas"/>
              </a:rPr>
              <a:t># Cargo.toml</a:t>
            </a:r>
          </a:p>
          <a:p>
            <a:pPr>
              <a:spcAft>
                <a:spcPts val="100"/>
              </a:spcAft>
            </a:pPr>
            <a:r>
              <a:rPr sz="1100">
                <a:solidFill>
                  <a:srgbClr val="D4D4D4"/>
                </a:solidFill>
                <a:latin typeface="Consolas"/>
              </a:rPr>
              <a:t>[dependencies]</a:t>
            </a:r>
          </a:p>
          <a:p>
            <a:pPr>
              <a:spcAft>
                <a:spcPts val="100"/>
              </a:spcAft>
            </a:pPr>
            <a:r>
              <a:rPr sz="1100">
                <a:solidFill>
                  <a:srgbClr val="D4D4D4"/>
                </a:solidFill>
                <a:latin typeface="Consolas"/>
              </a:rPr>
              <a:t>serde = { version = "1", features = ["derive"] }</a:t>
            </a:r>
          </a:p>
          <a:p>
            <a:pPr>
              <a:spcAft>
                <a:spcPts val="100"/>
              </a:spcAft>
            </a:pPr>
            <a:r>
              <a:rPr sz="1100">
                <a:solidFill>
                  <a:srgbClr val="D4D4D4"/>
                </a:solidFill>
                <a:latin typeface="Consolas"/>
              </a:rPr>
              <a:t>serde_json = "1"</a:t>
            </a:r>
          </a:p>
          <a:p>
            <a:pPr>
              <a:spcAft>
                <a:spcPts val="100"/>
              </a:spcAft>
            </a:pPr>
            <a:r>
              <a:rPr sz="1100">
                <a:solidFill>
                  <a:srgbClr val="D4D4D4"/>
                </a:solidFill>
                <a:latin typeface="Consolas"/>
              </a:rPr>
              <a:t> </a:t>
            </a:r>
          </a:p>
          <a:p>
            <a:pPr>
              <a:spcAft>
                <a:spcPts val="100"/>
              </a:spcAft>
            </a:pPr>
            <a:r>
              <a:rPr sz="1100">
                <a:solidFill>
                  <a:srgbClr val="D4D4D4"/>
                </a:solidFill>
                <a:latin typeface="Consolas"/>
              </a:rPr>
              <a:t>cargo add serde --features derive   # edits Cargo.toml</a:t>
            </a:r>
          </a:p>
          <a:p>
            <a:pPr>
              <a:spcAft>
                <a:spcPts val="100"/>
              </a:spcAft>
            </a:pPr>
            <a:r>
              <a:rPr sz="1100">
                <a:solidFill>
                  <a:srgbClr val="D4D4D4"/>
                </a:solidFill>
                <a:latin typeface="Consolas"/>
              </a:rPr>
              <a:t>cargo build                         # downloads + locks</a:t>
            </a:r>
          </a:p>
          <a:p>
            <a:pPr>
              <a:spcAft>
                <a:spcPts val="100"/>
              </a:spcAft>
            </a:pPr>
            <a:r>
              <a:rPr sz="1100">
                <a:solidFill>
                  <a:srgbClr val="D4D4D4"/>
                </a:solidFill>
                <a:latin typeface="Consolas"/>
              </a:rPr>
              <a:t>cargo tree                          # show dependency graph</a:t>
            </a:r>
          </a:p>
          <a:p>
            <a:pPr>
              <a:spcAft>
                <a:spcPts val="100"/>
              </a:spcAft>
            </a:pPr>
            <a:r>
              <a:rPr sz="1100">
                <a:solidFill>
                  <a:srgbClr val="D4D4D4"/>
                </a:solidFill>
                <a:latin typeface="Consolas"/>
              </a:rPr>
              <a:t>cargo update                        # move within semver range</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Semver</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"1" means any compatible 1.x version.</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Features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Opt-in capabilities such as serde's derive macros.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Cargo.lock</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Exact versions used; commit it for applications and courses.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crates.io</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public registry; check downloads, docs and maintenance.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K2/A2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Cargo dependencies and Cargo.lock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Approval</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Every new crate is a design decision recorded in review.</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Reproducibility</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Cargo.lock gives every learner the same versions.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Offline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cargo fetch downloads everything before class.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Audit</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cargo tree shows what a crate pulls in.</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6 builds with serde 1.x recorded in Cargo.lock and 6 tests pass.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K2/A2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Cargo dependencies and Cargo.lock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failed to select a version / download error</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Check the version string and network, then cargo fetch; never copy crates by hand.</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6 builds with serde 1.x recorded in Cargo.lock and 6 tests pass.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CONFIG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fmt and clippy encode team practice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D4D4D4"/>
                </a:solidFill>
                <a:latin typeface="Consolas"/>
              </a:rPr>
              <a:t>cargo fmt                              # rewrite to house style</a:t>
            </a:r>
          </a:p>
          <a:p>
            <a:pPr>
              <a:spcAft>
                <a:spcPts val="100"/>
              </a:spcAft>
            </a:pPr>
            <a:r>
              <a:rPr sz="1100">
                <a:solidFill>
                  <a:srgbClr val="D4D4D4"/>
                </a:solidFill>
                <a:latin typeface="Consolas"/>
              </a:rPr>
              <a:t>cargo fmt --check                      # fail if not formatted</a:t>
            </a:r>
          </a:p>
          <a:p>
            <a:pPr>
              <a:spcAft>
                <a:spcPts val="100"/>
              </a:spcAft>
            </a:pPr>
            <a:r>
              <a:rPr sz="1100">
                <a:solidFill>
                  <a:srgbClr val="D4D4D4"/>
                </a:solidFill>
                <a:latin typeface="Consolas"/>
              </a:rPr>
              <a:t>cargo clippy --all-targets -- -D warnings</a:t>
            </a:r>
          </a:p>
          <a:p>
            <a:pPr>
              <a:spcAft>
                <a:spcPts val="100"/>
              </a:spcAft>
            </a:pPr>
            <a:r>
              <a:rPr sz="1100">
                <a:solidFill>
                  <a:srgbClr val="D4D4D4"/>
                </a:solidFill>
                <a:latin typeface="Consolas"/>
              </a:rPr>
              <a:t> </a:t>
            </a:r>
          </a:p>
          <a:p>
            <a:pPr>
              <a:spcAft>
                <a:spcPts val="100"/>
              </a:spcAft>
            </a:pPr>
            <a:r>
              <a:rPr sz="1100">
                <a:solidFill>
                  <a:srgbClr val="F48771"/>
                </a:solidFill>
                <a:latin typeface="Consolas"/>
              </a:rPr>
              <a:t>warning: this `if` has identical blocks</a:t>
            </a:r>
          </a:p>
          <a:p>
            <a:pPr>
              <a:spcAft>
                <a:spcPts val="100"/>
              </a:spcAft>
            </a:pPr>
            <a:r>
              <a:rPr sz="1100">
                <a:solidFill>
                  <a:srgbClr val="F48771"/>
                </a:solidFill>
                <a:latin typeface="Consolas"/>
              </a:rPr>
              <a:t>warning: redundant clone</a:t>
            </a:r>
          </a:p>
          <a:p>
            <a:pPr>
              <a:spcAft>
                <a:spcPts val="100"/>
              </a:spcAft>
            </a:pPr>
            <a:r>
              <a:rPr sz="1100">
                <a:solidFill>
                  <a:srgbClr val="F48771"/>
                </a:solidFill>
                <a:latin typeface="Consolas"/>
              </a:rPr>
              <a:t>warning: missing documentation for a function</a:t>
            </a:r>
          </a:p>
          <a:p>
            <a:pPr>
              <a:spcAft>
                <a:spcPts val="100"/>
              </a:spcAft>
            </a:pPr>
            <a:r>
              <a:rPr sz="1100">
                <a:solidFill>
                  <a:srgbClr val="D4D4D4"/>
                </a:solidFill>
                <a:latin typeface="Consolas"/>
              </a:rPr>
              <a:t>  = help: for further information visit</a:t>
            </a:r>
          </a:p>
          <a:p>
            <a:pPr>
              <a:spcAft>
                <a:spcPts val="100"/>
              </a:spcAft>
            </a:pPr>
            <a:r>
              <a:rPr sz="1100">
                <a:solidFill>
                  <a:srgbClr val="D4D4D4"/>
                </a:solidFill>
                <a:latin typeface="Consolas"/>
              </a:rPr>
              <a:t>    https://rust-lang.github.io/rust-clippy/...</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rustfmt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One formatting style for everyone; no style debates in review.</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clippy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Hundreds of lints for bugs, performance and idiom.</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-D warnings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Treat warnings as errors so they cannot accumulate.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rustfmt.toml</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Project settings, for example max_width = 80.</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K2/A2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fmt and clippy encode team practice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Before commit</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fmt --check, clippy -D warnings and test must all pass.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AI output</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Run the same gates on generated code; no exceptions.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Allow a lint</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Only with #[allow(...)] plus a reason in a comment.</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CI</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The same three commands can run in a pipeline.</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Every activity solution passes fmt --check and clippy -D warnings.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K2/A2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fmt and clippy encode team practice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clippy fails after an AI change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Read the lint link, apply the suggested idiom, rerun tests to confirm behaviour.</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Every activity solution passes fmt --check and clippy -D warnings.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UI</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Set up VS Code for Rust vibe coding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D4D4D4"/>
                </a:solidFill>
                <a:latin typeface="Consolas"/>
              </a:rPr>
              <a:t>Extensions</a:t>
            </a:r>
          </a:p>
          <a:p>
            <a:pPr>
              <a:spcAft>
                <a:spcPts val="100"/>
              </a:spcAft>
            </a:pPr>
            <a:r>
              <a:rPr sz="1200">
                <a:solidFill>
                  <a:srgbClr val="D4D4D4"/>
                </a:solidFill>
                <a:latin typeface="Consolas"/>
              </a:rPr>
              <a:t>  rust-analyzer            types, errors, go-to-definition</a:t>
            </a:r>
          </a:p>
          <a:p>
            <a:pPr>
              <a:spcAft>
                <a:spcPts val="100"/>
              </a:spcAft>
            </a:pPr>
            <a:r>
              <a:rPr sz="1200">
                <a:solidFill>
                  <a:srgbClr val="D4D4D4"/>
                </a:solidFill>
                <a:latin typeface="Consolas"/>
              </a:rPr>
              <a:t>  (optional) CodeLLDB      step-through debugging</a:t>
            </a:r>
          </a:p>
          <a:p>
            <a:pPr>
              <a:spcAft>
                <a:spcPts val="100"/>
              </a:spcAft>
            </a:pPr>
            <a:r>
              <a:rPr sz="1200">
                <a:solidFill>
                  <a:srgbClr val="D4D4D4"/>
                </a:solidFill>
                <a:latin typeface="Consolas"/>
              </a:rPr>
              <a:t>  your AI assistant        Copilot / Claude / ChatGPT</a:t>
            </a:r>
          </a:p>
          <a:p>
            <a:pPr>
              <a:spcAft>
                <a:spcPts val="100"/>
              </a:spcAft>
            </a:pPr>
            <a:r>
              <a:rPr sz="1200">
                <a:solidFill>
                  <a:srgbClr val="D4D4D4"/>
                </a:solidFill>
                <a:latin typeface="Consolas"/>
              </a:rPr>
              <a:t> </a:t>
            </a:r>
          </a:p>
          <a:p>
            <a:pPr>
              <a:spcAft>
                <a:spcPts val="100"/>
              </a:spcAft>
            </a:pPr>
            <a:r>
              <a:rPr sz="1200">
                <a:solidFill>
                  <a:srgbClr val="D4D4D4"/>
                </a:solidFill>
                <a:latin typeface="Consolas"/>
              </a:rPr>
              <a:t>Workspace habits</a:t>
            </a:r>
          </a:p>
          <a:p>
            <a:pPr>
              <a:spcAft>
                <a:spcPts val="100"/>
              </a:spcAft>
            </a:pPr>
            <a:r>
              <a:rPr sz="1200">
                <a:solidFill>
                  <a:srgbClr val="D4D4D4"/>
                </a:solidFill>
                <a:latin typeface="Consolas"/>
              </a:rPr>
              <a:t>  open the crate folder    (the one with Cargo.toml)</a:t>
            </a:r>
          </a:p>
          <a:p>
            <a:pPr>
              <a:spcAft>
                <a:spcPts val="100"/>
              </a:spcAft>
            </a:pPr>
            <a:r>
              <a:rPr sz="1200">
                <a:solidFill>
                  <a:srgbClr val="D4D4D4"/>
                </a:solidFill>
                <a:latin typeface="Consolas"/>
              </a:rPr>
              <a:t>  inlay hints on           see inferred types</a:t>
            </a:r>
          </a:p>
          <a:p>
            <a:pPr>
              <a:spcAft>
                <a:spcPts val="100"/>
              </a:spcAft>
            </a:pPr>
            <a:r>
              <a:rPr sz="1200">
                <a:solidFill>
                  <a:srgbClr val="D4D4D4"/>
                </a:solidFill>
                <a:latin typeface="Consolas"/>
              </a:rPr>
              <a:t>  terminal: cargo test     after every accepted change</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rust-analyzer</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Shows the same errors as the compiler while you type.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Inlay hints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Display inferred types, which helps review AI code.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Run/Test lenses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Click "Run Test" above a #[test] function.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AI panel</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Keep prompts beside the code; paste exact errors.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K2/A2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Set up VS Code for Rust vibe coding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Folder</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Open starter/ or solution/ so rust-analyzer finds Cargo.toml.</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Save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Format on save can call rustfmt automatically.</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Terminal</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Use the integrated terminal for cargo commands.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Privacy</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Do not paste secrets or assessment answers into AI tools.</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Hovering a variable shows its type and cargo test runs from the terminal.</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K2/A2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Set up VS Code for Rust vibe coding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rust-analyzer: failed to find a workspace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Open the folder that contains Cargo.toml, then reload the window.</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Hovering a variable shows its type and cargo test runs from the terminal.</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25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Vibe-code a command parser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Store staff will type commands such as "add ABC-0001 5". You describe the command language to an AI assistant, review the generated parser, and keep only code that passes the acceptance tests.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labs/activity-04-cli-commands: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5 passed; cargo run -- add ABC-0001 5 prints Add { sku: "ABC-0001", qty: 5 }.</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Vibe-code a command parser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samples/01_command_line_args.rs: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6A9955"/>
                </a:solidFill>
                <a:latin typeface="Consolas"/>
              </a:rPr>
              <a:t>// Sample: reading command-line arguments.</a:t>
            </a:r>
          </a:p>
          <a:p>
            <a:pPr>
              <a:spcAft>
                <a:spcPts val="100"/>
              </a:spcAft>
            </a:pPr>
            <a:r>
              <a:rPr sz="900">
                <a:solidFill>
                  <a:srgbClr val="C586C0"/>
                </a:solidFill>
                <a:latin typeface="Consolas"/>
              </a:rPr>
              <a:t>use std::env;</a:t>
            </a:r>
          </a:p>
          <a:p>
            <a:pPr>
              <a:spcAft>
                <a:spcPts val="100"/>
              </a:spcAft>
            </a:pPr>
            <a:r>
              <a:rPr sz="900">
                <a:solidFill>
                  <a:srgbClr val="D4D4D4"/>
                </a:solidFill>
                <a:latin typeface="Consolas"/>
              </a:rPr>
              <a:t> </a:t>
            </a:r>
          </a:p>
          <a:p>
            <a:pPr>
              <a:spcAft>
                <a:spcPts val="100"/>
              </a:spcAft>
            </a:pPr>
            <a:r>
              <a:rPr sz="900">
                <a:solidFill>
                  <a:srgbClr val="C586C0"/>
                </a:solidFill>
                <a:latin typeface="Consolas"/>
              </a:rPr>
              <a:t>fn main() {</a:t>
            </a:r>
          </a:p>
          <a:p>
            <a:pPr>
              <a:spcAft>
                <a:spcPts val="100"/>
              </a:spcAft>
            </a:pPr>
            <a:r>
              <a:rPr sz="900">
                <a:solidFill>
                  <a:srgbClr val="C586C0"/>
                </a:solidFill>
                <a:latin typeface="Consolas"/>
              </a:rPr>
              <a:t>    let args: Vec&lt;String&gt; = env::args().skip(1).collect();</a:t>
            </a:r>
          </a:p>
          <a:p>
            <a:pPr>
              <a:spcAft>
                <a:spcPts val="100"/>
              </a:spcAft>
            </a:pPr>
            <a:r>
              <a:rPr sz="900">
                <a:solidFill>
                  <a:srgbClr val="C586C0"/>
                </a:solidFill>
                <a:latin typeface="Consolas"/>
              </a:rPr>
              <a:t>    if args.is_empty() {</a:t>
            </a:r>
          </a:p>
          <a:p>
            <a:pPr>
              <a:spcAft>
                <a:spcPts val="100"/>
              </a:spcAft>
            </a:pPr>
            <a:r>
              <a:rPr sz="900">
                <a:solidFill>
                  <a:srgbClr val="D4D4D4"/>
                </a:solidFill>
                <a:latin typeface="Consolas"/>
              </a:rPr>
              <a:t>        println!("no arguments: try ./01_command_line_args add ABC-0001 5");</a:t>
            </a:r>
          </a:p>
          <a:p>
            <a:pPr>
              <a:spcAft>
                <a:spcPts val="100"/>
              </a:spcAft>
            </a:pPr>
            <a:r>
              <a:rPr sz="900">
                <a:solidFill>
                  <a:srgbClr val="D4D4D4"/>
                </a:solidFill>
                <a:latin typeface="Consolas"/>
              </a:rPr>
              <a:t>        return;</a:t>
            </a:r>
          </a:p>
          <a:p>
            <a:pPr>
              <a:spcAft>
                <a:spcPts val="100"/>
              </a:spcAft>
            </a:pPr>
            <a:r>
              <a:rPr sz="900">
                <a:solidFill>
                  <a:srgbClr val="D4D4D4"/>
                </a:solidFill>
                <a:latin typeface="Consolas"/>
              </a:rPr>
              <a:t>    }</a:t>
            </a:r>
          </a:p>
          <a:p>
            <a:pPr>
              <a:spcAft>
                <a:spcPts val="100"/>
              </a:spcAft>
            </a:pPr>
            <a:r>
              <a:rPr sz="900">
                <a:solidFill>
                  <a:srgbClr val="C586C0"/>
                </a:solidFill>
                <a:latin typeface="Consolas"/>
              </a:rPr>
              <a:t>    for (index, arg) in args.iter().enumerate() {</a:t>
            </a:r>
          </a:p>
          <a:p>
            <a:pPr>
              <a:spcAft>
                <a:spcPts val="100"/>
              </a:spcAft>
            </a:pPr>
            <a:r>
              <a:rPr sz="900">
                <a:solidFill>
                  <a:srgbClr val="D4D4D4"/>
                </a:solidFill>
                <a:latin typeface="Consolas"/>
              </a:rPr>
              <a:t>        println!("argument {index}: {arg}");</a:t>
            </a:r>
          </a:p>
          <a:p>
            <a:pPr>
              <a:spcAft>
                <a:spcPts val="100"/>
              </a:spcAft>
            </a:pPr>
            <a:r>
              <a:rPr sz="900">
                <a:solidFill>
                  <a:srgbClr val="D4D4D4"/>
                </a:solidFill>
                <a:latin typeface="Consolas"/>
              </a:rPr>
              <a:t>    }</a:t>
            </a:r>
          </a:p>
          <a:p>
            <a:pPr>
              <a:spcAft>
                <a:spcPts val="100"/>
              </a:spcAft>
            </a:pPr>
            <a:r>
              <a:rPr sz="9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01_command_line_args.rs &amp;&amp; ./01_command_line_args add ABC-0001 5</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reading command-line arguments, slice patterns, parsing text into numbers and returning Result.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command-line input and parsing.</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4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Vibe-code a command parser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parse_command(&amp;[&amp;str]) -&gt; Result&lt;Command, String&gt;. Accepts exactly: list | add &lt;sku&gt; &lt;qty&gt; | remove &lt;sku&gt; &lt;qty&gt;. qty must parse as u32 and be at least 1. Anything else returns Err with a usage or reason message.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Vibe-code a command parser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C586C0"/>
                </a:solidFill>
                <a:latin typeface="Consolas"/>
              </a:rPr>
              <a:t>pub fn parse_command(args: &amp;[&amp;str]) -&gt; Result&lt;Command, String&gt; {</a:t>
            </a:r>
          </a:p>
          <a:p>
            <a:pPr>
              <a:spcAft>
                <a:spcPts val="100"/>
              </a:spcAft>
            </a:pPr>
            <a:r>
              <a:rPr sz="1000">
                <a:solidFill>
                  <a:srgbClr val="C586C0"/>
                </a:solidFill>
                <a:latin typeface="Consolas"/>
              </a:rPr>
              <a:t>    match args {</a:t>
            </a:r>
          </a:p>
          <a:p>
            <a:pPr>
              <a:spcAft>
                <a:spcPts val="100"/>
              </a:spcAft>
            </a:pPr>
            <a:r>
              <a:rPr sz="1000">
                <a:solidFill>
                  <a:srgbClr val="D4D4D4"/>
                </a:solidFill>
                <a:latin typeface="Consolas"/>
              </a:rPr>
              <a:t>        ["list"] =&gt; Ok(Command::List),</a:t>
            </a:r>
          </a:p>
          <a:p>
            <a:pPr>
              <a:spcAft>
                <a:spcPts val="100"/>
              </a:spcAft>
            </a:pPr>
            <a:r>
              <a:rPr sz="1000">
                <a:solidFill>
                  <a:srgbClr val="D4D4D4"/>
                </a:solidFill>
                <a:latin typeface="Consolas"/>
              </a:rPr>
              <a:t>        [verb @ ("add" | "remove"), sku, qty] =&gt; {</a:t>
            </a:r>
          </a:p>
          <a:p>
            <a:pPr>
              <a:spcAft>
                <a:spcPts val="100"/>
              </a:spcAft>
            </a:pPr>
            <a:r>
              <a:rPr sz="1000">
                <a:solidFill>
                  <a:srgbClr val="C586C0"/>
                </a:solidFill>
                <a:latin typeface="Consolas"/>
              </a:rPr>
              <a:t>            let qty: u32 = qty</a:t>
            </a:r>
          </a:p>
          <a:p>
            <a:pPr>
              <a:spcAft>
                <a:spcPts val="100"/>
              </a:spcAft>
            </a:pPr>
            <a:r>
              <a:rPr sz="1000">
                <a:solidFill>
                  <a:srgbClr val="D4D4D4"/>
                </a:solidFill>
                <a:latin typeface="Consolas"/>
              </a:rPr>
              <a:t>                .parse()</a:t>
            </a:r>
          </a:p>
          <a:p>
            <a:pPr>
              <a:spcAft>
                <a:spcPts val="100"/>
              </a:spcAft>
            </a:pPr>
            <a:r>
              <a:rPr sz="1000">
                <a:solidFill>
                  <a:srgbClr val="D4D4D4"/>
                </a:solidFill>
                <a:latin typeface="Consolas"/>
              </a:rPr>
              <a:t>                .map_err(|_| format!("invalid quantity: {qty}"))?;</a:t>
            </a:r>
          </a:p>
          <a:p>
            <a:pPr>
              <a:spcAft>
                <a:spcPts val="100"/>
              </a:spcAft>
            </a:pPr>
            <a:r>
              <a:rPr sz="1000">
                <a:solidFill>
                  <a:srgbClr val="C586C0"/>
                </a:solidFill>
                <a:latin typeface="Consolas"/>
              </a:rPr>
              <a:t>            if qty == 0 {</a:t>
            </a:r>
          </a:p>
          <a:p>
            <a:pPr>
              <a:spcAft>
                <a:spcPts val="100"/>
              </a:spcAft>
            </a:pPr>
            <a:r>
              <a:rPr sz="1000">
                <a:solidFill>
                  <a:srgbClr val="D4D4D4"/>
                </a:solidFill>
                <a:latin typeface="Consolas"/>
              </a:rPr>
              <a:t>                return Err("quantity must be at least 1".to_string());</a:t>
            </a:r>
          </a:p>
          <a:p>
            <a:pPr>
              <a:spcAft>
                <a:spcPts val="100"/>
              </a:spcAft>
            </a:pPr>
            <a:r>
              <a:rPr sz="1000">
                <a:solidFill>
                  <a:srgbClr val="D4D4D4"/>
                </a:solidFill>
                <a:latin typeface="Consolas"/>
              </a:rPr>
              <a:t>            }</a:t>
            </a:r>
          </a:p>
          <a:p>
            <a:pPr>
              <a:spcAft>
                <a:spcPts val="100"/>
              </a:spcAft>
            </a:pPr>
            <a:r>
              <a:rPr sz="1000">
                <a:solidFill>
                  <a:srgbClr val="C586C0"/>
                </a:solidFill>
                <a:latin typeface="Consolas"/>
              </a:rPr>
              <a:t>            let sku = sku.to_string();</a:t>
            </a:r>
          </a:p>
          <a:p>
            <a:pPr>
              <a:spcAft>
                <a:spcPts val="100"/>
              </a:spcAft>
            </a:pPr>
            <a:r>
              <a:rPr sz="1000">
                <a:solidFill>
                  <a:srgbClr val="C586C0"/>
                </a:solidFill>
                <a:latin typeface="Consolas"/>
              </a:rPr>
              <a:t>            if *verb == "add" {</a:t>
            </a:r>
          </a:p>
          <a:p>
            <a:pPr>
              <a:spcAft>
                <a:spcPts val="100"/>
              </a:spcAft>
            </a:pPr>
            <a:r>
              <a:rPr sz="1000">
                <a:solidFill>
                  <a:srgbClr val="D4D4D4"/>
                </a:solidFill>
                <a:latin typeface="Consolas"/>
              </a:rPr>
              <a:t>                Ok(Command::Add { sku, qty })</a:t>
            </a:r>
          </a:p>
          <a:p>
            <a:pPr>
              <a:spcAft>
                <a:spcPts val="100"/>
              </a:spcAft>
            </a:pPr>
            <a:r>
              <a:rPr sz="1000">
                <a:solidFill>
                  <a:srgbClr val="D4D4D4"/>
                </a:solidFill>
                <a:latin typeface="Consolas"/>
              </a:rPr>
              <a:t>            } else {</a:t>
            </a:r>
          </a:p>
          <a:p>
            <a:pPr>
              <a:spcAft>
                <a:spcPts val="100"/>
              </a:spcAft>
            </a:pPr>
            <a:r>
              <a:rPr sz="1000">
                <a:solidFill>
                  <a:srgbClr val="D4D4D4"/>
                </a:solidFill>
                <a:latin typeface="Consolas"/>
              </a:rPr>
              <a:t>                Ok(Command::Remove { sku, qty })</a:t>
            </a:r>
          </a:p>
          <a:p>
            <a:pPr>
              <a:spcAft>
                <a:spcPts val="100"/>
              </a:spcAft>
            </a:pPr>
            <a:r>
              <a:rPr sz="1000">
                <a:solidFill>
                  <a:srgbClr val="D4D4D4"/>
                </a:solidFill>
                <a:latin typeface="Consolas"/>
              </a:rPr>
              <a:t>            }</a:t>
            </a:r>
          </a:p>
          <a:p>
            <a:pPr>
              <a:spcAft>
                <a:spcPts val="100"/>
              </a:spcAft>
            </a:pPr>
            <a:r>
              <a:rPr sz="1000">
                <a:solidFill>
                  <a:srgbClr val="6A9955"/>
                </a:solidFill>
                <a:latin typeface="Consolas"/>
              </a:rPr>
              <a:t>    // ... full code: solution/src/lib.rs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Slice patterns</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match on [verb, sku, qty] checks the word count and binds words at once.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Or-pattern</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"add" | "remove" shares one arm; verb @ keeps the matched word.</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map_err</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Turns a ParseIntError into a message staff can act 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Exit code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main returns 2 for a usage error, so scripts can detect failure.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4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Vibe-code a command parser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200" b="0">
                <a:solidFill>
                  <a:srgbClr val="161B26"/>
                </a:solidFill>
                <a:latin typeface="Arial"/>
              </a:rPr>
              <a:t>•  Act as a senior Rust reviewer. Specification: parse_command(&amp;[&amp;str]) -&gt; Result&lt;Command, String&gt;. Accepts exactly: list | add &lt;sku&gt; &lt;qty&gt; | remove &lt;sku&gt; &lt;qty&gt;. qty must parse as u32 and be at least 1. Anything else returns Err with a usage or reason message.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"Vibe-code a command parser" in starter/src so that the supplied tests pass. Generate the parser from the command grammar only; reject any suggestion that adds crates such as clap.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Vibe-code a command parser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5 passed; cargo run -- add ABC-0001 5 prints Add { sku: "ABC-0001", qty: 5 }.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 25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Organise a crate into modules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reporting code has grown. You split StockPilot formatting into a money module and a report module, expose only what callers need, and keep the behaviour identical under test.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labs/activity-05-modules-visibility: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4 passed; tests import activity05::money and activity05::report.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Organise a crate into modules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samples/01_inline_modules.rs: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6A9955"/>
                </a:solidFill>
                <a:latin typeface="Consolas"/>
              </a:rPr>
              <a:t>// Sample: modules and privacy in one file.</a:t>
            </a:r>
          </a:p>
          <a:p>
            <a:pPr>
              <a:spcAft>
                <a:spcPts val="100"/>
              </a:spcAft>
            </a:pPr>
            <a:r>
              <a:rPr sz="1100">
                <a:solidFill>
                  <a:srgbClr val="C586C0"/>
                </a:solidFill>
                <a:latin typeface="Consolas"/>
              </a:rPr>
              <a:t>mod money {</a:t>
            </a:r>
          </a:p>
          <a:p>
            <a:pPr>
              <a:spcAft>
                <a:spcPts val="100"/>
              </a:spcAft>
            </a:pPr>
            <a:r>
              <a:rPr sz="1100">
                <a:solidFill>
                  <a:srgbClr val="C586C0"/>
                </a:solidFill>
                <a:latin typeface="Consolas"/>
              </a:rPr>
              <a:t>    pub fn format_cents(cents: u64) -&gt; String {</a:t>
            </a:r>
          </a:p>
          <a:p>
            <a:pPr>
              <a:spcAft>
                <a:spcPts val="100"/>
              </a:spcAft>
            </a:pPr>
            <a:r>
              <a:rPr sz="1100">
                <a:solidFill>
                  <a:srgbClr val="D4D4D4"/>
                </a:solidFill>
                <a:latin typeface="Consolas"/>
              </a:rPr>
              <a:t>        format!("${}.{:02}", cents / 100, cents % 100)</a:t>
            </a:r>
          </a:p>
          <a:p>
            <a:pPr>
              <a:spcAft>
                <a:spcPts val="100"/>
              </a:spcAft>
            </a:pPr>
            <a:r>
              <a:rPr sz="1100">
                <a:solidFill>
                  <a:srgbClr val="D4D4D4"/>
                </a:solidFill>
                <a:latin typeface="Consolas"/>
              </a:rPr>
              <a:t>    }</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    fn secret_rule() -&gt; &amp;'static str {</a:t>
            </a:r>
          </a:p>
          <a:p>
            <a:pPr>
              <a:spcAft>
                <a:spcPts val="100"/>
              </a:spcAft>
            </a:pPr>
            <a:r>
              <a:rPr sz="1100">
                <a:solidFill>
                  <a:srgbClr val="D4D4D4"/>
                </a:solidFill>
                <a:latin typeface="Consolas"/>
              </a:rPr>
              <a:t>        "private: only code inside `money` can call this"</a:t>
            </a:r>
          </a:p>
          <a:p>
            <a:pPr>
              <a:spcAft>
                <a:spcPts val="100"/>
              </a:spcAft>
            </a:pPr>
            <a:r>
              <a:rPr sz="1100">
                <a:solidFill>
                  <a:srgbClr val="D4D4D4"/>
                </a:solidFill>
                <a:latin typeface="Consolas"/>
              </a:rPr>
              <a:t>    }</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    pub fn explain() -&gt; &amp;'static str {</a:t>
            </a:r>
          </a:p>
          <a:p>
            <a:pPr>
              <a:spcAft>
                <a:spcPts val="100"/>
              </a:spcAft>
            </a:pPr>
            <a:r>
              <a:rPr sz="1100">
                <a:solidFill>
                  <a:srgbClr val="D4D4D4"/>
                </a:solidFill>
                <a:latin typeface="Consolas"/>
              </a:rPr>
              <a:t>        secret_rule()</a:t>
            </a:r>
          </a:p>
          <a:p>
            <a:pPr>
              <a:spcAft>
                <a:spcPts val="100"/>
              </a:spcAft>
            </a:pPr>
            <a:r>
              <a:rPr sz="1100">
                <a:solidFill>
                  <a:srgbClr val="D4D4D4"/>
                </a:solidFill>
                <a:latin typeface="Consolas"/>
              </a:rPr>
              <a:t>    }</a:t>
            </a:r>
          </a:p>
          <a:p>
            <a:pPr>
              <a:spcAft>
                <a:spcPts val="100"/>
              </a:spcAft>
            </a:pPr>
            <a:r>
              <a:rPr sz="1100">
                <a:solidFill>
                  <a:srgbClr val="D4D4D4"/>
                </a:solidFill>
                <a:latin typeface="Consolas"/>
              </a:rPr>
              <a:t>}</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mod report {</a:t>
            </a:r>
          </a:p>
          <a:p>
            <a:pPr>
              <a:spcAft>
                <a:spcPts val="100"/>
              </a:spcAft>
            </a:pPr>
            <a:r>
              <a:rPr sz="1100">
                <a:solidFill>
                  <a:srgbClr val="6A9955"/>
                </a:solidFill>
                <a:latin typeface="Consolas"/>
              </a:rPr>
              <a:t>// ... full script: samples/01_inline_modules.rs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01_inline_modules.rs &amp;&amp; ./01_inline_modules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modules, pub visibility, paths with crate::, self:: and super::, and use ... as.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modules and code organisation.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5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Organise a crate into modules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money::format_cents(u64) -&gt; String renders "$D.CC". report::report_line(name, qty, unit_cents) -&gt; Option&lt;String&gt; renders "&lt;name&gt; x&lt;qty&gt; @ &lt;unit&gt; = &lt;total&gt;"; report::report joins lines with "\n" and fails wholly on overflow.</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Organise a crate into modules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solution/src/report.rs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6A9955"/>
                </a:solidFill>
                <a:latin typeface="Consolas"/>
              </a:rPr>
              <a:t>/// Builds `"&lt;name&gt; x&lt;qty&gt; @ &lt;unit&gt; = &lt;total&gt;"`, or `None` on overflow.</a:t>
            </a:r>
          </a:p>
          <a:p>
            <a:pPr>
              <a:spcAft>
                <a:spcPts val="100"/>
              </a:spcAft>
            </a:pPr>
            <a:r>
              <a:rPr sz="900">
                <a:solidFill>
                  <a:srgbClr val="C586C0"/>
                </a:solidFill>
                <a:latin typeface="Consolas"/>
              </a:rPr>
              <a:t>pub fn report_line(name: &amp;str, qty: u32, unit_cents: u64) -&gt; Option&lt;String&gt; {</a:t>
            </a:r>
          </a:p>
          <a:p>
            <a:pPr>
              <a:spcAft>
                <a:spcPts val="100"/>
              </a:spcAft>
            </a:pPr>
            <a:r>
              <a:rPr sz="900">
                <a:solidFill>
                  <a:srgbClr val="C586C0"/>
                </a:solidFill>
                <a:latin typeface="Consolas"/>
              </a:rPr>
              <a:t>    let total = unit_cents.checked_mul(u64::from(qty))?;</a:t>
            </a:r>
          </a:p>
          <a:p>
            <a:pPr>
              <a:spcAft>
                <a:spcPts val="100"/>
              </a:spcAft>
            </a:pPr>
            <a:r>
              <a:rPr sz="900">
                <a:solidFill>
                  <a:srgbClr val="D4D4D4"/>
                </a:solidFill>
                <a:latin typeface="Consolas"/>
              </a:rPr>
              <a:t>    Some(format!(</a:t>
            </a:r>
          </a:p>
          <a:p>
            <a:pPr>
              <a:spcAft>
                <a:spcPts val="100"/>
              </a:spcAft>
            </a:pPr>
            <a:r>
              <a:rPr sz="900">
                <a:solidFill>
                  <a:srgbClr val="D4D4D4"/>
                </a:solidFill>
                <a:latin typeface="Consolas"/>
              </a:rPr>
              <a:t>        "{name} x{qty} @ {} = {}",</a:t>
            </a:r>
          </a:p>
          <a:p>
            <a:pPr>
              <a:spcAft>
                <a:spcPts val="100"/>
              </a:spcAft>
            </a:pPr>
            <a:r>
              <a:rPr sz="900">
                <a:solidFill>
                  <a:srgbClr val="D4D4D4"/>
                </a:solidFill>
                <a:latin typeface="Consolas"/>
              </a:rPr>
              <a:t>        format_cents(unit_cents),</a:t>
            </a:r>
          </a:p>
          <a:p>
            <a:pPr>
              <a:spcAft>
                <a:spcPts val="100"/>
              </a:spcAft>
            </a:pPr>
            <a:r>
              <a:rPr sz="900">
                <a:solidFill>
                  <a:srgbClr val="D4D4D4"/>
                </a:solidFill>
                <a:latin typeface="Consolas"/>
              </a:rPr>
              <a:t>        format_cents(total)</a:t>
            </a:r>
          </a:p>
          <a:p>
            <a:pPr>
              <a:spcAft>
                <a:spcPts val="100"/>
              </a:spcAft>
            </a:pPr>
            <a:r>
              <a:rPr sz="900">
                <a:solidFill>
                  <a:srgbClr val="D4D4D4"/>
                </a:solidFill>
                <a:latin typeface="Consolas"/>
              </a:rPr>
              <a:t>    ))</a:t>
            </a:r>
          </a:p>
          <a:p>
            <a:pPr>
              <a:spcAft>
                <a:spcPts val="100"/>
              </a:spcAft>
            </a:pPr>
            <a:r>
              <a:rPr sz="9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mod</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pub mod money; loads src/money.rs as the module crate::money.</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pub</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Items are private by default; pub is a deliberate API decision.</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use crate::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report imports format_cents by its full path inside the crate.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collect</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Collecting Option&lt;Vec&lt;_&gt;&gt; stops at the first None.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5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Organise a crate into modules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100" b="0">
                <a:solidFill>
                  <a:srgbClr val="161B26"/>
                </a:solidFill>
                <a:latin typeface="Arial"/>
              </a:rPr>
              <a:t>•  Act as a senior Rust reviewer. Specification: money::format_cents(u64) -&gt; String renders "$D.CC". report::report_line(name, qty, unit_cents) -&gt; Option&lt;String&gt; renders "&lt;name&gt; x&lt;qty&gt; @ &lt;unit&gt; = &lt;total&gt;"; report::report joins lines with "\n" and fails wholly on overflow.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"Organise a crate into modules" in starter/src so that the supplied tests pass. Keep the two-module layout and public paths; do not merge modules to make tests pass.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Organise a crate into modules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4 passed; tests import activity05::money and activity05::report.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K2/A2 K4/A4 / 25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Load inventory JSON with Cargo dependencies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purchasing team exports inventory as JSON. You add serde and serde_json with Cargo, derive the data contract, and let the type system reject malformed records at the boundary.</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labs/activity-06-cargo-serde-json: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6 passed; stock value of data/inventory.json is 65,948 cents.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Load inventory JSON with Cargo dependencies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samples/01_manual_parsing.rs: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6A9955"/>
                </a:solidFill>
                <a:latin typeface="Consolas"/>
              </a:rPr>
              <a:t>// Sample: parsing "sku,qty" by hand - the work serde automates for JSON.</a:t>
            </a:r>
          </a:p>
          <a:p>
            <a:pPr>
              <a:spcAft>
                <a:spcPts val="100"/>
              </a:spcAft>
            </a:pPr>
            <a:r>
              <a:rPr sz="900">
                <a:solidFill>
                  <a:srgbClr val="C586C0"/>
                </a:solidFill>
                <a:latin typeface="Consolas"/>
              </a:rPr>
              <a:t>struct Item {</a:t>
            </a:r>
          </a:p>
          <a:p>
            <a:pPr>
              <a:spcAft>
                <a:spcPts val="100"/>
              </a:spcAft>
            </a:pPr>
            <a:r>
              <a:rPr sz="900">
                <a:solidFill>
                  <a:srgbClr val="D4D4D4"/>
                </a:solidFill>
                <a:latin typeface="Consolas"/>
              </a:rPr>
              <a:t>    sku: String,</a:t>
            </a:r>
          </a:p>
          <a:p>
            <a:pPr>
              <a:spcAft>
                <a:spcPts val="100"/>
              </a:spcAft>
            </a:pPr>
            <a:r>
              <a:rPr sz="900">
                <a:solidFill>
                  <a:srgbClr val="D4D4D4"/>
                </a:solidFill>
                <a:latin typeface="Consolas"/>
              </a:rPr>
              <a:t>    qty: u32,</a:t>
            </a:r>
          </a:p>
          <a:p>
            <a:pPr>
              <a:spcAft>
                <a:spcPts val="100"/>
              </a:spcAft>
            </a:pPr>
            <a:r>
              <a:rPr sz="900">
                <a:solidFill>
                  <a:srgbClr val="D4D4D4"/>
                </a:solidFill>
                <a:latin typeface="Consolas"/>
              </a:rPr>
              <a:t>}</a:t>
            </a:r>
          </a:p>
          <a:p>
            <a:pPr>
              <a:spcAft>
                <a:spcPts val="100"/>
              </a:spcAft>
            </a:pPr>
            <a:r>
              <a:rPr sz="900">
                <a:solidFill>
                  <a:srgbClr val="D4D4D4"/>
                </a:solidFill>
                <a:latin typeface="Consolas"/>
              </a:rPr>
              <a:t> </a:t>
            </a:r>
          </a:p>
          <a:p>
            <a:pPr>
              <a:spcAft>
                <a:spcPts val="100"/>
              </a:spcAft>
            </a:pPr>
            <a:r>
              <a:rPr sz="900">
                <a:solidFill>
                  <a:srgbClr val="C586C0"/>
                </a:solidFill>
                <a:latin typeface="Consolas"/>
              </a:rPr>
              <a:t>fn parse(line: &amp;str) -&gt; Result&lt;Item, String&gt; {</a:t>
            </a:r>
          </a:p>
          <a:p>
            <a:pPr>
              <a:spcAft>
                <a:spcPts val="100"/>
              </a:spcAft>
            </a:pPr>
            <a:r>
              <a:rPr sz="900">
                <a:solidFill>
                  <a:srgbClr val="C586C0"/>
                </a:solidFill>
                <a:latin typeface="Consolas"/>
              </a:rPr>
              <a:t>    let (sku, qty) = line.split_once(',').ok_or("expected sku,qty")?;</a:t>
            </a:r>
          </a:p>
          <a:p>
            <a:pPr>
              <a:spcAft>
                <a:spcPts val="100"/>
              </a:spcAft>
            </a:pPr>
            <a:r>
              <a:rPr sz="900">
                <a:solidFill>
                  <a:srgbClr val="C586C0"/>
                </a:solidFill>
                <a:latin typeface="Consolas"/>
              </a:rPr>
              <a:t>    let qty = qty.trim().parse::&lt;u32&gt;().map_err(|e| format!("qty: {e}"))?;</a:t>
            </a:r>
          </a:p>
          <a:p>
            <a:pPr>
              <a:spcAft>
                <a:spcPts val="100"/>
              </a:spcAft>
            </a:pPr>
            <a:r>
              <a:rPr sz="900">
                <a:solidFill>
                  <a:srgbClr val="D4D4D4"/>
                </a:solidFill>
                <a:latin typeface="Consolas"/>
              </a:rPr>
              <a:t>    Ok(Item {</a:t>
            </a:r>
          </a:p>
          <a:p>
            <a:pPr>
              <a:spcAft>
                <a:spcPts val="100"/>
              </a:spcAft>
            </a:pPr>
            <a:r>
              <a:rPr sz="900">
                <a:solidFill>
                  <a:srgbClr val="D4D4D4"/>
                </a:solidFill>
                <a:latin typeface="Consolas"/>
              </a:rPr>
              <a:t>        sku: sku.trim().to_string(),</a:t>
            </a:r>
          </a:p>
          <a:p>
            <a:pPr>
              <a:spcAft>
                <a:spcPts val="100"/>
              </a:spcAft>
            </a:pPr>
            <a:r>
              <a:rPr sz="900">
                <a:solidFill>
                  <a:srgbClr val="D4D4D4"/>
                </a:solidFill>
                <a:latin typeface="Consolas"/>
              </a:rPr>
              <a:t>        qty,</a:t>
            </a:r>
          </a:p>
          <a:p>
            <a:pPr>
              <a:spcAft>
                <a:spcPts val="100"/>
              </a:spcAft>
            </a:pPr>
            <a:r>
              <a:rPr sz="900">
                <a:solidFill>
                  <a:srgbClr val="D4D4D4"/>
                </a:solidFill>
                <a:latin typeface="Consolas"/>
              </a:rPr>
              <a:t>    })</a:t>
            </a:r>
          </a:p>
          <a:p>
            <a:pPr>
              <a:spcAft>
                <a:spcPts val="100"/>
              </a:spcAft>
            </a:pPr>
            <a:r>
              <a:rPr sz="900">
                <a:solidFill>
                  <a:srgbClr val="D4D4D4"/>
                </a:solidFill>
                <a:latin typeface="Consolas"/>
              </a:rPr>
              <a:t>}</a:t>
            </a:r>
          </a:p>
          <a:p>
            <a:pPr>
              <a:spcAft>
                <a:spcPts val="100"/>
              </a:spcAft>
            </a:pPr>
            <a:r>
              <a:rPr sz="900">
                <a:solidFill>
                  <a:srgbClr val="D4D4D4"/>
                </a:solidFill>
                <a:latin typeface="Consolas"/>
              </a:rPr>
              <a:t> </a:t>
            </a:r>
          </a:p>
          <a:p>
            <a:pPr>
              <a:spcAft>
                <a:spcPts val="100"/>
              </a:spcAft>
            </a:pPr>
            <a:r>
              <a:rPr sz="900">
                <a:solidFill>
                  <a:srgbClr val="C586C0"/>
                </a:solidFill>
                <a:latin typeface="Consolas"/>
              </a:rPr>
              <a:t>fn main() {</a:t>
            </a:r>
          </a:p>
          <a:p>
            <a:pPr>
              <a:spcAft>
                <a:spcPts val="100"/>
              </a:spcAft>
            </a:pPr>
            <a:r>
              <a:rPr sz="900">
                <a:solidFill>
                  <a:srgbClr val="6A9955"/>
                </a:solidFill>
                <a:latin typeface="Consolas"/>
              </a:rPr>
              <a:t>// ... full script: samples/01_manual_parsing.rs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01_manual_parsing.rs &amp;&amp; ./01_manual_parsing</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Cargo dependencies, Cargo.lock, parsing structured text and what serde automates.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packages, dependencies and data formats.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6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Load inventory JSON with Cargo dependencies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Item { sku, name, qty: u32, unit_cents: u64 } derives Serialize and Deserialize. load_items(&amp;str) -&gt; Result&lt;Vec&lt;Item&gt;, serde_json::Error&gt;; to_json(&amp;[Item]) -&gt; Result&lt;String, _&gt;; stock_value(&amp;[Item]) -&gt; Option&lt;u64&gt;.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Load inventory JSON with Cargo dependencies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Parses a JSON array of items; missing or mistyped fields are errors.</a:t>
            </a:r>
          </a:p>
          <a:p>
            <a:pPr>
              <a:spcAft>
                <a:spcPts val="100"/>
              </a:spcAft>
            </a:pPr>
            <a:r>
              <a:rPr sz="1000">
                <a:solidFill>
                  <a:srgbClr val="C586C0"/>
                </a:solidFill>
                <a:latin typeface="Consolas"/>
              </a:rPr>
              <a:t>pub fn load_items(json: &amp;str) -&gt; Result&lt;Vec&lt;Item&gt;, serde_json::Error&gt; {</a:t>
            </a:r>
          </a:p>
          <a:p>
            <a:pPr>
              <a:spcAft>
                <a:spcPts val="100"/>
              </a:spcAft>
            </a:pPr>
            <a:r>
              <a:rPr sz="1000">
                <a:solidFill>
                  <a:srgbClr val="D4D4D4"/>
                </a:solidFill>
                <a:latin typeface="Consolas"/>
              </a:rPr>
              <a:t>    serde_json::from_str(json)</a:t>
            </a:r>
          </a:p>
          <a:p>
            <a:pPr>
              <a:spcAft>
                <a:spcPts val="100"/>
              </a:spcAft>
            </a:pPr>
            <a:r>
              <a:rPr sz="10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Cargo.toml</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serde with the derive feature and serde_json are declared dependencies.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derive</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#[derive(Deserialize)] generates the parser from the struct definition.</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Types as validation</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qty: u32 makes -1 a parse error before business logic runs.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Cargo.lock</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Records the exact resolved versions so every learner builds the same code.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6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Load inventory JSON with Cargo dependencies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200" b="0">
                <a:solidFill>
                  <a:srgbClr val="161B26"/>
                </a:solidFill>
                <a:latin typeface="Arial"/>
              </a:rPr>
              <a:t>•  Act as a senior Rust reviewer. Specification: Item { sku, name, qty: u32, unit_cents: u64 } derives Serialize and Deserialize. load_items(&amp;str) -&gt; Result&lt;Vec&lt;Item&gt;, serde_json::Error&gt;; to_json(&amp;[Item]) -&gt; Result&lt;String, _&gt;; stock_value(&amp;[Item]) -&gt; Option&lt;u64&gt;.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"Load inventory JSON with Cargo dependencies" in starter/src so that the supplied tests pass. Use serde derive only; do not hand-write JSON parsing or add other crates.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Load inventory JSON with Cargo dependencies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6 passed; stock value of data/inventory.json is 65,948 cents.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3 / K3/A3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Rust Programming Controls, Functions and Features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Activities 7-9 / concepts, contracts, failure modes and evidence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med" advClick="1">
    <p:push dir="l"/>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if and match are expressions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C586C0"/>
                </a:solidFill>
                <a:latin typeface="Consolas"/>
              </a:rPr>
              <a:t>let label = if qty == 0 { "out" } else { "in stock" };</a:t>
            </a:r>
          </a:p>
          <a:p>
            <a:pPr>
              <a:spcAft>
                <a:spcPts val="100"/>
              </a:spcAft>
            </a:pPr>
            <a:r>
              <a:rPr sz="1200">
                <a:solidFill>
                  <a:srgbClr val="D4D4D4"/>
                </a:solidFill>
                <a:latin typeface="Consolas"/>
              </a:rPr>
              <a:t> </a:t>
            </a:r>
          </a:p>
          <a:p>
            <a:pPr>
              <a:spcAft>
                <a:spcPts val="100"/>
              </a:spcAft>
            </a:pPr>
            <a:r>
              <a:rPr sz="1200">
                <a:solidFill>
                  <a:srgbClr val="C586C0"/>
                </a:solidFill>
                <a:latin typeface="Consolas"/>
              </a:rPr>
              <a:t>let status = match qty {</a:t>
            </a:r>
          </a:p>
          <a:p>
            <a:pPr>
              <a:spcAft>
                <a:spcPts val="100"/>
              </a:spcAft>
            </a:pPr>
            <a:r>
              <a:rPr sz="1200">
                <a:solidFill>
                  <a:srgbClr val="D4D4D4"/>
                </a:solidFill>
                <a:latin typeface="Consolas"/>
              </a:rPr>
              <a:t>    0 =&gt; "out of stock",</a:t>
            </a:r>
          </a:p>
          <a:p>
            <a:pPr>
              <a:spcAft>
                <a:spcPts val="100"/>
              </a:spcAft>
            </a:pPr>
            <a:r>
              <a:rPr sz="1200">
                <a:solidFill>
                  <a:srgbClr val="D4D4D4"/>
                </a:solidFill>
                <a:latin typeface="Consolas"/>
              </a:rPr>
              <a:t>    1..=4 =&gt; "low",</a:t>
            </a:r>
          </a:p>
          <a:p>
            <a:pPr>
              <a:spcAft>
                <a:spcPts val="100"/>
              </a:spcAft>
            </a:pPr>
            <a:r>
              <a:rPr sz="1200">
                <a:solidFill>
                  <a:srgbClr val="D4D4D4"/>
                </a:solidFill>
                <a:latin typeface="Consolas"/>
              </a:rPr>
              <a:t>    5..=99 =&gt; "ok",</a:t>
            </a:r>
          </a:p>
          <a:p>
            <a:pPr>
              <a:spcAft>
                <a:spcPts val="100"/>
              </a:spcAft>
            </a:pPr>
            <a:r>
              <a:rPr sz="1200">
                <a:solidFill>
                  <a:srgbClr val="D4D4D4"/>
                </a:solidFill>
                <a:latin typeface="Consolas"/>
              </a:rPr>
              <a:t>    _ =&gt; "bulk",</a:t>
            </a:r>
          </a:p>
          <a:p>
            <a:pPr>
              <a:spcAft>
                <a:spcPts val="100"/>
              </a:spcAft>
            </a:pPr>
            <a:r>
              <a:rPr sz="12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Expression</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if and match produce a value you can bind with let.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Same type</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Every branch must return the same type.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Ranges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1..=4 matches 1, 2, 3 and 4 inclusive.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Wildcard</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_ matches everything else; use it deliberately.</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K3/A3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if and match are expressions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Boolean</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Conditions must be bool; there is no truthy integer.</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Exhaustive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match must cover every possible value.</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Order</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Arms are tried top to bottom; the first match wins.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Tests</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Test each range boundary: 0, 1, 4, 5, 99, 100.</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Boundary tests cover every arm.</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K3/A3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if and match are expressions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error[E0004]: non-exhaustive patterns</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Add the missing arm (the compiler lists it) instead of a blanket _ that hides it.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Boundary tests cover every arm.</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enum + match model every case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C586C0"/>
                </a:solidFill>
                <a:latin typeface="Consolas"/>
              </a:rPr>
              <a:t>enum Movement { Receive(u32), Ship(u32), Adjust(i64) }</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match movement {</a:t>
            </a:r>
          </a:p>
          <a:p>
            <a:pPr>
              <a:spcAft>
                <a:spcPts val="100"/>
              </a:spcAft>
            </a:pPr>
            <a:r>
              <a:rPr sz="1100">
                <a:solidFill>
                  <a:srgbClr val="D4D4D4"/>
                </a:solidFill>
                <a:latin typeface="Consolas"/>
              </a:rPr>
              <a:t>    Movement::Receive(q) =&gt; stock.checked_add(q)</a:t>
            </a:r>
          </a:p>
          <a:p>
            <a:pPr>
              <a:spcAft>
                <a:spcPts val="100"/>
              </a:spcAft>
            </a:pPr>
            <a:r>
              <a:rPr sz="1100">
                <a:solidFill>
                  <a:srgbClr val="D4D4D4"/>
                </a:solidFill>
                <a:latin typeface="Consolas"/>
              </a:rPr>
              <a:t>        .ok_or(StockError::Overflow),</a:t>
            </a:r>
          </a:p>
          <a:p>
            <a:pPr>
              <a:spcAft>
                <a:spcPts val="100"/>
              </a:spcAft>
            </a:pPr>
            <a:r>
              <a:rPr sz="1100">
                <a:solidFill>
                  <a:srgbClr val="D4D4D4"/>
                </a:solidFill>
                <a:latin typeface="Consolas"/>
              </a:rPr>
              <a:t>    Movement::Ship(q) if q &gt; stock =&gt; Err(Insufficient {..}),</a:t>
            </a:r>
          </a:p>
          <a:p>
            <a:pPr>
              <a:spcAft>
                <a:spcPts val="100"/>
              </a:spcAft>
            </a:pPr>
            <a:r>
              <a:rPr sz="1100">
                <a:solidFill>
                  <a:srgbClr val="D4D4D4"/>
                </a:solidFill>
                <a:latin typeface="Consolas"/>
              </a:rPr>
              <a:t>    Movement::Ship(q) =&gt; Ok(stock - q),</a:t>
            </a:r>
          </a:p>
          <a:p>
            <a:pPr>
              <a:spcAft>
                <a:spcPts val="100"/>
              </a:spcAft>
            </a:pPr>
            <a:r>
              <a:rPr sz="1100">
                <a:solidFill>
                  <a:srgbClr val="D4D4D4"/>
                </a:solidFill>
                <a:latin typeface="Consolas"/>
              </a:rPr>
              <a:t>    Movement::Adjust(d) =&gt; adjust(stock, d),</a:t>
            </a:r>
          </a:p>
          <a:p>
            <a:pPr>
              <a:spcAft>
                <a:spcPts val="100"/>
              </a:spcAft>
            </a:pPr>
            <a:r>
              <a:rPr sz="11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Variants with data</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Each variant carries exactly the data it needs.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Guards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if q &gt; stock refines an arm with a condition.</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Compiler help</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Adding a variant makes every incomplete match fail to compile.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Errors as enums</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StockError names each failure for callers and tests.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K3/A3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enum + match model every case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Receive</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checked_add; Overflow on u32 overflow.</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Ship</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Insufficient when requested &gt; available.</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Adjust</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NegativeResult below zero; Overflow above u32.</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Sequence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apply_all stops at the first error.</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7: six tests cover every variant and every error.</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K3/A3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enum + match model every case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New variant silently ignored</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Avoid _ in matches over your own enums so the compiler lists every place to update.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7: six tests cover every variant and every error.</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Loops: for, while and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C586C0"/>
                </a:solidFill>
                <a:latin typeface="Consolas"/>
              </a:rPr>
              <a:t>for item in &amp;items {                 // iterate by reference</a:t>
            </a:r>
          </a:p>
          <a:p>
            <a:pPr>
              <a:spcAft>
                <a:spcPts val="100"/>
              </a:spcAft>
            </a:pPr>
            <a:r>
              <a:rPr sz="1100">
                <a:solidFill>
                  <a:srgbClr val="D4D4D4"/>
                </a:solidFill>
                <a:latin typeface="Consolas"/>
              </a:rPr>
              <a:t>    total += u64::from(item.qty);</a:t>
            </a:r>
          </a:p>
          <a:p>
            <a:pPr>
              <a:spcAft>
                <a:spcPts val="100"/>
              </a:spcAft>
            </a:pPr>
            <a:r>
              <a:rPr sz="1100">
                <a:solidFill>
                  <a:srgbClr val="D4D4D4"/>
                </a:solidFill>
                <a:latin typeface="Consolas"/>
              </a:rPr>
              <a:t>}</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for (index, line) in text.lines().enumerate() { /* .. */ }</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let mut attempts = 0;</a:t>
            </a:r>
          </a:p>
          <a:p>
            <a:pPr>
              <a:spcAft>
                <a:spcPts val="100"/>
              </a:spcAft>
            </a:pPr>
            <a:r>
              <a:rPr sz="1100">
                <a:solidFill>
                  <a:srgbClr val="C586C0"/>
                </a:solidFill>
                <a:latin typeface="Consolas"/>
              </a:rPr>
              <a:t>let code = loop {                    // loop can return a value</a:t>
            </a:r>
          </a:p>
          <a:p>
            <a:pPr>
              <a:spcAft>
                <a:spcPts val="100"/>
              </a:spcAft>
            </a:pPr>
            <a:r>
              <a:rPr sz="1100">
                <a:solidFill>
                  <a:srgbClr val="D4D4D4"/>
                </a:solidFill>
                <a:latin typeface="Consolas"/>
              </a:rPr>
              <a:t>    attempts += 1;</a:t>
            </a:r>
          </a:p>
          <a:p>
            <a:pPr>
              <a:spcAft>
                <a:spcPts val="100"/>
              </a:spcAft>
            </a:pPr>
            <a:r>
              <a:rPr sz="1100">
                <a:solidFill>
                  <a:srgbClr val="C586C0"/>
                </a:solidFill>
                <a:latin typeface="Consolas"/>
              </a:rPr>
              <a:t>    if attempts == 3 { break "gave up"; }</a:t>
            </a:r>
          </a:p>
          <a:p>
            <a:pPr>
              <a:spcAft>
                <a:spcPts val="100"/>
              </a:spcAft>
            </a:pPr>
            <a:r>
              <a:rPr sz="11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for</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Iterates over anything that implements IntoIterator.</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&amp;items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Borrows each element; items stays usable afterwards.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enumerate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Adds a 0-based index; add 1 for human line numbers.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loop/break</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An infinite loop that can return a value with break.</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K3/A3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Loops: for, while and loop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Preferred</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for over iterators; no manual index bounds to get wrong.</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while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When the stop condition is not a collection end.</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continue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Skip blank lines and headers early.</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Early exit</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 inside a loop returns the first error from the function.</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10 numbers errors from 1 and skips header and blank lines.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K3/A3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Loops: for, while and loop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index out of bounds panic</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Iterate with for x in &amp;v or use v.get(i) which returns Option.</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10 numbers errors from 1 and skips header and blank lines.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Structs and impl blocks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6A9955"/>
                </a:solidFill>
                <a:latin typeface="Consolas"/>
              </a:rPr>
              <a:t>#[derive(Debug, Default)]</a:t>
            </a:r>
          </a:p>
          <a:p>
            <a:pPr>
              <a:spcAft>
                <a:spcPts val="100"/>
              </a:spcAft>
            </a:pPr>
            <a:r>
              <a:rPr sz="1200">
                <a:solidFill>
                  <a:srgbClr val="C586C0"/>
                </a:solidFill>
                <a:latin typeface="Consolas"/>
              </a:rPr>
              <a:t>pub struct Inventory {</a:t>
            </a:r>
          </a:p>
          <a:p>
            <a:pPr>
              <a:spcAft>
                <a:spcPts val="100"/>
              </a:spcAft>
            </a:pPr>
            <a:r>
              <a:rPr sz="1200">
                <a:solidFill>
                  <a:srgbClr val="D4D4D4"/>
                </a:solidFill>
                <a:latin typeface="Consolas"/>
              </a:rPr>
              <a:t>    stock: HashMap&lt;String, u32&gt;,    // private field</a:t>
            </a:r>
          </a:p>
          <a:p>
            <a:pPr>
              <a:spcAft>
                <a:spcPts val="100"/>
              </a:spcAft>
            </a:pPr>
            <a:r>
              <a:rPr sz="1200">
                <a:solidFill>
                  <a:srgbClr val="D4D4D4"/>
                </a:solidFill>
                <a:latin typeface="Consolas"/>
              </a:rPr>
              <a:t>}</a:t>
            </a:r>
          </a:p>
          <a:p>
            <a:pPr>
              <a:spcAft>
                <a:spcPts val="100"/>
              </a:spcAft>
            </a:pPr>
            <a:r>
              <a:rPr sz="1200">
                <a:solidFill>
                  <a:srgbClr val="D4D4D4"/>
                </a:solidFill>
                <a:latin typeface="Consolas"/>
              </a:rPr>
              <a:t> </a:t>
            </a:r>
          </a:p>
          <a:p>
            <a:pPr>
              <a:spcAft>
                <a:spcPts val="100"/>
              </a:spcAft>
            </a:pPr>
            <a:r>
              <a:rPr sz="1200">
                <a:solidFill>
                  <a:srgbClr val="C586C0"/>
                </a:solidFill>
                <a:latin typeface="Consolas"/>
              </a:rPr>
              <a:t>impl Inventory {</a:t>
            </a:r>
          </a:p>
          <a:p>
            <a:pPr>
              <a:spcAft>
                <a:spcPts val="100"/>
              </a:spcAft>
            </a:pPr>
            <a:r>
              <a:rPr sz="1200">
                <a:solidFill>
                  <a:srgbClr val="C586C0"/>
                </a:solidFill>
                <a:latin typeface="Consolas"/>
              </a:rPr>
              <a:t>    pub fn new() -&gt; Self { Self::default() }</a:t>
            </a:r>
          </a:p>
          <a:p>
            <a:pPr>
              <a:spcAft>
                <a:spcPts val="100"/>
              </a:spcAft>
            </a:pPr>
            <a:r>
              <a:rPr sz="1200">
                <a:solidFill>
                  <a:srgbClr val="C586C0"/>
                </a:solidFill>
                <a:latin typeface="Consolas"/>
              </a:rPr>
              <a:t>    pub fn quantity(&amp;self, sku: &amp;str) -&gt; u32 { .. }</a:t>
            </a:r>
          </a:p>
          <a:p>
            <a:pPr>
              <a:spcAft>
                <a:spcPts val="100"/>
              </a:spcAft>
            </a:pPr>
            <a:r>
              <a:rPr sz="1200">
                <a:solidFill>
                  <a:srgbClr val="C586C0"/>
                </a:solidFill>
                <a:latin typeface="Consolas"/>
              </a:rPr>
              <a:t>    pub fn ship(&amp;mut self, sku: &amp;str, qty: u32)</a:t>
            </a:r>
          </a:p>
          <a:p>
            <a:pPr>
              <a:spcAft>
                <a:spcPts val="100"/>
              </a:spcAft>
            </a:pPr>
            <a:r>
              <a:rPr sz="1200">
                <a:solidFill>
                  <a:srgbClr val="D4D4D4"/>
                </a:solidFill>
                <a:latin typeface="Consolas"/>
              </a:rPr>
              <a:t>        -&gt; Result&lt;u32, String&gt; { .. }</a:t>
            </a:r>
          </a:p>
          <a:p>
            <a:pPr>
              <a:spcAft>
                <a:spcPts val="100"/>
              </a:spcAft>
            </a:pPr>
            <a:r>
              <a:rPr sz="12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Struct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Groups related data under one named type.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Private fields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Force every change through methods that keep the rules.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&amp;self / &amp;mut self</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Methods declare whether they read or change the value.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derive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Debug, Clone, PartialEq, Default generated by the compiler.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K3/A3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Structs and impl blocks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Constructor</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new() by convention; Default for empty values.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Readers</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&amp;self methods such as quantity and low_stock.</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Writers</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&amp;mut self methods such as receive and ship.</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Invariant</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Stock never goes below zero because only ship can reduce it.</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8: callers cannot touch the HashMap directly and six tests pass.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K3/A3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Structs and impl blocks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cannot borrow as mutable (E0596)</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Declare the variable with let mut, or change the method to take &amp;self if it only reads.</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8: callers cannot touch the HashMap directly and six tests pass.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Collections: Vec and HashMap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C586C0"/>
                </a:solidFill>
                <a:latin typeface="Consolas"/>
              </a:rPr>
              <a:t>let mut skus: Vec&lt;String&gt; = Vec::new();</a:t>
            </a:r>
          </a:p>
          <a:p>
            <a:pPr>
              <a:spcAft>
                <a:spcPts val="100"/>
              </a:spcAft>
            </a:pPr>
            <a:r>
              <a:rPr sz="1200">
                <a:solidFill>
                  <a:srgbClr val="D4D4D4"/>
                </a:solidFill>
                <a:latin typeface="Consolas"/>
              </a:rPr>
              <a:t>skus.push("ABC-0001".to_string());</a:t>
            </a:r>
          </a:p>
          <a:p>
            <a:pPr>
              <a:spcAft>
                <a:spcPts val="100"/>
              </a:spcAft>
            </a:pPr>
            <a:r>
              <a:rPr sz="1200">
                <a:solidFill>
                  <a:srgbClr val="D4D4D4"/>
                </a:solidFill>
                <a:latin typeface="Consolas"/>
              </a:rPr>
              <a:t>skus.sort();</a:t>
            </a:r>
          </a:p>
          <a:p>
            <a:pPr>
              <a:spcAft>
                <a:spcPts val="100"/>
              </a:spcAft>
            </a:pPr>
            <a:r>
              <a:rPr sz="1200">
                <a:solidFill>
                  <a:srgbClr val="D4D4D4"/>
                </a:solidFill>
                <a:latin typeface="Consolas"/>
              </a:rPr>
              <a:t> </a:t>
            </a:r>
          </a:p>
          <a:p>
            <a:pPr>
              <a:spcAft>
                <a:spcPts val="100"/>
              </a:spcAft>
            </a:pPr>
            <a:r>
              <a:rPr sz="1200">
                <a:solidFill>
                  <a:srgbClr val="C586C0"/>
                </a:solidFill>
                <a:latin typeface="Consolas"/>
              </a:rPr>
              <a:t>let mut stock: HashMap&lt;String, u32&gt; = HashMap::new();</a:t>
            </a:r>
          </a:p>
          <a:p>
            <a:pPr>
              <a:spcAft>
                <a:spcPts val="100"/>
              </a:spcAft>
            </a:pPr>
            <a:r>
              <a:rPr sz="1200">
                <a:solidFill>
                  <a:srgbClr val="D4D4D4"/>
                </a:solidFill>
                <a:latin typeface="Consolas"/>
              </a:rPr>
              <a:t>*stock.entry("ABC-0001".into()).or_insert(0) += 5;</a:t>
            </a:r>
          </a:p>
          <a:p>
            <a:pPr>
              <a:spcAft>
                <a:spcPts val="100"/>
              </a:spcAft>
            </a:pPr>
            <a:r>
              <a:rPr sz="1200">
                <a:solidFill>
                  <a:srgbClr val="C586C0"/>
                </a:solidFill>
                <a:latin typeface="Consolas"/>
              </a:rPr>
              <a:t>let level = stock.get("ABC-0001").copied().unwrap_or(0);</a:t>
            </a:r>
          </a:p>
          <a:p>
            <a:pPr>
              <a:spcAft>
                <a:spcPts val="100"/>
              </a:spcAft>
            </a:pPr>
            <a:r>
              <a:rPr sz="1200">
                <a:solidFill>
                  <a:srgbClr val="D4D4D4"/>
                </a:solidFill>
                <a:latin typeface="Consolas"/>
              </a:rPr>
              <a:t> </a:t>
            </a:r>
          </a:p>
          <a:p>
            <a:pPr>
              <a:spcAft>
                <a:spcPts val="100"/>
              </a:spcAft>
            </a:pPr>
            <a:r>
              <a:rPr sz="1200">
                <a:solidFill>
                  <a:srgbClr val="C586C0"/>
                </a:solidFill>
                <a:latin typeface="Consolas"/>
              </a:rPr>
              <a:t>if let Some(q) = stock.get_mut("ABC-0001") { *q -= 1; }</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Vec&lt;T&gt;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Growable, ordered list; index or iterate.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HashMap&lt;K, V&gt;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Key lookup in constant average time; no order.</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entry API</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Insert-or-update with a single lookup.</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get returns Option</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 missing key is a normal case, not a crash.</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fast"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K3/A3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Collections: Vec and HashMap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Order</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Sort before output because HashMap order is random.</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Ownership</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Keys are owned Strings; look up with &amp;str.</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Missing key</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unwrap_or(0) or an explicit error, never map[key] panic.</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Choice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Vec for sequences; HashMap for lookup by id.</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low_stock returns a sorted Vec so tests are deterministic.</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spd="fast" advClick="1">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K3/A3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Collections: Vec and HashMap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Test passes locally, fails elsewhere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Output depended on HashMap order; sort the result before comparing.</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low_stock returns a sorted Vec so tests are deterministic.</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Traits and generics share behaviour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C586C0"/>
                </a:solidFill>
                <a:latin typeface="Consolas"/>
              </a:rPr>
              <a:t>pub trait Priced {</a:t>
            </a:r>
          </a:p>
          <a:p>
            <a:pPr>
              <a:spcAft>
                <a:spcPts val="100"/>
              </a:spcAft>
            </a:pPr>
            <a:r>
              <a:rPr sz="1000">
                <a:solidFill>
                  <a:srgbClr val="C586C0"/>
                </a:solidFill>
                <a:latin typeface="Consolas"/>
              </a:rPr>
              <a:t>    fn unit_cents(&amp;self) -&gt; u64;</a:t>
            </a:r>
          </a:p>
          <a:p>
            <a:pPr>
              <a:spcAft>
                <a:spcPts val="100"/>
              </a:spcAft>
            </a:pPr>
            <a:r>
              <a:rPr sz="1000">
                <a:solidFill>
                  <a:srgbClr val="C586C0"/>
                </a:solidFill>
                <a:latin typeface="Consolas"/>
              </a:rPr>
              <a:t>    fn quantity(&amp;self) -&gt; u32;</a:t>
            </a:r>
          </a:p>
          <a:p>
            <a:pPr>
              <a:spcAft>
                <a:spcPts val="100"/>
              </a:spcAft>
            </a:pPr>
            <a:r>
              <a:rPr sz="1000">
                <a:solidFill>
                  <a:srgbClr val="C586C0"/>
                </a:solidFill>
                <a:latin typeface="Consolas"/>
              </a:rPr>
              <a:t>    fn line_cents(&amp;self) -&gt; Option&lt;u64&gt; {       // default</a:t>
            </a:r>
          </a:p>
          <a:p>
            <a:pPr>
              <a:spcAft>
                <a:spcPts val="100"/>
              </a:spcAft>
            </a:pPr>
            <a:r>
              <a:rPr sz="1000">
                <a:solidFill>
                  <a:srgbClr val="D4D4D4"/>
                </a:solidFill>
                <a:latin typeface="Consolas"/>
              </a:rPr>
              <a:t>        self.unit_cents().checked_mul(u64::from(self.quantity()))</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a:t>
            </a:r>
          </a:p>
          <a:p>
            <a:pPr>
              <a:spcAft>
                <a:spcPts val="100"/>
              </a:spcAft>
            </a:pPr>
            <a:r>
              <a:rPr sz="1000">
                <a:solidFill>
                  <a:srgbClr val="C586C0"/>
                </a:solidFill>
                <a:latin typeface="Consolas"/>
              </a:rPr>
              <a:t>impl Priced for Product { .. }</a:t>
            </a:r>
          </a:p>
          <a:p>
            <a:pPr>
              <a:spcAft>
                <a:spcPts val="100"/>
              </a:spcAft>
            </a:pPr>
            <a:r>
              <a:rPr sz="1000">
                <a:solidFill>
                  <a:srgbClr val="C586C0"/>
                </a:solidFill>
                <a:latin typeface="Consolas"/>
              </a:rPr>
              <a:t>impl Priced for Service { .. }</a:t>
            </a:r>
          </a:p>
          <a:p>
            <a:pPr>
              <a:spcAft>
                <a:spcPts val="100"/>
              </a:spcAft>
            </a:pPr>
            <a:r>
              <a:rPr sz="1000">
                <a:solidFill>
                  <a:srgbClr val="D4D4D4"/>
                </a:solidFill>
                <a:latin typeface="Consolas"/>
              </a:rPr>
              <a:t> </a:t>
            </a:r>
          </a:p>
          <a:p>
            <a:pPr>
              <a:spcAft>
                <a:spcPts val="100"/>
              </a:spcAft>
            </a:pPr>
            <a:r>
              <a:rPr sz="1000">
                <a:solidFill>
                  <a:srgbClr val="C586C0"/>
                </a:solidFill>
                <a:latin typeface="Consolas"/>
              </a:rPr>
              <a:t>fn order_total&lt;T: Priced&gt;(lines: &amp;[T]) -&gt; Option&lt;u64&gt;</a:t>
            </a:r>
          </a:p>
          <a:p>
            <a:pPr>
              <a:spcAft>
                <a:spcPts val="100"/>
              </a:spcAft>
            </a:pPr>
            <a:r>
              <a:rPr sz="1000">
                <a:solidFill>
                  <a:srgbClr val="C586C0"/>
                </a:solidFill>
                <a:latin typeface="Consolas"/>
              </a:rPr>
              <a:t>fn mixed_total(lines: &amp;[&amp;dyn Priced]) -&gt; Option&lt;u64&gt;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Trait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 named set of methods a type promises to provide.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Default method</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Written once, inherited by every implementor.</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Generic T: Priced</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One type per call, resolved at compile time (fast).</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&amp;dyn Priced</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Different types in one list, resolved at run time.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K3/A3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Traits and generics share behaviour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Contract</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Implementors supply unit_cents and quantity only.</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Extension</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 new type joins by implementing the trait; totals are unchanged.</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Dispatch</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Generics for speed; trait objects for mixed collections.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Tests</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Test the default method once via any implementor.</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9 totals products, services and a mixed order.</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K3/A3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Traits and generics share behaviour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the trait bound `X: Priced` is not satisfied</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Implement Priced for X, or pass a type that already implements it.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9 totals products, services and a mixed order.</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Closures and iterator chains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C586C0"/>
                </a:solidFill>
                <a:latin typeface="Consolas"/>
              </a:rPr>
              <a:t>let expensive: Vec&lt;&amp;str&gt; = products</a:t>
            </a:r>
          </a:p>
          <a:p>
            <a:pPr>
              <a:spcAft>
                <a:spcPts val="100"/>
              </a:spcAft>
            </a:pPr>
            <a:r>
              <a:rPr sz="1200">
                <a:solidFill>
                  <a:srgbClr val="D4D4D4"/>
                </a:solidFill>
                <a:latin typeface="Consolas"/>
              </a:rPr>
              <a:t>    .iter()</a:t>
            </a:r>
          </a:p>
          <a:p>
            <a:pPr>
              <a:spcAft>
                <a:spcPts val="100"/>
              </a:spcAft>
            </a:pPr>
            <a:r>
              <a:rPr sz="1200">
                <a:solidFill>
                  <a:srgbClr val="D4D4D4"/>
                </a:solidFill>
                <a:latin typeface="Consolas"/>
              </a:rPr>
              <a:t>    .filter(|p| p.unit_cents &gt;= 1_000)</a:t>
            </a:r>
          </a:p>
          <a:p>
            <a:pPr>
              <a:spcAft>
                <a:spcPts val="100"/>
              </a:spcAft>
            </a:pPr>
            <a:r>
              <a:rPr sz="1200">
                <a:solidFill>
                  <a:srgbClr val="D4D4D4"/>
                </a:solidFill>
                <a:latin typeface="Consolas"/>
              </a:rPr>
              <a:t>    .map(|p| p.name.as_str())</a:t>
            </a:r>
          </a:p>
          <a:p>
            <a:pPr>
              <a:spcAft>
                <a:spcPts val="100"/>
              </a:spcAft>
            </a:pPr>
            <a:r>
              <a:rPr sz="1200">
                <a:solidFill>
                  <a:srgbClr val="D4D4D4"/>
                </a:solidFill>
                <a:latin typeface="Consolas"/>
              </a:rPr>
              <a:t>    .collect();</a:t>
            </a:r>
          </a:p>
          <a:p>
            <a:pPr>
              <a:spcAft>
                <a:spcPts val="100"/>
              </a:spcAft>
            </a:pPr>
            <a:r>
              <a:rPr sz="1200">
                <a:solidFill>
                  <a:srgbClr val="D4D4D4"/>
                </a:solidFill>
                <a:latin typeface="Consolas"/>
              </a:rPr>
              <a:t> </a:t>
            </a:r>
          </a:p>
          <a:p>
            <a:pPr>
              <a:spcAft>
                <a:spcPts val="100"/>
              </a:spcAft>
            </a:pPr>
            <a:r>
              <a:rPr sz="1200">
                <a:solidFill>
                  <a:srgbClr val="C586C0"/>
                </a:solidFill>
                <a:latin typeface="Consolas"/>
              </a:rPr>
              <a:t>let total = lines.iter().try_fold(0u64, |acc, line| {</a:t>
            </a:r>
          </a:p>
          <a:p>
            <a:pPr>
              <a:spcAft>
                <a:spcPts val="100"/>
              </a:spcAft>
            </a:pPr>
            <a:r>
              <a:rPr sz="1200">
                <a:solidFill>
                  <a:srgbClr val="D4D4D4"/>
                </a:solidFill>
                <a:latin typeface="Consolas"/>
              </a:rPr>
              <a:t>    acc.checked_add(line.line_cents()?)</a:t>
            </a:r>
          </a:p>
          <a:p>
            <a:pPr>
              <a:spcAft>
                <a:spcPts val="100"/>
              </a:spcAft>
            </a:pPr>
            <a:r>
              <a:rPr sz="12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Closure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 ... is an anonymous function that can capture variables.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Lazy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filter and map do nothing until collect or a fold consumes them.</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collect</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target type (Vec, String, Option&lt;Vec&gt;) decides the result.</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try_fold</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 fold that stops at the first None or Err.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ransition spd="fast"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K3/A3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Closures and iterator chains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Readability</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Each step names one transformation.</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Safety</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No manual indexes, so no out-of-bounds errors.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Performance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Compiles to the same machine code as a hand loop.</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Order</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Iterator chains keep input order unless you sort.</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names_at_least keeps input order; try_fold returns None on overflow.</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ransition spd="fast" advClick="1">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K3/A3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Closures and iterator chains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value of type Vec&lt;&amp;str&gt; cannot be built from iterator</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Check what map returns (&amp;str vs String) and annotate the collect target type.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names_at_least keeps input order; try_fold returns None on overflow.</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ransition spd="fast"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Option and Result are control features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C586C0"/>
                </a:solidFill>
                <a:latin typeface="Consolas"/>
              </a:rPr>
              <a:t>fn find(sku: &amp;str) -&gt; Option&lt;u32&gt;              // may be absent</a:t>
            </a:r>
          </a:p>
          <a:p>
            <a:pPr>
              <a:spcAft>
                <a:spcPts val="100"/>
              </a:spcAft>
            </a:pPr>
            <a:r>
              <a:rPr sz="1100">
                <a:solidFill>
                  <a:srgbClr val="C586C0"/>
                </a:solidFill>
                <a:latin typeface="Consolas"/>
              </a:rPr>
              <a:t>fn ship(sku: &amp;str, q: u32) -&gt; Result&lt;u32, String&gt; // may fail</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match find("ABC-0001") {</a:t>
            </a:r>
          </a:p>
          <a:p>
            <a:pPr>
              <a:spcAft>
                <a:spcPts val="100"/>
              </a:spcAft>
            </a:pPr>
            <a:r>
              <a:rPr sz="1100">
                <a:solidFill>
                  <a:srgbClr val="D4D4D4"/>
                </a:solidFill>
                <a:latin typeface="Consolas"/>
              </a:rPr>
              <a:t>    Some(q) =&gt; println!("{q} on hand"),</a:t>
            </a:r>
          </a:p>
          <a:p>
            <a:pPr>
              <a:spcAft>
                <a:spcPts val="100"/>
              </a:spcAft>
            </a:pPr>
            <a:r>
              <a:rPr sz="1100">
                <a:solidFill>
                  <a:srgbClr val="D4D4D4"/>
                </a:solidFill>
                <a:latin typeface="Consolas"/>
              </a:rPr>
              <a:t>    None =&gt; println!("unknown SKU"),</a:t>
            </a:r>
          </a:p>
          <a:p>
            <a:pPr>
              <a:spcAft>
                <a:spcPts val="100"/>
              </a:spcAft>
            </a:pPr>
            <a:r>
              <a:rPr sz="1100">
                <a:solidFill>
                  <a:srgbClr val="D4D4D4"/>
                </a:solidFill>
                <a:latin typeface="Consolas"/>
              </a:rPr>
              <a:t>}</a:t>
            </a:r>
          </a:p>
          <a:p>
            <a:pPr>
              <a:spcAft>
                <a:spcPts val="100"/>
              </a:spcAft>
            </a:pPr>
            <a:r>
              <a:rPr sz="1100">
                <a:solidFill>
                  <a:srgbClr val="C586C0"/>
                </a:solidFill>
                <a:latin typeface="Consolas"/>
              </a:rPr>
              <a:t>let q = find("ABC-0001").unwrap_or(0);</a:t>
            </a:r>
          </a:p>
          <a:p>
            <a:pPr>
              <a:spcAft>
                <a:spcPts val="100"/>
              </a:spcAft>
            </a:pPr>
            <a:r>
              <a:rPr sz="1100">
                <a:solidFill>
                  <a:srgbClr val="C586C0"/>
                </a:solidFill>
                <a:latin typeface="Consolas"/>
              </a:rPr>
              <a:t>let left = ship("ABC-0001", 2)?;               // propagate</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Option&lt;T&gt;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Some(value) or None: absence without null.</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Result&lt;T, E&gt;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Ok(value) or Err(reason): failure without exceptions.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Combinators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map, and_then, ok_or, unwrap_or transform without match.</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Returns early with the None/Err, otherwise unwraps the value.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ransition spd="fast"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K3/A3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Option and Result are control features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Absent</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Use Option when there is no reason to report.</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Failed</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Use Result when the caller needs to know why.</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Library code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Return Option/Result; let the caller decide.</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Binaries</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Convert errors to messages and exit codes at the edge.</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No unwrap() on input data remains in any solution crate.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spd="fast"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K3/A3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Option and Result are control features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the ? operator can only be used in a function that returns Result or Option</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Change the function return type, or handle the value with match.</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No unwrap() on input data remains in any solution crate.</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30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Apply stock movements with enums and match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Stock changes through receipts, shipments and manual adjustments. An enum names every movement and match forces each one to be handled, including the failure cases.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labs/activity-07-match-control-flow: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6 passed, covering every variant and every error.</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ransition spd="fast" advClick="1">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Apply stock movements with enums and match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samples/01_enum_match.rs: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Sample: an enum with data and an exhaustive match with a guard.</a:t>
            </a:r>
          </a:p>
          <a:p>
            <a:pPr>
              <a:spcAft>
                <a:spcPts val="100"/>
              </a:spcAft>
            </a:pPr>
            <a:r>
              <a:rPr sz="1000">
                <a:solidFill>
                  <a:srgbClr val="C586C0"/>
                </a:solidFill>
                <a:latin typeface="Consolas"/>
              </a:rPr>
              <a:t>enum Movement {</a:t>
            </a:r>
          </a:p>
          <a:p>
            <a:pPr>
              <a:spcAft>
                <a:spcPts val="100"/>
              </a:spcAft>
            </a:pPr>
            <a:r>
              <a:rPr sz="1000">
                <a:solidFill>
                  <a:srgbClr val="D4D4D4"/>
                </a:solidFill>
                <a:latin typeface="Consolas"/>
              </a:rPr>
              <a:t>    Receive(u32),</a:t>
            </a:r>
          </a:p>
          <a:p>
            <a:pPr>
              <a:spcAft>
                <a:spcPts val="100"/>
              </a:spcAft>
            </a:pPr>
            <a:r>
              <a:rPr sz="1000">
                <a:solidFill>
                  <a:srgbClr val="D4D4D4"/>
                </a:solidFill>
                <a:latin typeface="Consolas"/>
              </a:rPr>
              <a:t>    Ship(u32),</a:t>
            </a:r>
          </a:p>
          <a:p>
            <a:pPr>
              <a:spcAft>
                <a:spcPts val="100"/>
              </a:spcAft>
            </a:pPr>
            <a:r>
              <a:rPr sz="1000">
                <a:solidFill>
                  <a:srgbClr val="D4D4D4"/>
                </a:solidFill>
                <a:latin typeface="Consolas"/>
              </a:rPr>
              <a:t>    Adjust(i64),</a:t>
            </a:r>
          </a:p>
          <a:p>
            <a:pPr>
              <a:spcAft>
                <a:spcPts val="100"/>
              </a:spcAft>
            </a:pPr>
            <a:r>
              <a:rPr sz="1000">
                <a:solidFill>
                  <a:srgbClr val="D4D4D4"/>
                </a:solidFill>
                <a:latin typeface="Consolas"/>
              </a:rPr>
              <a:t>}</a:t>
            </a:r>
          </a:p>
          <a:p>
            <a:pPr>
              <a:spcAft>
                <a:spcPts val="100"/>
              </a:spcAft>
            </a:pPr>
            <a:r>
              <a:rPr sz="1000">
                <a:solidFill>
                  <a:srgbClr val="D4D4D4"/>
                </a:solidFill>
                <a:latin typeface="Consolas"/>
              </a:rPr>
              <a:t> </a:t>
            </a:r>
          </a:p>
          <a:p>
            <a:pPr>
              <a:spcAft>
                <a:spcPts val="100"/>
              </a:spcAft>
            </a:pPr>
            <a:r>
              <a:rPr sz="1000">
                <a:solidFill>
                  <a:srgbClr val="C586C0"/>
                </a:solidFill>
                <a:latin typeface="Consolas"/>
              </a:rPr>
              <a:t>fn describe(movement: &amp;Movement) -&gt; String {</a:t>
            </a:r>
          </a:p>
          <a:p>
            <a:pPr>
              <a:spcAft>
                <a:spcPts val="100"/>
              </a:spcAft>
            </a:pPr>
            <a:r>
              <a:rPr sz="1000">
                <a:solidFill>
                  <a:srgbClr val="C586C0"/>
                </a:solidFill>
                <a:latin typeface="Consolas"/>
              </a:rPr>
              <a:t>    match movement {</a:t>
            </a:r>
          </a:p>
          <a:p>
            <a:pPr>
              <a:spcAft>
                <a:spcPts val="100"/>
              </a:spcAft>
            </a:pPr>
            <a:r>
              <a:rPr sz="1000">
                <a:solidFill>
                  <a:srgbClr val="D4D4D4"/>
                </a:solidFill>
                <a:latin typeface="Consolas"/>
              </a:rPr>
              <a:t>        Movement::Receive(qty) =&gt; format!("receive {qty}"),</a:t>
            </a:r>
          </a:p>
          <a:p>
            <a:pPr>
              <a:spcAft>
                <a:spcPts val="100"/>
              </a:spcAft>
            </a:pPr>
            <a:r>
              <a:rPr sz="1000">
                <a:solidFill>
                  <a:srgbClr val="D4D4D4"/>
                </a:solidFill>
                <a:latin typeface="Consolas"/>
              </a:rPr>
              <a:t>        Movement::Ship(qty) if *qty &gt; 100 =&gt; {</a:t>
            </a:r>
          </a:p>
          <a:p>
            <a:pPr>
              <a:spcAft>
                <a:spcPts val="100"/>
              </a:spcAft>
            </a:pPr>
            <a:r>
              <a:rPr sz="1000">
                <a:solidFill>
                  <a:srgbClr val="D4D4D4"/>
                </a:solidFill>
                <a:latin typeface="Consolas"/>
              </a:rPr>
              <a:t>            format!("ship {qty} (large order, needs approval)")</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        Movement::Ship(qty) =&gt; format!("ship {qty}"),</a:t>
            </a:r>
          </a:p>
          <a:p>
            <a:pPr>
              <a:spcAft>
                <a:spcPts val="100"/>
              </a:spcAft>
            </a:pPr>
            <a:r>
              <a:rPr sz="1000">
                <a:solidFill>
                  <a:srgbClr val="D4D4D4"/>
                </a:solidFill>
                <a:latin typeface="Consolas"/>
              </a:rPr>
              <a:t>        Movement::Adjust(delta) =&gt; format!("adjust by {delta:+}"),</a:t>
            </a:r>
          </a:p>
          <a:p>
            <a:pPr>
              <a:spcAft>
                <a:spcPts val="100"/>
              </a:spcAft>
            </a:pPr>
            <a:r>
              <a:rPr sz="1000">
                <a:solidFill>
                  <a:srgbClr val="D4D4D4"/>
                </a:solidFill>
                <a:latin typeface="Consolas"/>
              </a:rPr>
              <a:t>    }</a:t>
            </a:r>
          </a:p>
          <a:p>
            <a:pPr>
              <a:spcAft>
                <a:spcPts val="100"/>
              </a:spcAft>
            </a:pPr>
            <a:r>
              <a:rPr sz="1000">
                <a:solidFill>
                  <a:srgbClr val="6A9955"/>
                </a:solidFill>
                <a:latin typeface="Consolas"/>
              </a:rPr>
              <a:t>// ... full script: samples/01_enum_match.rs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01_enum_match.rs &amp;&amp; ./01_enum_match</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enums with data, match with guards, if let, ranges in patterns and loops.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control flow: enum, match, if and loops.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ransition spd="fast" advClick="1">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7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Apply stock movements with enums and match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Movement::{Receive(u32), Ship(u32), Adjust(i64)}. apply(stock, movement) -&gt; Result&lt;u32, StockError&gt;: shipping more than available is Insufficient; results below zero are NegativeResult; above u32 are Overflow. apply_all stops at the first error.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Apply stock movements with enums and match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C586C0"/>
                </a:solidFill>
                <a:latin typeface="Consolas"/>
              </a:rPr>
              <a:t>pub fn apply(stock: u32, movement: Movement) -&gt; Result&lt;u32, StockError&gt; {</a:t>
            </a:r>
          </a:p>
          <a:p>
            <a:pPr>
              <a:spcAft>
                <a:spcPts val="100"/>
              </a:spcAft>
            </a:pPr>
            <a:r>
              <a:rPr sz="900">
                <a:solidFill>
                  <a:srgbClr val="C586C0"/>
                </a:solidFill>
                <a:latin typeface="Consolas"/>
              </a:rPr>
              <a:t>    match movement {</a:t>
            </a:r>
          </a:p>
          <a:p>
            <a:pPr>
              <a:spcAft>
                <a:spcPts val="100"/>
              </a:spcAft>
            </a:pPr>
            <a:r>
              <a:rPr sz="900">
                <a:solidFill>
                  <a:srgbClr val="D4D4D4"/>
                </a:solidFill>
                <a:latin typeface="Consolas"/>
              </a:rPr>
              <a:t>        Movement::Receive(qty) =&gt; {</a:t>
            </a:r>
          </a:p>
          <a:p>
            <a:pPr>
              <a:spcAft>
                <a:spcPts val="100"/>
              </a:spcAft>
            </a:pPr>
            <a:r>
              <a:rPr sz="900">
                <a:solidFill>
                  <a:srgbClr val="D4D4D4"/>
                </a:solidFill>
                <a:latin typeface="Consolas"/>
              </a:rPr>
              <a:t>            stock.checked_add(qty).ok_or(StockError::Overflow)</a:t>
            </a:r>
          </a:p>
          <a:p>
            <a:pPr>
              <a:spcAft>
                <a:spcPts val="100"/>
              </a:spcAft>
            </a:pPr>
            <a:r>
              <a:rPr sz="900">
                <a:solidFill>
                  <a:srgbClr val="D4D4D4"/>
                </a:solidFill>
                <a:latin typeface="Consolas"/>
              </a:rPr>
              <a:t>        }</a:t>
            </a:r>
          </a:p>
          <a:p>
            <a:pPr>
              <a:spcAft>
                <a:spcPts val="100"/>
              </a:spcAft>
            </a:pPr>
            <a:r>
              <a:rPr sz="900">
                <a:solidFill>
                  <a:srgbClr val="D4D4D4"/>
                </a:solidFill>
                <a:latin typeface="Consolas"/>
              </a:rPr>
              <a:t>        Movement::Ship(qty) if qty &gt; stock =&gt; Err(StockError::Insufficient {</a:t>
            </a:r>
          </a:p>
          <a:p>
            <a:pPr>
              <a:spcAft>
                <a:spcPts val="100"/>
              </a:spcAft>
            </a:pPr>
            <a:r>
              <a:rPr sz="900">
                <a:solidFill>
                  <a:srgbClr val="D4D4D4"/>
                </a:solidFill>
                <a:latin typeface="Consolas"/>
              </a:rPr>
              <a:t>            available: stock,</a:t>
            </a:r>
          </a:p>
          <a:p>
            <a:pPr>
              <a:spcAft>
                <a:spcPts val="100"/>
              </a:spcAft>
            </a:pPr>
            <a:r>
              <a:rPr sz="900">
                <a:solidFill>
                  <a:srgbClr val="D4D4D4"/>
                </a:solidFill>
                <a:latin typeface="Consolas"/>
              </a:rPr>
              <a:t>            requested: qty,</a:t>
            </a:r>
          </a:p>
          <a:p>
            <a:pPr>
              <a:spcAft>
                <a:spcPts val="100"/>
              </a:spcAft>
            </a:pPr>
            <a:r>
              <a:rPr sz="900">
                <a:solidFill>
                  <a:srgbClr val="D4D4D4"/>
                </a:solidFill>
                <a:latin typeface="Consolas"/>
              </a:rPr>
              <a:t>        }),</a:t>
            </a:r>
          </a:p>
          <a:p>
            <a:pPr>
              <a:spcAft>
                <a:spcPts val="100"/>
              </a:spcAft>
            </a:pPr>
            <a:r>
              <a:rPr sz="900">
                <a:solidFill>
                  <a:srgbClr val="D4D4D4"/>
                </a:solidFill>
                <a:latin typeface="Consolas"/>
              </a:rPr>
              <a:t>        Movement::Ship(qty) =&gt; Ok(stock - qty),</a:t>
            </a:r>
          </a:p>
          <a:p>
            <a:pPr>
              <a:spcAft>
                <a:spcPts val="100"/>
              </a:spcAft>
            </a:pPr>
            <a:r>
              <a:rPr sz="900">
                <a:solidFill>
                  <a:srgbClr val="D4D4D4"/>
                </a:solidFill>
                <a:latin typeface="Consolas"/>
              </a:rPr>
              <a:t>        Movement::Adjust(delta) =&gt; {</a:t>
            </a:r>
          </a:p>
          <a:p>
            <a:pPr>
              <a:spcAft>
                <a:spcPts val="100"/>
              </a:spcAft>
            </a:pPr>
            <a:r>
              <a:rPr sz="900">
                <a:solidFill>
                  <a:srgbClr val="C586C0"/>
                </a:solidFill>
                <a:latin typeface="Consolas"/>
              </a:rPr>
              <a:t>            let next = i64::from(stock)</a:t>
            </a:r>
          </a:p>
          <a:p>
            <a:pPr>
              <a:spcAft>
                <a:spcPts val="100"/>
              </a:spcAft>
            </a:pPr>
            <a:r>
              <a:rPr sz="900">
                <a:solidFill>
                  <a:srgbClr val="D4D4D4"/>
                </a:solidFill>
                <a:latin typeface="Consolas"/>
              </a:rPr>
              <a:t>                .checked_add(delta)</a:t>
            </a:r>
          </a:p>
          <a:p>
            <a:pPr>
              <a:spcAft>
                <a:spcPts val="100"/>
              </a:spcAft>
            </a:pPr>
            <a:r>
              <a:rPr sz="900">
                <a:solidFill>
                  <a:srgbClr val="D4D4D4"/>
                </a:solidFill>
                <a:latin typeface="Consolas"/>
              </a:rPr>
              <a:t>                .ok_or(StockError::Overflow)?;</a:t>
            </a:r>
          </a:p>
          <a:p>
            <a:pPr>
              <a:spcAft>
                <a:spcPts val="100"/>
              </a:spcAft>
            </a:pPr>
            <a:r>
              <a:rPr sz="900">
                <a:solidFill>
                  <a:srgbClr val="C586C0"/>
                </a:solidFill>
                <a:latin typeface="Consolas"/>
              </a:rPr>
              <a:t>            if next &lt; 0 {</a:t>
            </a:r>
          </a:p>
          <a:p>
            <a:pPr>
              <a:spcAft>
                <a:spcPts val="100"/>
              </a:spcAft>
            </a:pPr>
            <a:r>
              <a:rPr sz="900">
                <a:solidFill>
                  <a:srgbClr val="D4D4D4"/>
                </a:solidFill>
                <a:latin typeface="Consolas"/>
              </a:rPr>
              <a:t>                return Err(StockError::NegativeResult);</a:t>
            </a:r>
          </a:p>
          <a:p>
            <a:pPr>
              <a:spcAft>
                <a:spcPts val="100"/>
              </a:spcAft>
            </a:pPr>
            <a:r>
              <a:rPr sz="900">
                <a:solidFill>
                  <a:srgbClr val="6A9955"/>
                </a:solidFill>
                <a:latin typeface="Consolas"/>
              </a:rPr>
              <a:t>    // ... full code: solution/src/lib.rs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enum</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Each movement kind is a variant that can carry its own data.</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match</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compiler rejects a match that forgets a variant.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Guard</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Ship(qty) if qty &gt; stock is tested before the normal Ship arm.</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 in a loop</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apply_all returns the first Err without applying later moves.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transition spd="fast" advClick="1">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7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Apply stock movements with enums and match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100" b="0">
                <a:solidFill>
                  <a:srgbClr val="161B26"/>
                </a:solidFill>
                <a:latin typeface="Arial"/>
              </a:rPr>
              <a:t>•  Act as a senior Rust reviewer. Specification: Movement::{Receive(u32), Ship(u32), Adjust(i64)}. apply(stock, movement) -&gt; Result&lt;u32, StockError&gt;: shipping more than available is Insufficient; results below zero are NegativeResult; above u32 are Overflow. apply_all stops at the first error.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"Apply stock movements with enums and match" in starter/src so that the supplied tests pass. Use enum + match with exhaustive arms; no wildcard _ arm that hides future variants.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transition spd="fast" advClick="1">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Apply stock movements with enums and match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6 passed, covering every variant and every error.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transition spd="fast" advClick="1">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30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Track stock in a HashMap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StockPilot needs fast lookup by SKU. You wrap a HashMap in an Inventory type so every change goes through methods that enforce the stock rules.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labs/activity-08-hashmap-inventory: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6 passed; low_stock(5) returns AAA-0001 and BBB-0002 only.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transition spd="fast" advClick="1">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Track stock in a HashMap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samples/01_vec_basics.rs: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Sample: a growable Vec, sorting, safe access with get.</a:t>
            </a:r>
          </a:p>
          <a:p>
            <a:pPr>
              <a:spcAft>
                <a:spcPts val="100"/>
              </a:spcAft>
            </a:pPr>
            <a:r>
              <a:rPr sz="1000">
                <a:solidFill>
                  <a:srgbClr val="C586C0"/>
                </a:solidFill>
                <a:latin typeface="Consolas"/>
              </a:rPr>
              <a:t>fn main() {</a:t>
            </a:r>
          </a:p>
          <a:p>
            <a:pPr>
              <a:spcAft>
                <a:spcPts val="100"/>
              </a:spcAft>
            </a:pPr>
            <a:r>
              <a:rPr sz="1000">
                <a:solidFill>
                  <a:srgbClr val="C586C0"/>
                </a:solidFill>
                <a:latin typeface="Consolas"/>
              </a:rPr>
              <a:t>    let mut skus: Vec&lt;String&gt; = Vec::new();</a:t>
            </a:r>
          </a:p>
          <a:p>
            <a:pPr>
              <a:spcAft>
                <a:spcPts val="100"/>
              </a:spcAft>
            </a:pPr>
            <a:r>
              <a:rPr sz="1000">
                <a:solidFill>
                  <a:srgbClr val="D4D4D4"/>
                </a:solidFill>
                <a:latin typeface="Consolas"/>
              </a:rPr>
              <a:t>    skus.push("CCC-0003".to_string());</a:t>
            </a:r>
          </a:p>
          <a:p>
            <a:pPr>
              <a:spcAft>
                <a:spcPts val="100"/>
              </a:spcAft>
            </a:pPr>
            <a:r>
              <a:rPr sz="1000">
                <a:solidFill>
                  <a:srgbClr val="D4D4D4"/>
                </a:solidFill>
                <a:latin typeface="Consolas"/>
              </a:rPr>
              <a:t>    skus.push("AAA-0001".to_string());</a:t>
            </a:r>
          </a:p>
          <a:p>
            <a:pPr>
              <a:spcAft>
                <a:spcPts val="100"/>
              </a:spcAft>
            </a:pPr>
            <a:r>
              <a:rPr sz="1000">
                <a:solidFill>
                  <a:srgbClr val="D4D4D4"/>
                </a:solidFill>
                <a:latin typeface="Consolas"/>
              </a:rPr>
              <a:t>    skus.push("BBB-0002".to_string());</a:t>
            </a:r>
          </a:p>
          <a:p>
            <a:pPr>
              <a:spcAft>
                <a:spcPts val="100"/>
              </a:spcAft>
            </a:pPr>
            <a:r>
              <a:rPr sz="1000">
                <a:solidFill>
                  <a:srgbClr val="D4D4D4"/>
                </a:solidFill>
                <a:latin typeface="Consolas"/>
              </a:rPr>
              <a:t>    skus.sort();</a:t>
            </a:r>
          </a:p>
          <a:p>
            <a:pPr>
              <a:spcAft>
                <a:spcPts val="100"/>
              </a:spcAft>
            </a:pPr>
            <a:r>
              <a:rPr sz="1000">
                <a:solidFill>
                  <a:srgbClr val="D4D4D4"/>
                </a:solidFill>
                <a:latin typeface="Consolas"/>
              </a:rPr>
              <a:t>    println!("sorted: {skus:?}");</a:t>
            </a:r>
          </a:p>
          <a:p>
            <a:pPr>
              <a:spcAft>
                <a:spcPts val="100"/>
              </a:spcAft>
            </a:pPr>
            <a:r>
              <a:rPr sz="1000">
                <a:solidFill>
                  <a:srgbClr val="D4D4D4"/>
                </a:solidFill>
                <a:latin typeface="Consolas"/>
              </a:rPr>
              <a:t>    println!("first: {:?}, tenth: {:?}", skus.first(), skus.get(9));</a:t>
            </a:r>
          </a:p>
          <a:p>
            <a:pPr>
              <a:spcAft>
                <a:spcPts val="100"/>
              </a:spcAft>
            </a:pPr>
            <a:r>
              <a:rPr sz="1000">
                <a:solidFill>
                  <a:srgbClr val="C586C0"/>
                </a:solidFill>
                <a:latin typeface="Consolas"/>
              </a:rPr>
              <a:t>    for (i, sku) in skus.iter().enumerate() {</a:t>
            </a:r>
          </a:p>
          <a:p>
            <a:pPr>
              <a:spcAft>
                <a:spcPts val="100"/>
              </a:spcAft>
            </a:pPr>
            <a:r>
              <a:rPr sz="1000">
                <a:solidFill>
                  <a:srgbClr val="D4D4D4"/>
                </a:solidFill>
                <a:latin typeface="Consolas"/>
              </a:rPr>
              <a:t>        println!("{}. {sku}", i + 1);</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01_vec_basics.rs &amp;&amp; ./01_vec_basics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Vec, HashMap, the entry API, Option from get, structs and sorting for deterministic output.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collections (lists and dictionaries).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transition spd="fast" advClick="1">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8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Track stock in a HashMap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Inventory::receive(&amp;mut self, sku, qty) -&gt; Option&lt;u32&gt; (None on overflow, unchanged); ship -&gt; Result&lt;u32, String&gt; (unknown SKU or insufficient stock is Err, unchanged); quantity(sku) -&gt; u32 (0 when unknown); low_stock(threshold) -&gt; Vec&lt;(String, u32)&gt; strictly below threshold, sorted by SKU.</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Track stock in a HashMap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Removes units; unknown SKUs and shortages are errors.</a:t>
            </a:r>
          </a:p>
          <a:p>
            <a:pPr>
              <a:spcAft>
                <a:spcPts val="100"/>
              </a:spcAft>
            </a:pPr>
            <a:r>
              <a:rPr sz="1000">
                <a:solidFill>
                  <a:srgbClr val="C586C0"/>
                </a:solidFill>
                <a:latin typeface="Consolas"/>
              </a:rPr>
              <a:t>pub fn ship(&amp;mut self, sku: &amp;str, qty: u32) -&gt; Result&lt;u32, String&gt; {</a:t>
            </a:r>
          </a:p>
          <a:p>
            <a:pPr>
              <a:spcAft>
                <a:spcPts val="100"/>
              </a:spcAft>
            </a:pPr>
            <a:r>
              <a:rPr sz="1000">
                <a:solidFill>
                  <a:srgbClr val="C586C0"/>
                </a:solidFill>
                <a:latin typeface="Consolas"/>
              </a:rPr>
              <a:t>    let level = self</a:t>
            </a:r>
          </a:p>
          <a:p>
            <a:pPr>
              <a:spcAft>
                <a:spcPts val="100"/>
              </a:spcAft>
            </a:pPr>
            <a:r>
              <a:rPr sz="1000">
                <a:solidFill>
                  <a:srgbClr val="D4D4D4"/>
                </a:solidFill>
                <a:latin typeface="Consolas"/>
              </a:rPr>
              <a:t>        .stock</a:t>
            </a:r>
          </a:p>
          <a:p>
            <a:pPr>
              <a:spcAft>
                <a:spcPts val="100"/>
              </a:spcAft>
            </a:pPr>
            <a:r>
              <a:rPr sz="1000">
                <a:solidFill>
                  <a:srgbClr val="D4D4D4"/>
                </a:solidFill>
                <a:latin typeface="Consolas"/>
              </a:rPr>
              <a:t>        .get_mut(sku)</a:t>
            </a:r>
          </a:p>
          <a:p>
            <a:pPr>
              <a:spcAft>
                <a:spcPts val="100"/>
              </a:spcAft>
            </a:pPr>
            <a:r>
              <a:rPr sz="1000">
                <a:solidFill>
                  <a:srgbClr val="D4D4D4"/>
                </a:solidFill>
                <a:latin typeface="Consolas"/>
              </a:rPr>
              <a:t>        .ok_or_else(|| format!("unknown SKU {sku}"))?;</a:t>
            </a:r>
          </a:p>
          <a:p>
            <a:pPr>
              <a:spcAft>
                <a:spcPts val="100"/>
              </a:spcAft>
            </a:pPr>
            <a:r>
              <a:rPr sz="1000">
                <a:solidFill>
                  <a:srgbClr val="C586C0"/>
                </a:solidFill>
                <a:latin typeface="Consolas"/>
              </a:rPr>
              <a:t>    if qty &gt; *level {</a:t>
            </a:r>
          </a:p>
          <a:p>
            <a:pPr>
              <a:spcAft>
                <a:spcPts val="100"/>
              </a:spcAft>
            </a:pPr>
            <a:r>
              <a:rPr sz="1000">
                <a:solidFill>
                  <a:srgbClr val="D4D4D4"/>
                </a:solidFill>
                <a:latin typeface="Consolas"/>
              </a:rPr>
              <a:t>        return Err(format!("only {level} of {sku} available"));</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    *level -= qty;</a:t>
            </a:r>
          </a:p>
          <a:p>
            <a:pPr>
              <a:spcAft>
                <a:spcPts val="100"/>
              </a:spcAft>
            </a:pPr>
            <a:r>
              <a:rPr sz="1000">
                <a:solidFill>
                  <a:srgbClr val="D4D4D4"/>
                </a:solidFill>
                <a:latin typeface="Consolas"/>
              </a:rPr>
              <a:t>    Ok(*level)</a:t>
            </a:r>
          </a:p>
          <a:p>
            <a:pPr>
              <a:spcAft>
                <a:spcPts val="100"/>
              </a:spcAft>
            </a:pPr>
            <a:r>
              <a:rPr sz="10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Encapsulation</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HashMap field is private; callers can only use the methods.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entry API</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entry(..).or_insert(0) creates a missing key in one lookup.</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get_mut</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 mutable reference into the map lets ship change the level in place.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Sorting</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HashMap order is random, so low_stock sorts before returning.</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transition spd="fast" advClick="1">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8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Track stock in a HashMap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100" b="0">
                <a:solidFill>
                  <a:srgbClr val="161B26"/>
                </a:solidFill>
                <a:latin typeface="Arial"/>
              </a:rPr>
              <a:t>•  Act as a senior Rust reviewer. Specification: Inventory::receive(&amp;mut self, sku, qty) -&gt; Option&lt;u32&gt; (None on overflow, unchanged); ship -&gt; Result&lt;u32, String&gt; (unknown SKU or insufficient stock is Err, unchanged); quantity(sku) -&gt; u32 (0 when unknown); low_stock(threshold) -&gt; Vec&lt;(String, u32)&gt; strictly below threshold, sorted by SKU.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"Track stock in a HashMap" in starter/src so that the supplied tests pass. Keep the HashMap private and the method signatures unchanged; no unwrap() on lookups.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transition spd="fast" advClick="1">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Track stock in a HashMap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6 passed; low_stock(5) returns AAA-0001 and BBB-0002 only.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transition spd="fast" advClick="1">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K3/A3 / 30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Price mixed order lines with traits and iterators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Orders can contain products and services (for example, device set-up hours). A Priced trait gives both one pricing contract, and iterator chains total and filter them without manual index loops.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labs/activity-09-traits-iterators: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5 passed; the mixed order totals 14,297 cents.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transition spd="fast" advClick="1">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Price mixed order lines with traits and iterators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samples/01_trait_basics.rs: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6A9955"/>
                </a:solidFill>
                <a:latin typeface="Consolas"/>
              </a:rPr>
              <a:t>// Sample: one trait, two types, generic and dynamic dispatch.</a:t>
            </a:r>
          </a:p>
          <a:p>
            <a:pPr>
              <a:spcAft>
                <a:spcPts val="100"/>
              </a:spcAft>
            </a:pPr>
            <a:r>
              <a:rPr sz="1100">
                <a:solidFill>
                  <a:srgbClr val="C586C0"/>
                </a:solidFill>
                <a:latin typeface="Consolas"/>
              </a:rPr>
              <a:t>trait Priced {</a:t>
            </a:r>
          </a:p>
          <a:p>
            <a:pPr>
              <a:spcAft>
                <a:spcPts val="100"/>
              </a:spcAft>
            </a:pPr>
            <a:r>
              <a:rPr sz="1100">
                <a:solidFill>
                  <a:srgbClr val="C586C0"/>
                </a:solidFill>
                <a:latin typeface="Consolas"/>
              </a:rPr>
              <a:t>    fn unit_cents(&amp;self) -&gt; u64;</a:t>
            </a:r>
          </a:p>
          <a:p>
            <a:pPr>
              <a:spcAft>
                <a:spcPts val="100"/>
              </a:spcAft>
            </a:pPr>
            <a:r>
              <a:rPr sz="1100">
                <a:solidFill>
                  <a:srgbClr val="C586C0"/>
                </a:solidFill>
                <a:latin typeface="Consolas"/>
              </a:rPr>
              <a:t>    fn quantity(&amp;self) -&gt; u32;</a:t>
            </a:r>
          </a:p>
          <a:p>
            <a:pPr>
              <a:spcAft>
                <a:spcPts val="100"/>
              </a:spcAft>
            </a:pPr>
            <a:r>
              <a:rPr sz="1100">
                <a:solidFill>
                  <a:srgbClr val="C586C0"/>
                </a:solidFill>
                <a:latin typeface="Consolas"/>
              </a:rPr>
              <a:t>    fn line_cents(&amp;self) -&gt; u64 {</a:t>
            </a:r>
          </a:p>
          <a:p>
            <a:pPr>
              <a:spcAft>
                <a:spcPts val="100"/>
              </a:spcAft>
            </a:pPr>
            <a:r>
              <a:rPr sz="1100">
                <a:solidFill>
                  <a:srgbClr val="D4D4D4"/>
                </a:solidFill>
                <a:latin typeface="Consolas"/>
              </a:rPr>
              <a:t>        self.unit_cents() * u64::from(self.quantity())</a:t>
            </a:r>
          </a:p>
          <a:p>
            <a:pPr>
              <a:spcAft>
                <a:spcPts val="100"/>
              </a:spcAft>
            </a:pPr>
            <a:r>
              <a:rPr sz="1100">
                <a:solidFill>
                  <a:srgbClr val="D4D4D4"/>
                </a:solidFill>
                <a:latin typeface="Consolas"/>
              </a:rPr>
              <a:t>    }</a:t>
            </a:r>
          </a:p>
          <a:p>
            <a:pPr>
              <a:spcAft>
                <a:spcPts val="100"/>
              </a:spcAft>
            </a:pPr>
            <a:r>
              <a:rPr sz="1100">
                <a:solidFill>
                  <a:srgbClr val="D4D4D4"/>
                </a:solidFill>
                <a:latin typeface="Consolas"/>
              </a:rPr>
              <a:t>}</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struct Product {</a:t>
            </a:r>
          </a:p>
          <a:p>
            <a:pPr>
              <a:spcAft>
                <a:spcPts val="100"/>
              </a:spcAft>
            </a:pPr>
            <a:r>
              <a:rPr sz="1100">
                <a:solidFill>
                  <a:srgbClr val="D4D4D4"/>
                </a:solidFill>
                <a:latin typeface="Consolas"/>
              </a:rPr>
              <a:t>    unit_cents: u64,</a:t>
            </a:r>
          </a:p>
          <a:p>
            <a:pPr>
              <a:spcAft>
                <a:spcPts val="100"/>
              </a:spcAft>
            </a:pPr>
            <a:r>
              <a:rPr sz="1100">
                <a:solidFill>
                  <a:srgbClr val="D4D4D4"/>
                </a:solidFill>
                <a:latin typeface="Consolas"/>
              </a:rPr>
              <a:t>    qty: u32,</a:t>
            </a:r>
          </a:p>
          <a:p>
            <a:pPr>
              <a:spcAft>
                <a:spcPts val="100"/>
              </a:spcAft>
            </a:pPr>
            <a:r>
              <a:rPr sz="1100">
                <a:solidFill>
                  <a:srgbClr val="D4D4D4"/>
                </a:solidFill>
                <a:latin typeface="Consolas"/>
              </a:rPr>
              <a:t>}</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struct Service {</a:t>
            </a:r>
          </a:p>
          <a:p>
            <a:pPr>
              <a:spcAft>
                <a:spcPts val="100"/>
              </a:spcAft>
            </a:pPr>
            <a:r>
              <a:rPr sz="1100">
                <a:solidFill>
                  <a:srgbClr val="D4D4D4"/>
                </a:solidFill>
                <a:latin typeface="Consolas"/>
              </a:rPr>
              <a:t>    rate_cents: u64,</a:t>
            </a:r>
          </a:p>
          <a:p>
            <a:pPr>
              <a:spcAft>
                <a:spcPts val="100"/>
              </a:spcAft>
            </a:pPr>
            <a:r>
              <a:rPr sz="1100">
                <a:solidFill>
                  <a:srgbClr val="6A9955"/>
                </a:solidFill>
                <a:latin typeface="Consolas"/>
              </a:rPr>
              <a:t>// ... full script: samples/01_trait_basics.rs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01_trait_basics.rs &amp;&amp; ./01_trait_basics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traits, default methods, generics, trait objects (dyn), closures and iterator adaptors.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traits, generics and iterators.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transition spd="fast" advClick="1">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9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Price mixed order lines with traits and iterators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trait Priced { unit_cents, quantity, line_cents (default, checked) }. order_total&lt;T: Priced&gt;(&amp;[T]) and mixed_total(&amp;[&amp;dyn Priced]) return Option&lt;u64&gt; (None on overflow; empty is Some(0)). names_at_least(&amp;[Product], min_cents) -&gt; Vec&lt;&amp;str&gt; in input order.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Price mixed order lines with traits and iterators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6A9955"/>
                </a:solidFill>
                <a:latin typeface="Consolas"/>
              </a:rPr>
              <a:t>/// Totals lines of one type (static dispatch).</a:t>
            </a:r>
          </a:p>
          <a:p>
            <a:pPr>
              <a:spcAft>
                <a:spcPts val="100"/>
              </a:spcAft>
            </a:pPr>
            <a:r>
              <a:rPr sz="900">
                <a:solidFill>
                  <a:srgbClr val="C586C0"/>
                </a:solidFill>
                <a:latin typeface="Consolas"/>
              </a:rPr>
              <a:t>pub fn order_total&lt;T: Priced&gt;(lines: &amp;[T]) -&gt; Option&lt;u64&gt; {</a:t>
            </a:r>
          </a:p>
          <a:p>
            <a:pPr>
              <a:spcAft>
                <a:spcPts val="100"/>
              </a:spcAft>
            </a:pPr>
            <a:r>
              <a:rPr sz="900">
                <a:solidFill>
                  <a:srgbClr val="D4D4D4"/>
                </a:solidFill>
                <a:latin typeface="Consolas"/>
              </a:rPr>
              <a:t>    lines</a:t>
            </a:r>
          </a:p>
          <a:p>
            <a:pPr>
              <a:spcAft>
                <a:spcPts val="100"/>
              </a:spcAft>
            </a:pPr>
            <a:r>
              <a:rPr sz="900">
                <a:solidFill>
                  <a:srgbClr val="D4D4D4"/>
                </a:solidFill>
                <a:latin typeface="Consolas"/>
              </a:rPr>
              <a:t>        .iter()</a:t>
            </a:r>
          </a:p>
          <a:p>
            <a:pPr>
              <a:spcAft>
                <a:spcPts val="100"/>
              </a:spcAft>
            </a:pPr>
            <a:r>
              <a:rPr sz="900">
                <a:solidFill>
                  <a:srgbClr val="D4D4D4"/>
                </a:solidFill>
                <a:latin typeface="Consolas"/>
              </a:rPr>
              <a:t>        .try_fold(0u64, |total, line| total.checked_add(line.line_cents()?))</a:t>
            </a:r>
          </a:p>
          <a:p>
            <a:pPr>
              <a:spcAft>
                <a:spcPts val="100"/>
              </a:spcAft>
            </a:pPr>
            <a:r>
              <a:rPr sz="9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Trait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Priced is a contract: any type that implements it can be totalled.</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Default method</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line_cents is written once and reused by Product and Service.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Generic vs dyn</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 Priced is resolved at compile time; &amp;dyn Priced at run time.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try_fold</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Accumulates a total and stops at the first overflow (None).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transition spd="fast" advClick="1">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9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Price mixed order lines with traits and iterators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100" b="0">
                <a:solidFill>
                  <a:srgbClr val="161B26"/>
                </a:solidFill>
                <a:latin typeface="Arial"/>
              </a:rPr>
              <a:t>•  Act as a senior Rust reviewer. Specification: trait Priced { unit_cents, quantity, line_cents (default, checked) }. order_total&lt;T: Priced&gt;(&amp;[T]) and mixed_total(&amp;[&amp;dyn Priced]) return Option&lt;u64&gt; (None on overflow; empty is Some(0)). names_at_least(&amp;[Product], min_cents) -&gt; Vec&lt;&amp;str&gt; in input order.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"Price mixed order lines with traits and iterators" in starter/src so that the supplied tests pass. Implement with iterator adaptors (iter, filter, map, try_fold); no index-based for loops.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transition spd="fast" advClick="1">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Price mixed order lines with traits and iterators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5 passed; the mixed order totals 14,297 cents.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transition spd="fast" advClick="1">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END OF DAY 1</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Day 1 recap: the compiler and tests are the gate.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built typed components, organised them in a crate, and used AI drafts only after they compiled, passed and made sense.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transition spd="fast" advClick="1">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4 / K4/A4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Testing, Debugging and Integrating Rust Components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Activities 10-12 / concepts, contracts, failure modes and evidence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transition spd="med" advClick="1">
    <p:push dir="l"/>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Unit tests live beside the code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C586C0"/>
                </a:solidFill>
                <a:latin typeface="Consolas"/>
              </a:rPr>
              <a:t>pub fn needs_reorder(on_hand: u32, point: u32) -&gt; bool {</a:t>
            </a:r>
          </a:p>
          <a:p>
            <a:pPr>
              <a:spcAft>
                <a:spcPts val="100"/>
              </a:spcAft>
            </a:pPr>
            <a:r>
              <a:rPr sz="1200">
                <a:solidFill>
                  <a:srgbClr val="D4D4D4"/>
                </a:solidFill>
                <a:latin typeface="Consolas"/>
              </a:rPr>
              <a:t>    on_hand &lt;= point</a:t>
            </a:r>
          </a:p>
          <a:p>
            <a:pPr>
              <a:spcAft>
                <a:spcPts val="100"/>
              </a:spcAft>
            </a:pPr>
            <a:r>
              <a:rPr sz="1200">
                <a:solidFill>
                  <a:srgbClr val="D4D4D4"/>
                </a:solidFill>
                <a:latin typeface="Consolas"/>
              </a:rPr>
              <a:t>}</a:t>
            </a:r>
          </a:p>
          <a:p>
            <a:pPr>
              <a:spcAft>
                <a:spcPts val="100"/>
              </a:spcAft>
            </a:pPr>
            <a:r>
              <a:rPr sz="1200">
                <a:solidFill>
                  <a:srgbClr val="D4D4D4"/>
                </a:solidFill>
                <a:latin typeface="Consolas"/>
              </a:rPr>
              <a:t> </a:t>
            </a:r>
          </a:p>
          <a:p>
            <a:pPr>
              <a:spcAft>
                <a:spcPts val="100"/>
              </a:spcAft>
            </a:pPr>
            <a:r>
              <a:rPr sz="1200">
                <a:solidFill>
                  <a:srgbClr val="6A9955"/>
                </a:solidFill>
                <a:latin typeface="Consolas"/>
              </a:rPr>
              <a:t>#[cfg(test)]</a:t>
            </a:r>
          </a:p>
          <a:p>
            <a:pPr>
              <a:spcAft>
                <a:spcPts val="100"/>
              </a:spcAft>
            </a:pPr>
            <a:r>
              <a:rPr sz="1200">
                <a:solidFill>
                  <a:srgbClr val="C586C0"/>
                </a:solidFill>
                <a:latin typeface="Consolas"/>
              </a:rPr>
              <a:t>mod tests {</a:t>
            </a:r>
          </a:p>
          <a:p>
            <a:pPr>
              <a:spcAft>
                <a:spcPts val="100"/>
              </a:spcAft>
            </a:pPr>
            <a:r>
              <a:rPr sz="1200">
                <a:solidFill>
                  <a:srgbClr val="C586C0"/>
                </a:solidFill>
                <a:latin typeface="Consolas"/>
              </a:rPr>
              <a:t>    use super::*;</a:t>
            </a:r>
          </a:p>
          <a:p>
            <a:pPr>
              <a:spcAft>
                <a:spcPts val="100"/>
              </a:spcAft>
            </a:pPr>
            <a:r>
              <a:rPr sz="1200">
                <a:solidFill>
                  <a:srgbClr val="6A9955"/>
                </a:solidFill>
                <a:latin typeface="Consolas"/>
              </a:rPr>
              <a:t>    #[test]</a:t>
            </a:r>
          </a:p>
          <a:p>
            <a:pPr>
              <a:spcAft>
                <a:spcPts val="100"/>
              </a:spcAft>
            </a:pPr>
            <a:r>
              <a:rPr sz="1200">
                <a:solidFill>
                  <a:srgbClr val="C586C0"/>
                </a:solidFill>
                <a:latin typeface="Consolas"/>
              </a:rPr>
              <a:t>    fn boundary_is_inclusive() {</a:t>
            </a:r>
          </a:p>
          <a:p>
            <a:pPr>
              <a:spcAft>
                <a:spcPts val="100"/>
              </a:spcAft>
            </a:pPr>
            <a:r>
              <a:rPr sz="1200">
                <a:solidFill>
                  <a:srgbClr val="D4D4D4"/>
                </a:solidFill>
                <a:latin typeface="Consolas"/>
              </a:rPr>
              <a:t>        assert!(needs_reorder(80, 80));</a:t>
            </a:r>
          </a:p>
          <a:p>
            <a:pPr>
              <a:spcAft>
                <a:spcPts val="100"/>
              </a:spcAft>
            </a:pPr>
            <a:r>
              <a:rPr sz="1200">
                <a:solidFill>
                  <a:srgbClr val="D4D4D4"/>
                </a:solidFill>
                <a:latin typeface="Consolas"/>
              </a:rPr>
              <a:t>        assert!(!needs_reorder(81, 80));</a:t>
            </a:r>
          </a:p>
          <a:p>
            <a:pPr>
              <a:spcAft>
                <a:spcPts val="100"/>
              </a:spcAft>
            </a:pPr>
            <a:r>
              <a:rPr sz="1200">
                <a:solidFill>
                  <a:srgbClr val="D4D4D4"/>
                </a:solidFill>
                <a:latin typeface="Consolas"/>
              </a:rPr>
              <a:t>    }</a:t>
            </a:r>
          </a:p>
          <a:p>
            <a:pPr>
              <a:spcAft>
                <a:spcPts val="100"/>
              </a:spcAft>
            </a:pPr>
            <a:r>
              <a:rPr sz="12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#[test]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Marks a function that cargo test runs.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#[cfg(test)]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Compiled only for tests; not shipped in the binary.</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use super::*</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Unit tests can reach private items of their module.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assert_eq!</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Shows left and right values when it fails.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transition spd="fast" advClick="1">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K4/A4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Unit tests live beside the code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Name</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Describe the rule: boundary_is_inclusive, not test1.</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One behaviour</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Each test checks one rule so failures are specific.</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Boundaries</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Test at, just below and just above every limit.</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Speed</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Unit tests run in milliseconds; run them constantly.</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cargo test lists each test by name with ok.</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transition spd="fast" advClick="1">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K4/A4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Unit tests live beside the code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Test passes for the wrong reason</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Predict the expected value from the specification before running, never copy actual output.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cargo test lists each test by name with ok.</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transition spd="fast" advClick="1">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ARCH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Integration tests check components together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D4D4D4"/>
                </a:solidFill>
                <a:latin typeface="Consolas"/>
              </a:rPr>
              <a:t>tests/integration.rs      # separate crate, public API only</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use activity11::{parse_lines, summarise, Summary};</a:t>
            </a:r>
          </a:p>
          <a:p>
            <a:pPr>
              <a:spcAft>
                <a:spcPts val="100"/>
              </a:spcAft>
            </a:pPr>
            <a:r>
              <a:rPr sz="1100">
                <a:solidFill>
                  <a:srgbClr val="C586C0"/>
                </a:solidFill>
                <a:latin typeface="Consolas"/>
              </a:rPr>
              <a:t>const SAMPLE: &amp;str = include_str!("../../data/stock.csv");</a:t>
            </a:r>
          </a:p>
          <a:p>
            <a:pPr>
              <a:spcAft>
                <a:spcPts val="100"/>
              </a:spcAft>
            </a:pPr>
            <a:r>
              <a:rPr sz="1100">
                <a:solidFill>
                  <a:srgbClr val="D4D4D4"/>
                </a:solidFill>
                <a:latin typeface="Consolas"/>
              </a:rPr>
              <a:t> </a:t>
            </a:r>
          </a:p>
          <a:p>
            <a:pPr>
              <a:spcAft>
                <a:spcPts val="100"/>
              </a:spcAft>
            </a:pPr>
            <a:r>
              <a:rPr sz="1100">
                <a:solidFill>
                  <a:srgbClr val="6A9955"/>
                </a:solidFill>
                <a:latin typeface="Consolas"/>
              </a:rPr>
              <a:t>#[test]</a:t>
            </a:r>
          </a:p>
          <a:p>
            <a:pPr>
              <a:spcAft>
                <a:spcPts val="100"/>
              </a:spcAft>
            </a:pPr>
            <a:r>
              <a:rPr sz="1100">
                <a:solidFill>
                  <a:srgbClr val="C586C0"/>
                </a:solidFill>
                <a:latin typeface="Consolas"/>
              </a:rPr>
              <a:t>fn end_to_end_summary() {</a:t>
            </a:r>
          </a:p>
          <a:p>
            <a:pPr>
              <a:spcAft>
                <a:spcPts val="100"/>
              </a:spcAft>
            </a:pPr>
            <a:r>
              <a:rPr sz="1100">
                <a:solidFill>
                  <a:srgbClr val="D4D4D4"/>
                </a:solidFill>
                <a:latin typeface="Consolas"/>
              </a:rPr>
              <a:t>    assert_eq!(summarise(SAMPLE, 5), Ok(Summary {</a:t>
            </a:r>
          </a:p>
          <a:p>
            <a:pPr>
              <a:spcAft>
                <a:spcPts val="100"/>
              </a:spcAft>
            </a:pPr>
            <a:r>
              <a:rPr sz="1100">
                <a:solidFill>
                  <a:srgbClr val="D4D4D4"/>
                </a:solidFill>
                <a:latin typeface="Consolas"/>
              </a:rPr>
              <a:t>        lines: 4, total_cents: 52_655,</a:t>
            </a:r>
          </a:p>
          <a:p>
            <a:pPr>
              <a:spcAft>
                <a:spcPts val="100"/>
              </a:spcAft>
            </a:pPr>
            <a:r>
              <a:rPr sz="1100">
                <a:solidFill>
                  <a:srgbClr val="D4D4D4"/>
                </a:solidFill>
                <a:latin typeface="Consolas"/>
              </a:rPr>
              <a:t>        low_stock: vec!["ABC-0003".into()] }));</a:t>
            </a:r>
          </a:p>
          <a:p>
            <a:pPr>
              <a:spcAft>
                <a:spcPts val="100"/>
              </a:spcAft>
            </a:pPr>
            <a:r>
              <a:rPr sz="11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tests/ folder</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Each file is compiled like an external user of the crate.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Fixtures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include_str! embeds a data file at compile time.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End to end</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Parse, calculate and report are checked together.</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Public API</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If a test needs a private item, the API may be incomplete.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transition spd="fast" advClick="1">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K4/A4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Integration tests check components together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Unit</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One function, fast, may use private items.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Integration</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Several components through the public API.</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Process</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Run the real binary (Activity 12).</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Data</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Fixture files live in data/ and are versioned.</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11: the end-to-end test fixes the expected total at 52,655 cents.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transition spd="fast" advClick="1">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K4/A4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Integration tests check components together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Unit tests pass but the summary is wrong</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Components disagree; add an integration test with a known fixture total.</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11: the end-to-end test fixes the expected total at 52,655 cents.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transition spd="fast" advClick="1">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Custom errors and the ? operator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6A9955"/>
                </a:solidFill>
                <a:latin typeface="Consolas"/>
              </a:rPr>
              <a:t>#[derive(Debug, PartialEq)]</a:t>
            </a:r>
          </a:p>
          <a:p>
            <a:pPr>
              <a:spcAft>
                <a:spcPts val="100"/>
              </a:spcAft>
            </a:pPr>
            <a:r>
              <a:rPr sz="1100">
                <a:solidFill>
                  <a:srgbClr val="C586C0"/>
                </a:solidFill>
                <a:latin typeface="Consolas"/>
              </a:rPr>
              <a:t>pub enum ParseError {</a:t>
            </a:r>
          </a:p>
          <a:p>
            <a:pPr>
              <a:spcAft>
                <a:spcPts val="100"/>
              </a:spcAft>
            </a:pPr>
            <a:r>
              <a:rPr sz="1100">
                <a:solidFill>
                  <a:srgbClr val="D4D4D4"/>
                </a:solidFill>
                <a:latin typeface="Consolas"/>
              </a:rPr>
              <a:t>    FieldCount(usize),</a:t>
            </a:r>
          </a:p>
          <a:p>
            <a:pPr>
              <a:spcAft>
                <a:spcPts val="100"/>
              </a:spcAft>
            </a:pPr>
            <a:r>
              <a:rPr sz="1100">
                <a:solidFill>
                  <a:srgbClr val="D4D4D4"/>
                </a:solidFill>
                <a:latin typeface="Consolas"/>
              </a:rPr>
              <a:t>    EmptySku,</a:t>
            </a:r>
          </a:p>
          <a:p>
            <a:pPr>
              <a:spcAft>
                <a:spcPts val="100"/>
              </a:spcAft>
            </a:pPr>
            <a:r>
              <a:rPr sz="1100">
                <a:solidFill>
                  <a:srgbClr val="D4D4D4"/>
                </a:solidFill>
                <a:latin typeface="Consolas"/>
              </a:rPr>
              <a:t>    BadNumber { field: &amp;'static str, value: String },</a:t>
            </a:r>
          </a:p>
          <a:p>
            <a:pPr>
              <a:spcAft>
                <a:spcPts val="100"/>
              </a:spcAft>
            </a:pPr>
            <a:r>
              <a:rPr sz="1100">
                <a:solidFill>
                  <a:srgbClr val="D4D4D4"/>
                </a:solidFill>
                <a:latin typeface="Consolas"/>
              </a:rPr>
              <a:t>}</a:t>
            </a:r>
          </a:p>
          <a:p>
            <a:pPr>
              <a:spcAft>
                <a:spcPts val="100"/>
              </a:spcAft>
            </a:pPr>
            <a:r>
              <a:rPr sz="1100">
                <a:solidFill>
                  <a:srgbClr val="C586C0"/>
                </a:solidFill>
                <a:latin typeface="Consolas"/>
              </a:rPr>
              <a:t>impl fmt::Display for ParseError { .. }</a:t>
            </a:r>
          </a:p>
          <a:p>
            <a:pPr>
              <a:spcAft>
                <a:spcPts val="100"/>
              </a:spcAft>
            </a:pPr>
            <a:r>
              <a:rPr sz="1100">
                <a:solidFill>
                  <a:srgbClr val="C586C0"/>
                </a:solidFill>
                <a:latin typeface="Consolas"/>
              </a:rPr>
              <a:t>impl std::error::Error for ParseError {}</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let qty = number("qty", fields[1])?;   // early return on Err</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Error enum</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Each failure is a named, testable variant.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Display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Human-readable message for logs and operators.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Error trait</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Lets the error work with Box&lt;dyn Error&gt; and ?.</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Stops at the first bad field and returns its error.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transition spd="fast" advClick="1">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K4/A4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Custom errors and the ? operator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Recoverable</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Bad input is Result, not panic.</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Context</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Include the field and the offending value.</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Aggregation</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parse_all keeps good lines and numbered errors.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Tests</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assert_eq! on the exact error variant and message.</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10 reports errors on lines 3, 4 and 6 with readable messages.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transition spd="fast" advClick="1">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K4/A4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Custom errors and the ? operator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Error says only "invalid digit"</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Map low-level errors into your enum with field name and value via map_err.</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10 reports errors on lines 3, 4 and 6 with readable messages.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transition spd="fast" advClick="1">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 a failing test like a detective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F48771"/>
                </a:solidFill>
                <a:latin typeface="Consolas"/>
              </a:rPr>
              <a:t>---- total_includes_the_first_line stdout ----</a:t>
            </a:r>
          </a:p>
          <a:p>
            <a:pPr>
              <a:spcAft>
                <a:spcPts val="100"/>
              </a:spcAft>
            </a:pPr>
            <a:r>
              <a:rPr sz="1200">
                <a:solidFill>
                  <a:srgbClr val="F48771"/>
                </a:solidFill>
                <a:latin typeface="Consolas"/>
              </a:rPr>
              <a:t>thread 'total_includes_the_first_line' panicked at</a:t>
            </a:r>
          </a:p>
          <a:p>
            <a:pPr>
              <a:spcAft>
                <a:spcPts val="100"/>
              </a:spcAft>
            </a:pPr>
            <a:r>
              <a:rPr sz="1200">
                <a:solidFill>
                  <a:srgbClr val="D4D4D4"/>
                </a:solidFill>
                <a:latin typeface="Consolas"/>
              </a:rPr>
              <a:t>tests/integration.rs:13:5:</a:t>
            </a:r>
          </a:p>
          <a:p>
            <a:pPr>
              <a:spcAft>
                <a:spcPts val="100"/>
              </a:spcAft>
            </a:pPr>
            <a:r>
              <a:rPr sz="1200">
                <a:solidFill>
                  <a:srgbClr val="F48771"/>
                </a:solidFill>
                <a:latin typeface="Consolas"/>
              </a:rPr>
              <a:t>assertion `left == right` failed</a:t>
            </a:r>
          </a:p>
          <a:p>
            <a:pPr>
              <a:spcAft>
                <a:spcPts val="100"/>
              </a:spcAft>
            </a:pPr>
            <a:r>
              <a:rPr sz="1200">
                <a:solidFill>
                  <a:srgbClr val="D4D4D4"/>
                </a:solidFill>
                <a:latin typeface="Consolas"/>
              </a:rPr>
              <a:t>  left: Some(16695)</a:t>
            </a:r>
          </a:p>
          <a:p>
            <a:pPr>
              <a:spcAft>
                <a:spcPts val="100"/>
              </a:spcAft>
            </a:pPr>
            <a:r>
              <a:rPr sz="1200">
                <a:solidFill>
                  <a:srgbClr val="D4D4D4"/>
                </a:solidFill>
                <a:latin typeface="Consolas"/>
              </a:rPr>
              <a:t> right: Some(52655)</a:t>
            </a:r>
          </a:p>
          <a:p>
            <a:pPr>
              <a:spcAft>
                <a:spcPts val="100"/>
              </a:spcAft>
            </a:pPr>
            <a:r>
              <a:rPr sz="1200">
                <a:solidFill>
                  <a:srgbClr val="D4D4D4"/>
                </a:solidFill>
                <a:latin typeface="Consolas"/>
              </a:rPr>
              <a:t> </a:t>
            </a:r>
          </a:p>
          <a:p>
            <a:pPr>
              <a:spcAft>
                <a:spcPts val="100"/>
              </a:spcAft>
            </a:pPr>
            <a:r>
              <a:rPr sz="1200">
                <a:solidFill>
                  <a:srgbClr val="D4D4D4"/>
                </a:solidFill>
                <a:latin typeface="Consolas"/>
              </a:rPr>
              <a:t>52655 - 16695 = 35960 = 40 x 899  -&gt; first line missing</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Test name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Tells you which rule is broken.</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left / right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Actual value versus expected value.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Arithmetic</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difference often identifies the missing or extra data.</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Location</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File and line of the failing assertion.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transition spd="fast" advClick="1">
    <p:fade/>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K4/A4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 a failing test like a detective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Reproduce</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Run one test: cargo test total_includes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Backtrace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RUST_BACKTRACE=1 cargo test shows the call path.</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Isolate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Check each component with its own test.</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Fix</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Change the code, never the expected value.</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After the fix, the same test passes and stays as a regression test.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transition spd="fast" advClick="1">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K4/A4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 a failing test like a detective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Changing the expected value to make it pass</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Forbidden: the expected value comes from the specification; find the defect instead.</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After the fix, the same test passes and stays as a regression test.</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transition spd="fast" advClick="1">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Debug with dbg!, focused tests and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C586C0"/>
                </a:solidFill>
                <a:latin typeface="Consolas"/>
              </a:rPr>
              <a:t>let total = dbg!(total_cents(&amp;lines));   // prints file:line + value</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cargo test low_stock -- --nocapture      # one test, show output</a:t>
            </a:r>
          </a:p>
          <a:p>
            <a:pPr>
              <a:spcAft>
                <a:spcPts val="100"/>
              </a:spcAft>
            </a:pPr>
            <a:r>
              <a:rPr sz="1000">
                <a:solidFill>
                  <a:srgbClr val="D4D4D4"/>
                </a:solidFill>
                <a:latin typeface="Consolas"/>
              </a:rPr>
              <a:t>RUST_BACKTRACE=1 cargo test</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Prompt: "Here is the failing test and total_cents().</a:t>
            </a:r>
          </a:p>
          <a:p>
            <a:pPr>
              <a:spcAft>
                <a:spcPts val="100"/>
              </a:spcAft>
            </a:pPr>
            <a:r>
              <a:rPr sz="1000">
                <a:solidFill>
                  <a:srgbClr val="D4D4D4"/>
                </a:solidFill>
                <a:latin typeface="Consolas"/>
              </a:rPr>
              <a:t>Explain why the actual value is 16695, point to the line,</a:t>
            </a:r>
          </a:p>
          <a:p>
            <a:pPr>
              <a:spcAft>
                <a:spcPts val="100"/>
              </a:spcAft>
            </a:pPr>
            <a:r>
              <a:rPr sz="1000">
                <a:solidFill>
                  <a:srgbClr val="D4D4D4"/>
                </a:solidFill>
                <a:latin typeface="Consolas"/>
              </a:rPr>
              <a:t>and propose the smallest fix. Do not change the test."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dbg!</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Prints the expression, its value and where it ran; returns the value.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Filter</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cargo test &lt;name&gt; runs only matching tests.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--nocapture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Shows println!/dbg! output from passing tests too.</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AI</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for a diagnosis first, then a minimal patch.</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transition spd="fast" advClick="1">
    <p:fade/>
  </p:transition>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K4/A4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Debug with dbg!, focused tests and AI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Hypothesis</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State what you think is wrong before changing code.</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One change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Change one thing, rerun, observe.</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Cleanup</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Remove dbg! before committing; clippy can flag it.</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Record</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Symptom, cause, fix and test in the review record.</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11 ends with 6 passed and a written defect record.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transition spd="fast" advClick="1">
    <p:fade/>
  </p:transition>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K4/A4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Debug with dbg!, focused tests and AI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Fix works for the test but breaks another</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Run the whole suite after every change, not only the failing test.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11 ends with 6 passed and a written defect record.</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transition spd="fast" advClick="1">
    <p:fade/>
  </p:transition>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ARCH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Interoperability: arguments, files, exit codes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9CDCFE"/>
                </a:solidFill>
                <a:latin typeface="Consolas"/>
              </a:rPr>
              <a:t>$ stockpilot data/stock.csv 13</a:t>
            </a:r>
          </a:p>
          <a:p>
            <a:pPr>
              <a:spcAft>
                <a:spcPts val="100"/>
              </a:spcAft>
            </a:pPr>
            <a:r>
              <a:rPr sz="1200">
                <a:solidFill>
                  <a:srgbClr val="D4D4D4"/>
                </a:solidFill>
                <a:latin typeface="Consolas"/>
              </a:rPr>
              <a:t>ITEMS 4</a:t>
            </a:r>
          </a:p>
          <a:p>
            <a:pPr>
              <a:spcAft>
                <a:spcPts val="100"/>
              </a:spcAft>
            </a:pPr>
            <a:r>
              <a:rPr sz="1200">
                <a:solidFill>
                  <a:srgbClr val="D4D4D4"/>
                </a:solidFill>
                <a:latin typeface="Consolas"/>
              </a:rPr>
              <a:t>TOTAL $526.55</a:t>
            </a:r>
          </a:p>
          <a:p>
            <a:pPr>
              <a:spcAft>
                <a:spcPts val="100"/>
              </a:spcAft>
            </a:pPr>
            <a:r>
              <a:rPr sz="1200">
                <a:solidFill>
                  <a:srgbClr val="D4D4D4"/>
                </a:solidFill>
                <a:latin typeface="Consolas"/>
              </a:rPr>
              <a:t>LOW STOCK ABC-0002, ABC-0003, ABC-0004</a:t>
            </a:r>
          </a:p>
          <a:p>
            <a:pPr>
              <a:spcAft>
                <a:spcPts val="100"/>
              </a:spcAft>
            </a:pPr>
            <a:r>
              <a:rPr sz="1200">
                <a:solidFill>
                  <a:srgbClr val="9CDCFE"/>
                </a:solidFill>
                <a:latin typeface="Consolas"/>
              </a:rPr>
              <a:t>$ echo $?        # 0</a:t>
            </a:r>
          </a:p>
          <a:p>
            <a:pPr>
              <a:spcAft>
                <a:spcPts val="100"/>
              </a:spcAft>
            </a:pPr>
            <a:r>
              <a:rPr sz="1200">
                <a:solidFill>
                  <a:srgbClr val="D4D4D4"/>
                </a:solidFill>
                <a:latin typeface="Consolas"/>
              </a:rPr>
              <a:t> </a:t>
            </a:r>
          </a:p>
          <a:p>
            <a:pPr>
              <a:spcAft>
                <a:spcPts val="100"/>
              </a:spcAft>
            </a:pPr>
            <a:r>
              <a:rPr sz="1200">
                <a:solidFill>
                  <a:srgbClr val="9CDCFE"/>
                </a:solidFill>
                <a:latin typeface="Consolas"/>
              </a:rPr>
              <a:t>$ stockpilot            # usage error -&gt; stderr, exit 2</a:t>
            </a:r>
          </a:p>
          <a:p>
            <a:pPr>
              <a:spcAft>
                <a:spcPts val="100"/>
              </a:spcAft>
            </a:pPr>
            <a:r>
              <a:rPr sz="1200">
                <a:solidFill>
                  <a:srgbClr val="9CDCFE"/>
                </a:solidFill>
                <a:latin typeface="Consolas"/>
              </a:rPr>
              <a:t>$ stockpilot nope.csv   # cannot read -&gt; stderr, exit 1</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Arguments</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std::env::args(); validate count and types.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Files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std::fs::read_to_string returns Result.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stdout/stderr</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Data to stdout, diagnostics to stderr.</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ExitCode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main returns ExitCode so scripts can react.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transition spd="fast" advClick="1">
    <p:fade/>
  </p:transition>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K4/A4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Interoperability: arguments, files, exit codes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0</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Success: report printed.</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1</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Data problem: unreadable file or malformed row.</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2</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Usage problem: wrong arguments.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Tests</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Process tests run the binary via CARGO_BIN_EXE_&lt;name&gt;.</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12 process tests check stdout, stderr and exit codes 0, 1 and 2.</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transition spd="fast" advClick="1">
    <p:fade/>
  </p:transition>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K4/A4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Interoperability: arguments, files, exit codes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Script cannot tell success from failure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Return a non-zero ExitCode and print the error to stderr.</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12 process tests check stdout, stderr and exit codes 0, 1 and 2.</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transition spd="fast" advClick="1">
    <p:fade/>
  </p:transition>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Serde: typed data at the boundary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6A9955"/>
                </a:solidFill>
                <a:latin typeface="Consolas"/>
              </a:rPr>
              <a:t>#[derive(Serialize, Deserialize, Debug, PartialEq)]</a:t>
            </a:r>
          </a:p>
          <a:p>
            <a:pPr>
              <a:spcAft>
                <a:spcPts val="100"/>
              </a:spcAft>
            </a:pPr>
            <a:r>
              <a:rPr sz="1200">
                <a:solidFill>
                  <a:srgbClr val="C586C0"/>
                </a:solidFill>
                <a:latin typeface="Consolas"/>
              </a:rPr>
              <a:t>pub struct Item {</a:t>
            </a:r>
          </a:p>
          <a:p>
            <a:pPr>
              <a:spcAft>
                <a:spcPts val="100"/>
              </a:spcAft>
            </a:pPr>
            <a:r>
              <a:rPr sz="1200">
                <a:solidFill>
                  <a:srgbClr val="C586C0"/>
                </a:solidFill>
                <a:latin typeface="Consolas"/>
              </a:rPr>
              <a:t>    pub sku: String,</a:t>
            </a:r>
          </a:p>
          <a:p>
            <a:pPr>
              <a:spcAft>
                <a:spcPts val="100"/>
              </a:spcAft>
            </a:pPr>
            <a:r>
              <a:rPr sz="1200">
                <a:solidFill>
                  <a:srgbClr val="C586C0"/>
                </a:solidFill>
                <a:latin typeface="Consolas"/>
              </a:rPr>
              <a:t>    pub name: String,</a:t>
            </a:r>
          </a:p>
          <a:p>
            <a:pPr>
              <a:spcAft>
                <a:spcPts val="100"/>
              </a:spcAft>
            </a:pPr>
            <a:r>
              <a:rPr sz="1200">
                <a:solidFill>
                  <a:srgbClr val="C586C0"/>
                </a:solidFill>
                <a:latin typeface="Consolas"/>
              </a:rPr>
              <a:t>    pub qty: u32,          // -1 in JSON -&gt; error</a:t>
            </a:r>
          </a:p>
          <a:p>
            <a:pPr>
              <a:spcAft>
                <a:spcPts val="100"/>
              </a:spcAft>
            </a:pPr>
            <a:r>
              <a:rPr sz="1200">
                <a:solidFill>
                  <a:srgbClr val="C586C0"/>
                </a:solidFill>
                <a:latin typeface="Consolas"/>
              </a:rPr>
              <a:t>    pub unit_cents: u64,</a:t>
            </a:r>
          </a:p>
          <a:p>
            <a:pPr>
              <a:spcAft>
                <a:spcPts val="100"/>
              </a:spcAft>
            </a:pPr>
            <a:r>
              <a:rPr sz="1200">
                <a:solidFill>
                  <a:srgbClr val="D4D4D4"/>
                </a:solidFill>
                <a:latin typeface="Consolas"/>
              </a:rPr>
              <a:t>}</a:t>
            </a:r>
          </a:p>
          <a:p>
            <a:pPr>
              <a:spcAft>
                <a:spcPts val="100"/>
              </a:spcAft>
            </a:pPr>
            <a:r>
              <a:rPr sz="1200">
                <a:solidFill>
                  <a:srgbClr val="D4D4D4"/>
                </a:solidFill>
                <a:latin typeface="Consolas"/>
              </a:rPr>
              <a:t> </a:t>
            </a:r>
          </a:p>
          <a:p>
            <a:pPr>
              <a:spcAft>
                <a:spcPts val="100"/>
              </a:spcAft>
            </a:pPr>
            <a:r>
              <a:rPr sz="1200">
                <a:solidFill>
                  <a:srgbClr val="C586C0"/>
                </a:solidFill>
                <a:latin typeface="Consolas"/>
              </a:rPr>
              <a:t>let items: Vec&lt;Item&gt; = serde_json::from_str(json)?;</a:t>
            </a:r>
          </a:p>
          <a:p>
            <a:pPr>
              <a:spcAft>
                <a:spcPts val="100"/>
              </a:spcAft>
            </a:pPr>
            <a:r>
              <a:rPr sz="1200">
                <a:solidFill>
                  <a:srgbClr val="C586C0"/>
                </a:solidFill>
                <a:latin typeface="Consolas"/>
              </a:rPr>
              <a:t>let text = serde_json::to_string_pretty(&amp;items)?;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Derive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Serialize/Deserialize are generated from the struct.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Validation</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Types reject wrong shapes before business logic runs.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Round trip</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Serialise then parse must give equal values.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Errors</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serde_json::Error reports line, column and cause.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transition spd="fast" advClick="1">
    <p:fade/>
  </p:transition>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K4/A4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Serde: typed data at the boundary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Missing field</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Error unless #[serde(default)] is chosen.</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Unknown field</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Ignored unless #[serde(deny_unknown_fields)].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Numbers</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Out-of-range or negative values for u32 are errors.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Contract</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The struct is the documented JSON schema.</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6 rejects a missing field and a negative quantity.</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p:transition spd="fast" advClick="1">
    <p:fade/>
  </p:transition>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K4/A4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Serde: typed data at the boundary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invalid value: integer -1, expected u32</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Correct the source data; do not widen the type to accept impossible values.</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6 rejects a missing field and a negative quantity.</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p:transition spd="fast" advClick="1">
    <p:fade/>
  </p:transition>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30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Parse CSV records with Result and custom errors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10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Stock files arrive with typos. Instead of crashing, StockPilot must report exactly which line is wrong and why, while still importing every valid line.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labs/activity-10-error-handling: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5 passed; data/stock.csv yields 2 records and errors on lines 3, 4 and 6.</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p:transition spd="fast" advClick="1">
    <p:fade/>
  </p:transition>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Parse CSV records with Result and custom errors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samples/01_result_and_question_mark.rs: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6A9955"/>
                </a:solidFill>
                <a:latin typeface="Consolas"/>
              </a:rPr>
              <a:t>// Sample: Result and the ? operator.</a:t>
            </a:r>
          </a:p>
          <a:p>
            <a:pPr>
              <a:spcAft>
                <a:spcPts val="100"/>
              </a:spcAft>
            </a:pPr>
            <a:r>
              <a:rPr sz="1100">
                <a:solidFill>
                  <a:srgbClr val="C586C0"/>
                </a:solidFill>
                <a:latin typeface="Consolas"/>
              </a:rPr>
              <a:t>use std::num::ParseIntError;</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fn parse_qty(text: &amp;str) -&gt; Result&lt;u32, ParseIntError&gt; {</a:t>
            </a:r>
          </a:p>
          <a:p>
            <a:pPr>
              <a:spcAft>
                <a:spcPts val="100"/>
              </a:spcAft>
            </a:pPr>
            <a:r>
              <a:rPr sz="1100">
                <a:solidFill>
                  <a:srgbClr val="D4D4D4"/>
                </a:solidFill>
                <a:latin typeface="Consolas"/>
              </a:rPr>
              <a:t>    text.trim().parse::&lt;u32&gt;()</a:t>
            </a:r>
          </a:p>
          <a:p>
            <a:pPr>
              <a:spcAft>
                <a:spcPts val="100"/>
              </a:spcAft>
            </a:pPr>
            <a:r>
              <a:rPr sz="1100">
                <a:solidFill>
                  <a:srgbClr val="D4D4D4"/>
                </a:solidFill>
                <a:latin typeface="Consolas"/>
              </a:rPr>
              <a:t>}</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fn total_qty(a: &amp;str, b: &amp;str) -&gt; Result&lt;u32, ParseIntError&gt; {</a:t>
            </a:r>
          </a:p>
          <a:p>
            <a:pPr>
              <a:spcAft>
                <a:spcPts val="100"/>
              </a:spcAft>
            </a:pPr>
            <a:r>
              <a:rPr sz="1100">
                <a:solidFill>
                  <a:srgbClr val="C586C0"/>
                </a:solidFill>
                <a:latin typeface="Consolas"/>
              </a:rPr>
              <a:t>    let first = parse_qty(a)?; // returns early on Err</a:t>
            </a:r>
          </a:p>
          <a:p>
            <a:pPr>
              <a:spcAft>
                <a:spcPts val="100"/>
              </a:spcAft>
            </a:pPr>
            <a:r>
              <a:rPr sz="1100">
                <a:solidFill>
                  <a:srgbClr val="C586C0"/>
                </a:solidFill>
                <a:latin typeface="Consolas"/>
              </a:rPr>
              <a:t>    let second = parse_qty(b)?;</a:t>
            </a:r>
          </a:p>
          <a:p>
            <a:pPr>
              <a:spcAft>
                <a:spcPts val="100"/>
              </a:spcAft>
            </a:pPr>
            <a:r>
              <a:rPr sz="1100">
                <a:solidFill>
                  <a:srgbClr val="D4D4D4"/>
                </a:solidFill>
                <a:latin typeface="Consolas"/>
              </a:rPr>
              <a:t>    Ok(first + second)</a:t>
            </a:r>
          </a:p>
          <a:p>
            <a:pPr>
              <a:spcAft>
                <a:spcPts val="100"/>
              </a:spcAft>
            </a:pPr>
            <a:r>
              <a:rPr sz="1100">
                <a:solidFill>
                  <a:srgbClr val="D4D4D4"/>
                </a:solidFill>
                <a:latin typeface="Consolas"/>
              </a:rPr>
              <a:t>}</a:t>
            </a:r>
          </a:p>
          <a:p>
            <a:pPr>
              <a:spcAft>
                <a:spcPts val="100"/>
              </a:spcAft>
            </a:pPr>
            <a:r>
              <a:rPr sz="1100">
                <a:solidFill>
                  <a:srgbClr val="D4D4D4"/>
                </a:solidFill>
                <a:latin typeface="Consolas"/>
              </a:rPr>
              <a:t> </a:t>
            </a:r>
          </a:p>
          <a:p>
            <a:pPr>
              <a:spcAft>
                <a:spcPts val="100"/>
              </a:spcAft>
            </a:pPr>
            <a:r>
              <a:rPr sz="1100">
                <a:solidFill>
                  <a:srgbClr val="C586C0"/>
                </a:solidFill>
                <a:latin typeface="Consolas"/>
              </a:rPr>
              <a:t>fn main() {</a:t>
            </a:r>
          </a:p>
          <a:p>
            <a:pPr>
              <a:spcAft>
                <a:spcPts val="100"/>
              </a:spcAft>
            </a:pPr>
            <a:r>
              <a:rPr sz="1100">
                <a:solidFill>
                  <a:srgbClr val="D4D4D4"/>
                </a:solidFill>
                <a:latin typeface="Consolas"/>
              </a:rPr>
              <a:t>    println!("{:?}", total_qty("4", " 6 "));</a:t>
            </a:r>
          </a:p>
          <a:p>
            <a:pPr>
              <a:spcAft>
                <a:spcPts val="100"/>
              </a:spcAft>
            </a:pPr>
            <a:r>
              <a:rPr sz="1100">
                <a:solidFill>
                  <a:srgbClr val="C586C0"/>
                </a:solidFill>
                <a:latin typeface="Consolas"/>
              </a:rPr>
              <a:t>    match total_qty("4", "six") {</a:t>
            </a:r>
          </a:p>
          <a:p>
            <a:pPr>
              <a:spcAft>
                <a:spcPts val="100"/>
              </a:spcAft>
            </a:pPr>
            <a:r>
              <a:rPr sz="1100">
                <a:solidFill>
                  <a:srgbClr val="6A9955"/>
                </a:solidFill>
                <a:latin typeface="Consolas"/>
              </a:rPr>
              <a:t>// ... full script: samples/01_result_and_question_mark.rs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01_result_and_question_mark.rs &amp;&amp; ./01_result_and_question_mark</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Result, the ? operator, custom error enums, Display and Box&lt;dyn Error&gt;.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error handling.</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p:transition spd="fast" advClick="1">
    <p:fade/>
  </p:transition>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10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Parse CSV records with Result and custom errors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parse_record(&amp;str) -&gt; Result&lt;Record, ParseError&gt; with ParseError::{FieldCount(n), EmptySku, BadNumber{field, value}} and a Display message for each. parse_all(&amp;str) skips blank lines and the header, returning valid records and (1-based line number, error) pairs.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Parse CSV records with Result and custom errors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Parses `sku,qty,unit_cents`; surrounding spaces are ignored.</a:t>
            </a:r>
          </a:p>
          <a:p>
            <a:pPr>
              <a:spcAft>
                <a:spcPts val="100"/>
              </a:spcAft>
            </a:pPr>
            <a:r>
              <a:rPr sz="1000">
                <a:solidFill>
                  <a:srgbClr val="C586C0"/>
                </a:solidFill>
                <a:latin typeface="Consolas"/>
              </a:rPr>
              <a:t>pub fn parse_record(line: &amp;str) -&gt; Result&lt;Record, ParseError&gt; {</a:t>
            </a:r>
          </a:p>
          <a:p>
            <a:pPr>
              <a:spcAft>
                <a:spcPts val="100"/>
              </a:spcAft>
            </a:pPr>
            <a:r>
              <a:rPr sz="1000">
                <a:solidFill>
                  <a:srgbClr val="C586C0"/>
                </a:solidFill>
                <a:latin typeface="Consolas"/>
              </a:rPr>
              <a:t>    let fields: Vec&lt;&amp;str&gt; = line.split(',').map(str::trim).collect();</a:t>
            </a:r>
          </a:p>
          <a:p>
            <a:pPr>
              <a:spcAft>
                <a:spcPts val="100"/>
              </a:spcAft>
            </a:pPr>
            <a:r>
              <a:rPr sz="1000">
                <a:solidFill>
                  <a:srgbClr val="C586C0"/>
                </a:solidFill>
                <a:latin typeface="Consolas"/>
              </a:rPr>
              <a:t>    if fields.len() != 3 {</a:t>
            </a:r>
          </a:p>
          <a:p>
            <a:pPr>
              <a:spcAft>
                <a:spcPts val="100"/>
              </a:spcAft>
            </a:pPr>
            <a:r>
              <a:rPr sz="1000">
                <a:solidFill>
                  <a:srgbClr val="D4D4D4"/>
                </a:solidFill>
                <a:latin typeface="Consolas"/>
              </a:rPr>
              <a:t>        return Err(ParseError::FieldCount(fields.len()));</a:t>
            </a:r>
          </a:p>
          <a:p>
            <a:pPr>
              <a:spcAft>
                <a:spcPts val="100"/>
              </a:spcAft>
            </a:pPr>
            <a:r>
              <a:rPr sz="1000">
                <a:solidFill>
                  <a:srgbClr val="D4D4D4"/>
                </a:solidFill>
                <a:latin typeface="Consolas"/>
              </a:rPr>
              <a:t>    }</a:t>
            </a:r>
          </a:p>
          <a:p>
            <a:pPr>
              <a:spcAft>
                <a:spcPts val="100"/>
              </a:spcAft>
            </a:pPr>
            <a:r>
              <a:rPr sz="1000">
                <a:solidFill>
                  <a:srgbClr val="C586C0"/>
                </a:solidFill>
                <a:latin typeface="Consolas"/>
              </a:rPr>
              <a:t>    if fields[0].is_empty() {</a:t>
            </a:r>
          </a:p>
          <a:p>
            <a:pPr>
              <a:spcAft>
                <a:spcPts val="100"/>
              </a:spcAft>
            </a:pPr>
            <a:r>
              <a:rPr sz="1000">
                <a:solidFill>
                  <a:srgbClr val="D4D4D4"/>
                </a:solidFill>
                <a:latin typeface="Consolas"/>
              </a:rPr>
              <a:t>        return Err(ParseError::EmptySku);</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    Ok(Record {</a:t>
            </a:r>
          </a:p>
          <a:p>
            <a:pPr>
              <a:spcAft>
                <a:spcPts val="100"/>
              </a:spcAft>
            </a:pPr>
            <a:r>
              <a:rPr sz="1000">
                <a:solidFill>
                  <a:srgbClr val="D4D4D4"/>
                </a:solidFill>
                <a:latin typeface="Consolas"/>
              </a:rPr>
              <a:t>        sku: fields[0].to_string(),</a:t>
            </a:r>
          </a:p>
          <a:p>
            <a:pPr>
              <a:spcAft>
                <a:spcPts val="100"/>
              </a:spcAft>
            </a:pPr>
            <a:r>
              <a:rPr sz="1000">
                <a:solidFill>
                  <a:srgbClr val="D4D4D4"/>
                </a:solidFill>
                <a:latin typeface="Consolas"/>
              </a:rPr>
              <a:t>        qty: number("qty", fields[1])?,</a:t>
            </a:r>
          </a:p>
          <a:p>
            <a:pPr>
              <a:spcAft>
                <a:spcPts val="100"/>
              </a:spcAft>
            </a:pPr>
            <a:r>
              <a:rPr sz="1000">
                <a:solidFill>
                  <a:srgbClr val="D4D4D4"/>
                </a:solidFill>
                <a:latin typeface="Consolas"/>
              </a:rPr>
              <a:t>        unit_cents: number("unit_cents", fields[2])?,</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Result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Every caller must decide what to do with Ok and Err.</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Custom error</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An enum names each failure so tests can match on it exactly.</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Display</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Separate, human-readable messages for operators and logs.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Returns the error early, converting it where From allows.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p:transition spd="fast" advClick="1">
    <p:fade/>
  </p:transition>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10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Parse CSV records with Result and custom errors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100" b="0">
                <a:solidFill>
                  <a:srgbClr val="161B26"/>
                </a:solidFill>
                <a:latin typeface="Arial"/>
              </a:rPr>
              <a:t>•  Act as a senior Rust reviewer. Specification: parse_record(&amp;str) -&gt; Result&lt;Record, ParseError&gt; with ParseError::{FieldCount(n), EmptySku, BadNumber{field, value}} and a Display message for each. parse_all(&amp;str) skips blank lines and the header, returning valid records and (1-based line number, error) pairs.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"Parse CSV records with Result and custom errors" in starter/src so that the supplied tests pass. Return Result everywhere; no unwrap(), expect() or panic! in library code.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p:transition spd="fast" advClick="1">
    <p:fade/>
  </p:transition>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Parse CSV records with Result and custom errors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5 passed; data/stock.csv yields 2 records and errors on lines 3, 4 and 6.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p:transition spd="fast" advClick="1">
    <p:fade/>
  </p:transition>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35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Debug a failing integration with tests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11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nightly stock summary is wrong: the total is too low and a correctly stocked item is flagged. The starter crate contains two real defects. You reproduce them with tests, diagnose them with the help of an AI assistant, fix them and keep regression tests.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labs/activity-11-debug-integration: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Starter: 4 of 6 tests fail. After both fixes cargo test reports 6 passed.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p:transition spd="fast" advClick="1">
    <p:fade/>
  </p:transition>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Debug a failing integration with tests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samples/01_dbg_and_assert.rs: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6A9955"/>
                </a:solidFill>
                <a:latin typeface="Consolas"/>
              </a:rPr>
              <a:t>// Sample: dbg! and assert_eq! as debugging tools.</a:t>
            </a:r>
          </a:p>
          <a:p>
            <a:pPr>
              <a:spcAft>
                <a:spcPts val="100"/>
              </a:spcAft>
            </a:pPr>
            <a:r>
              <a:rPr sz="900">
                <a:solidFill>
                  <a:srgbClr val="C586C0"/>
                </a:solidFill>
                <a:latin typeface="Consolas"/>
              </a:rPr>
              <a:t>fn total(values: &amp;[u64]) -&gt; u64 {</a:t>
            </a:r>
          </a:p>
          <a:p>
            <a:pPr>
              <a:spcAft>
                <a:spcPts val="100"/>
              </a:spcAft>
            </a:pPr>
            <a:r>
              <a:rPr sz="900">
                <a:solidFill>
                  <a:srgbClr val="D4D4D4"/>
                </a:solidFill>
                <a:latin typeface="Consolas"/>
              </a:rPr>
              <a:t>    values.iter().sum()</a:t>
            </a:r>
          </a:p>
          <a:p>
            <a:pPr>
              <a:spcAft>
                <a:spcPts val="100"/>
              </a:spcAft>
            </a:pPr>
            <a:r>
              <a:rPr sz="900">
                <a:solidFill>
                  <a:srgbClr val="D4D4D4"/>
                </a:solidFill>
                <a:latin typeface="Consolas"/>
              </a:rPr>
              <a:t>}</a:t>
            </a:r>
          </a:p>
          <a:p>
            <a:pPr>
              <a:spcAft>
                <a:spcPts val="100"/>
              </a:spcAft>
            </a:pPr>
            <a:r>
              <a:rPr sz="900">
                <a:solidFill>
                  <a:srgbClr val="D4D4D4"/>
                </a:solidFill>
                <a:latin typeface="Consolas"/>
              </a:rPr>
              <a:t> </a:t>
            </a:r>
          </a:p>
          <a:p>
            <a:pPr>
              <a:spcAft>
                <a:spcPts val="100"/>
              </a:spcAft>
            </a:pPr>
            <a:r>
              <a:rPr sz="900">
                <a:solidFill>
                  <a:srgbClr val="C586C0"/>
                </a:solidFill>
                <a:latin typeface="Consolas"/>
              </a:rPr>
              <a:t>fn main() {</a:t>
            </a:r>
          </a:p>
          <a:p>
            <a:pPr>
              <a:spcAft>
                <a:spcPts val="100"/>
              </a:spcAft>
            </a:pPr>
            <a:r>
              <a:rPr sz="900">
                <a:solidFill>
                  <a:srgbClr val="C586C0"/>
                </a:solidFill>
                <a:latin typeface="Consolas"/>
              </a:rPr>
              <a:t>    let values = [35_960, 12_495, 0, 4_200];</a:t>
            </a:r>
          </a:p>
          <a:p>
            <a:pPr>
              <a:spcAft>
                <a:spcPts val="100"/>
              </a:spcAft>
            </a:pPr>
            <a:r>
              <a:rPr sz="900">
                <a:solidFill>
                  <a:srgbClr val="C586C0"/>
                </a:solidFill>
                <a:latin typeface="Consolas"/>
              </a:rPr>
              <a:t>    let result = dbg!(total(&amp;values)); // prints file:line and value to stderr</a:t>
            </a:r>
          </a:p>
          <a:p>
            <a:pPr>
              <a:spcAft>
                <a:spcPts val="100"/>
              </a:spcAft>
            </a:pPr>
            <a:r>
              <a:rPr sz="900">
                <a:solidFill>
                  <a:srgbClr val="D4D4D4"/>
                </a:solidFill>
                <a:latin typeface="Consolas"/>
              </a:rPr>
              <a:t>    assert_eq!(result, 52_655, "total must include every line");</a:t>
            </a:r>
          </a:p>
          <a:p>
            <a:pPr>
              <a:spcAft>
                <a:spcPts val="100"/>
              </a:spcAft>
            </a:pPr>
            <a:r>
              <a:rPr sz="900">
                <a:solidFill>
                  <a:srgbClr val="C586C0"/>
                </a:solidFill>
                <a:latin typeface="Consolas"/>
              </a:rPr>
              <a:t>    let skipped: u64 = values.iter().skip(1).sum();</a:t>
            </a:r>
          </a:p>
          <a:p>
            <a:pPr>
              <a:spcAft>
                <a:spcPts val="100"/>
              </a:spcAft>
            </a:pPr>
            <a:r>
              <a:rPr sz="900">
                <a:solidFill>
                  <a:srgbClr val="D4D4D4"/>
                </a:solidFill>
                <a:latin typeface="Consolas"/>
              </a:rPr>
              <a:t>    println!("correct total {result}, total without the first line {skipped}");</a:t>
            </a:r>
          </a:p>
          <a:p>
            <a:pPr>
              <a:spcAft>
                <a:spcPts val="100"/>
              </a:spcAft>
            </a:pPr>
            <a:r>
              <a:rPr sz="900">
                <a:solidFill>
                  <a:srgbClr val="D4D4D4"/>
                </a:solidFill>
                <a:latin typeface="Consolas"/>
              </a:rPr>
              <a:t>    println!("difference {} = the first line", result - skipped);</a:t>
            </a:r>
          </a:p>
          <a:p>
            <a:pPr>
              <a:spcAft>
                <a:spcPts val="100"/>
              </a:spcAft>
            </a:pPr>
            <a:r>
              <a:rPr sz="9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01_dbg_and_assert.rs &amp;&amp; ./01_dbg_and_assert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assertions, dbg!, unit tests with #[test], and reading a failing test.</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testing and debugging.</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p:transition spd="fast" advClick="1">
    <p:fade/>
  </p:transition>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11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Debug a failing integration with tests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summarise(csv, threshold) -&gt; Result&lt;Summary, String&gt; where Summary { lines, total_cents, low_stock }. Every line counts towards the total; low stock is strictly below the threshold, sorted by SKU; malformed lines are Err("line N: ...").</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Debug a failing integration with tests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6A9955"/>
                </a:solidFill>
                <a:latin typeface="Consolas"/>
              </a:rPr>
              <a:t>/// Total value of every line, or `None` on overflow.</a:t>
            </a:r>
          </a:p>
          <a:p>
            <a:pPr>
              <a:spcAft>
                <a:spcPts val="100"/>
              </a:spcAft>
            </a:pPr>
            <a:r>
              <a:rPr sz="900">
                <a:solidFill>
                  <a:srgbClr val="C586C0"/>
                </a:solidFill>
                <a:latin typeface="Consolas"/>
              </a:rPr>
              <a:t>pub fn total_cents(lines: &amp;[Line]) -&gt; Option&lt;u64&gt; {</a:t>
            </a:r>
          </a:p>
          <a:p>
            <a:pPr>
              <a:spcAft>
                <a:spcPts val="100"/>
              </a:spcAft>
            </a:pPr>
            <a:r>
              <a:rPr sz="900">
                <a:solidFill>
                  <a:srgbClr val="D4D4D4"/>
                </a:solidFill>
                <a:latin typeface="Consolas"/>
              </a:rPr>
              <a:t>    lines.iter().try_fold(0u64, |total, line| {</a:t>
            </a:r>
          </a:p>
          <a:p>
            <a:pPr>
              <a:spcAft>
                <a:spcPts val="100"/>
              </a:spcAft>
            </a:pPr>
            <a:r>
              <a:rPr sz="900">
                <a:solidFill>
                  <a:srgbClr val="D4D4D4"/>
                </a:solidFill>
                <a:latin typeface="Consolas"/>
              </a:rPr>
              <a:t>        total.checked_add(line.unit_cents.checked_mul(u64::from(line.qty))?)</a:t>
            </a:r>
          </a:p>
          <a:p>
            <a:pPr>
              <a:spcAft>
                <a:spcPts val="100"/>
              </a:spcAft>
            </a:pPr>
            <a:r>
              <a:rPr sz="900">
                <a:solidFill>
                  <a:srgbClr val="D4D4D4"/>
                </a:solidFill>
                <a:latin typeface="Consolas"/>
              </a:rPr>
              <a:t>    })</a:t>
            </a:r>
          </a:p>
          <a:p>
            <a:pPr>
              <a:spcAft>
                <a:spcPts val="100"/>
              </a:spcAft>
            </a:pPr>
            <a:r>
              <a:rPr sz="9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Reproduce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 failing test pins the defect with exact input and expected output.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Diagnose</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Compare expected and actual values; 16,695 vs 52,655 means a line is missing.</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Fix minimally</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Change the defect, never the expected values in the test.</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Regress</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Keep the test so the defect cannot silently return.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p:transition spd="fast" advClick="1">
    <p:fade/>
  </p:transition>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11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Debug a failing integration with tests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100" b="0">
                <a:solidFill>
                  <a:srgbClr val="161B26"/>
                </a:solidFill>
                <a:latin typeface="Arial"/>
              </a:rPr>
              <a:t>•  Act as a senior Rust reviewer. Specification: summarise(csv, threshold) -&gt; Result&lt;Summary, String&gt; where Summary { lines, total_cents, low_stock }. Every line counts towards the total; low stock is strictly below the threshold, sorted by SKU; malformed lines are Err("line N: ...").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"Debug a failing integration with tests" in starter/src so that the supplied tests pass. Give the AI the failing test output and the function only; ask for a diagnosis before any code change.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p:transition spd="fast" advClick="1">
    <p:fade/>
  </p:transition>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Debug a failing integration with tests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Starter: 4 of 6 tests fail. After both fixes cargo test reports 6 passed. Starter before you begin: Four of the six tests fail because the starter contains two real defects; the other two pass.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p:transition spd="fast" advClick="1">
    <p:fade/>
  </p:transition>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K4/A4 / 30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Integrate components into a tested command-line tool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12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Operations staff will run StockPilot from a terminal and from scheduled scripts. You connect the library to a binary that reads a file, prints a report and returns exit codes that other programs can rely on.</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labs/activity-12-cli-integration: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7 passed; cargo run -- ../data/stock.csv prints ITEMS 4, TOTAL $526.55, LOW STOCK ABC-0003.</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p:transition spd="fast" advClick="1">
    <p:fade/>
  </p:transition>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Integrate components into a tested command-line tool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samples/01_read_file_and_exit_code.rs: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6A9955"/>
                </a:solidFill>
                <a:latin typeface="Consolas"/>
              </a:rPr>
              <a:t>// Sample: read a file named on the command line; exit code 1 if it fails.</a:t>
            </a:r>
          </a:p>
          <a:p>
            <a:pPr>
              <a:spcAft>
                <a:spcPts val="100"/>
              </a:spcAft>
            </a:pPr>
            <a:r>
              <a:rPr sz="900">
                <a:solidFill>
                  <a:srgbClr val="C586C0"/>
                </a:solidFill>
                <a:latin typeface="Consolas"/>
              </a:rPr>
              <a:t>use std::process::ExitCode;</a:t>
            </a:r>
          </a:p>
          <a:p>
            <a:pPr>
              <a:spcAft>
                <a:spcPts val="100"/>
              </a:spcAft>
            </a:pPr>
            <a:r>
              <a:rPr sz="900">
                <a:solidFill>
                  <a:srgbClr val="D4D4D4"/>
                </a:solidFill>
                <a:latin typeface="Consolas"/>
              </a:rPr>
              <a:t> </a:t>
            </a:r>
          </a:p>
          <a:p>
            <a:pPr>
              <a:spcAft>
                <a:spcPts val="100"/>
              </a:spcAft>
            </a:pPr>
            <a:r>
              <a:rPr sz="900">
                <a:solidFill>
                  <a:srgbClr val="C586C0"/>
                </a:solidFill>
                <a:latin typeface="Consolas"/>
              </a:rPr>
              <a:t>fn main() -&gt; ExitCode {</a:t>
            </a:r>
          </a:p>
          <a:p>
            <a:pPr>
              <a:spcAft>
                <a:spcPts val="100"/>
              </a:spcAft>
            </a:pPr>
            <a:r>
              <a:rPr sz="900">
                <a:solidFill>
                  <a:srgbClr val="C586C0"/>
                </a:solidFill>
                <a:latin typeface="Consolas"/>
              </a:rPr>
              <a:t>    let path = std::env::args()</a:t>
            </a:r>
          </a:p>
          <a:p>
            <a:pPr>
              <a:spcAft>
                <a:spcPts val="100"/>
              </a:spcAft>
            </a:pPr>
            <a:r>
              <a:rPr sz="900">
                <a:solidFill>
                  <a:srgbClr val="D4D4D4"/>
                </a:solidFill>
                <a:latin typeface="Consolas"/>
              </a:rPr>
              <a:t>        .nth(1)</a:t>
            </a:r>
          </a:p>
          <a:p>
            <a:pPr>
              <a:spcAft>
                <a:spcPts val="100"/>
              </a:spcAft>
            </a:pPr>
            <a:r>
              <a:rPr sz="900">
                <a:solidFill>
                  <a:srgbClr val="D4D4D4"/>
                </a:solidFill>
                <a:latin typeface="Consolas"/>
              </a:rPr>
              <a:t>        .unwrap_or_else(|| "missing.csv".to_string());</a:t>
            </a:r>
          </a:p>
          <a:p>
            <a:pPr>
              <a:spcAft>
                <a:spcPts val="100"/>
              </a:spcAft>
            </a:pPr>
            <a:r>
              <a:rPr sz="900">
                <a:solidFill>
                  <a:srgbClr val="C586C0"/>
                </a:solidFill>
                <a:latin typeface="Consolas"/>
              </a:rPr>
              <a:t>    match std::fs::read_to_string(&amp;path) {</a:t>
            </a:r>
          </a:p>
          <a:p>
            <a:pPr>
              <a:spcAft>
                <a:spcPts val="100"/>
              </a:spcAft>
            </a:pPr>
            <a:r>
              <a:rPr sz="900">
                <a:solidFill>
                  <a:srgbClr val="D4D4D4"/>
                </a:solidFill>
                <a:latin typeface="Consolas"/>
              </a:rPr>
              <a:t>        Ok(text) =&gt; {</a:t>
            </a:r>
          </a:p>
          <a:p>
            <a:pPr>
              <a:spcAft>
                <a:spcPts val="100"/>
              </a:spcAft>
            </a:pPr>
            <a:r>
              <a:rPr sz="900">
                <a:solidFill>
                  <a:srgbClr val="D4D4D4"/>
                </a:solidFill>
                <a:latin typeface="Consolas"/>
              </a:rPr>
              <a:t>            println!("{path}: {} line(s)", text.lines().count());</a:t>
            </a:r>
          </a:p>
          <a:p>
            <a:pPr>
              <a:spcAft>
                <a:spcPts val="100"/>
              </a:spcAft>
            </a:pPr>
            <a:r>
              <a:rPr sz="900">
                <a:solidFill>
                  <a:srgbClr val="D4D4D4"/>
                </a:solidFill>
                <a:latin typeface="Consolas"/>
              </a:rPr>
              <a:t>            ExitCode::SUCCESS</a:t>
            </a:r>
          </a:p>
          <a:p>
            <a:pPr>
              <a:spcAft>
                <a:spcPts val="100"/>
              </a:spcAft>
            </a:pPr>
            <a:r>
              <a:rPr sz="900">
                <a:solidFill>
                  <a:srgbClr val="D4D4D4"/>
                </a:solidFill>
                <a:latin typeface="Consolas"/>
              </a:rPr>
              <a:t>        }</a:t>
            </a:r>
          </a:p>
          <a:p>
            <a:pPr>
              <a:spcAft>
                <a:spcPts val="100"/>
              </a:spcAft>
            </a:pPr>
            <a:r>
              <a:rPr sz="900">
                <a:solidFill>
                  <a:srgbClr val="D4D4D4"/>
                </a:solidFill>
                <a:latin typeface="Consolas"/>
              </a:rPr>
              <a:t>        Err(error) =&gt; {</a:t>
            </a:r>
          </a:p>
          <a:p>
            <a:pPr>
              <a:spcAft>
                <a:spcPts val="100"/>
              </a:spcAft>
            </a:pPr>
            <a:r>
              <a:rPr sz="900">
                <a:solidFill>
                  <a:srgbClr val="D4D4D4"/>
                </a:solidFill>
                <a:latin typeface="Consolas"/>
              </a:rPr>
              <a:t>            eprintln!("error: cannot read {path}: {error}");</a:t>
            </a:r>
          </a:p>
          <a:p>
            <a:pPr>
              <a:spcAft>
                <a:spcPts val="100"/>
              </a:spcAft>
            </a:pPr>
            <a:r>
              <a:rPr sz="900">
                <a:solidFill>
                  <a:srgbClr val="D4D4D4"/>
                </a:solidFill>
                <a:latin typeface="Consolas"/>
              </a:rPr>
              <a:t>            ExitCode::from(1)</a:t>
            </a:r>
          </a:p>
          <a:p>
            <a:pPr>
              <a:spcAft>
                <a:spcPts val="100"/>
              </a:spcAft>
            </a:pPr>
            <a:r>
              <a:rPr sz="900">
                <a:solidFill>
                  <a:srgbClr val="D4D4D4"/>
                </a:solidFill>
                <a:latin typeface="Consolas"/>
              </a:rPr>
              <a:t>        }</a:t>
            </a:r>
          </a:p>
          <a:p>
            <a:pPr>
              <a:spcAft>
                <a:spcPts val="100"/>
              </a:spcAft>
            </a:pPr>
            <a:r>
              <a:rPr sz="900">
                <a:solidFill>
                  <a:srgbClr val="6A9955"/>
                </a:solidFill>
                <a:latin typeface="Consolas"/>
              </a:rPr>
              <a:t>// ... full script: samples/01_read_file_and_exit_code.rs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01_read_file_and_exit_code.rs &amp;&amp; ./01_read_file_and_exit_code ../data/stock.csv</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reading files, command-line arguments, stdout versus stderr and process exit codes.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building command-line tools.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p:transition spd="fast" advClick="1">
    <p:fade/>
  </p:transition>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12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Integrate components into a tested command-line tool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run(csv, threshold) -&gt; Result&lt;String, String&gt; returns "ITEMS n\nTOTAL $D.CC\nLOW STOCK a, b | none". The binary takes &lt;file&gt; [threshold=5]; exit 0 on success, 1 for unreadable or invalid data, 2 for usage errors.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Integrate components into a tested command-line tool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C586C0"/>
                </a:solidFill>
                <a:latin typeface="Consolas"/>
              </a:rPr>
              <a:t>pub fn run(csv: &amp;str, threshold: u32) -&gt; Result&lt;String, String&gt; {</a:t>
            </a:r>
          </a:p>
          <a:p>
            <a:pPr>
              <a:spcAft>
                <a:spcPts val="100"/>
              </a:spcAft>
            </a:pPr>
            <a:r>
              <a:rPr sz="900">
                <a:solidFill>
                  <a:srgbClr val="C586C0"/>
                </a:solidFill>
                <a:latin typeface="Consolas"/>
              </a:rPr>
              <a:t>    let mut count = 0usize;</a:t>
            </a:r>
          </a:p>
          <a:p>
            <a:pPr>
              <a:spcAft>
                <a:spcPts val="100"/>
              </a:spcAft>
            </a:pPr>
            <a:r>
              <a:rPr sz="900">
                <a:solidFill>
                  <a:srgbClr val="C586C0"/>
                </a:solidFill>
                <a:latin typeface="Consolas"/>
              </a:rPr>
              <a:t>    let mut total = 0u64;</a:t>
            </a:r>
          </a:p>
          <a:p>
            <a:pPr>
              <a:spcAft>
                <a:spcPts val="100"/>
              </a:spcAft>
            </a:pPr>
            <a:r>
              <a:rPr sz="900">
                <a:solidFill>
                  <a:srgbClr val="C586C0"/>
                </a:solidFill>
                <a:latin typeface="Consolas"/>
              </a:rPr>
              <a:t>    let mut low = Vec::new();</a:t>
            </a:r>
          </a:p>
          <a:p>
            <a:pPr>
              <a:spcAft>
                <a:spcPts val="100"/>
              </a:spcAft>
            </a:pPr>
            <a:r>
              <a:rPr sz="900">
                <a:solidFill>
                  <a:srgbClr val="C586C0"/>
                </a:solidFill>
                <a:latin typeface="Consolas"/>
              </a:rPr>
              <a:t>    for (index, raw) in csv.lines().enumerate() {</a:t>
            </a:r>
          </a:p>
          <a:p>
            <a:pPr>
              <a:spcAft>
                <a:spcPts val="100"/>
              </a:spcAft>
            </a:pPr>
            <a:r>
              <a:rPr sz="900">
                <a:solidFill>
                  <a:srgbClr val="C586C0"/>
                </a:solidFill>
                <a:latin typeface="Consolas"/>
              </a:rPr>
              <a:t>        let raw = raw.trim();</a:t>
            </a:r>
          </a:p>
          <a:p>
            <a:pPr>
              <a:spcAft>
                <a:spcPts val="100"/>
              </a:spcAft>
            </a:pPr>
            <a:r>
              <a:rPr sz="900">
                <a:solidFill>
                  <a:srgbClr val="C586C0"/>
                </a:solidFill>
                <a:latin typeface="Consolas"/>
              </a:rPr>
              <a:t>        if raw.is_empty() || raw.starts_with("sku,") {</a:t>
            </a:r>
          </a:p>
          <a:p>
            <a:pPr>
              <a:spcAft>
                <a:spcPts val="100"/>
              </a:spcAft>
            </a:pPr>
            <a:r>
              <a:rPr sz="900">
                <a:solidFill>
                  <a:srgbClr val="D4D4D4"/>
                </a:solidFill>
                <a:latin typeface="Consolas"/>
              </a:rPr>
              <a:t>            continue;</a:t>
            </a:r>
          </a:p>
          <a:p>
            <a:pPr>
              <a:spcAft>
                <a:spcPts val="100"/>
              </a:spcAft>
            </a:pPr>
            <a:r>
              <a:rPr sz="900">
                <a:solidFill>
                  <a:srgbClr val="D4D4D4"/>
                </a:solidFill>
                <a:latin typeface="Consolas"/>
              </a:rPr>
              <a:t>        }</a:t>
            </a:r>
          </a:p>
          <a:p>
            <a:pPr>
              <a:spcAft>
                <a:spcPts val="100"/>
              </a:spcAft>
            </a:pPr>
            <a:r>
              <a:rPr sz="900">
                <a:solidFill>
                  <a:srgbClr val="C586C0"/>
                </a:solidFill>
                <a:latin typeface="Consolas"/>
              </a:rPr>
              <a:t>        let fields: Vec&lt;&amp;str&gt; = raw.split(',').map(str::trim).collect();</a:t>
            </a:r>
          </a:p>
          <a:p>
            <a:pPr>
              <a:spcAft>
                <a:spcPts val="100"/>
              </a:spcAft>
            </a:pPr>
            <a:r>
              <a:rPr sz="900">
                <a:solidFill>
                  <a:srgbClr val="C586C0"/>
                </a:solidFill>
                <a:latin typeface="Consolas"/>
              </a:rPr>
              <a:t>        let [sku, qty, unit] = fields.as_slice() else {</a:t>
            </a:r>
          </a:p>
          <a:p>
            <a:pPr>
              <a:spcAft>
                <a:spcPts val="100"/>
              </a:spcAft>
            </a:pPr>
            <a:r>
              <a:rPr sz="900">
                <a:solidFill>
                  <a:srgbClr val="D4D4D4"/>
                </a:solidFill>
                <a:latin typeface="Consolas"/>
              </a:rPr>
              <a:t>            return Err(format!("line {}: expected 3 fields", index + 1));</a:t>
            </a:r>
          </a:p>
          <a:p>
            <a:pPr>
              <a:spcAft>
                <a:spcPts val="100"/>
              </a:spcAft>
            </a:pPr>
            <a:r>
              <a:rPr sz="900">
                <a:solidFill>
                  <a:srgbClr val="D4D4D4"/>
                </a:solidFill>
                <a:latin typeface="Consolas"/>
              </a:rPr>
              <a:t>        };</a:t>
            </a:r>
          </a:p>
          <a:p>
            <a:pPr>
              <a:spcAft>
                <a:spcPts val="100"/>
              </a:spcAft>
            </a:pPr>
            <a:r>
              <a:rPr sz="900">
                <a:solidFill>
                  <a:srgbClr val="C586C0"/>
                </a:solidFill>
                <a:latin typeface="Consolas"/>
              </a:rPr>
              <a:t>        let qty: u32 = qty</a:t>
            </a:r>
          </a:p>
          <a:p>
            <a:pPr>
              <a:spcAft>
                <a:spcPts val="100"/>
              </a:spcAft>
            </a:pPr>
            <a:r>
              <a:rPr sz="900">
                <a:solidFill>
                  <a:srgbClr val="D4D4D4"/>
                </a:solidFill>
                <a:latin typeface="Consolas"/>
              </a:rPr>
              <a:t>            .parse()</a:t>
            </a:r>
          </a:p>
          <a:p>
            <a:pPr>
              <a:spcAft>
                <a:spcPts val="100"/>
              </a:spcAft>
            </a:pPr>
            <a:r>
              <a:rPr sz="900">
                <a:solidFill>
                  <a:srgbClr val="D4D4D4"/>
                </a:solidFill>
                <a:latin typeface="Consolas"/>
              </a:rPr>
              <a:t>            .map_err(|_| format!("line {}: bad qty", index + 1))?;</a:t>
            </a:r>
          </a:p>
          <a:p>
            <a:pPr>
              <a:spcAft>
                <a:spcPts val="100"/>
              </a:spcAft>
            </a:pPr>
            <a:r>
              <a:rPr sz="900">
                <a:solidFill>
                  <a:srgbClr val="6A9955"/>
                </a:solidFill>
                <a:latin typeface="Consolas"/>
              </a:rPr>
              <a:t>    // ... full code: solution/src/lib.rs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Thin main</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main handles arguments, files and exit codes; the library holds the logic.</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Exit codes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0 success, 1 bad data, 2 usage: a contract for scripts and schedulers.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CARGO_BIN_EXE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Integration tests run the real compiled binary as a separate process.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stdout vs stderr</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Reports go to stdout; errors go to stderr so pipes stay clean.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p:transition spd="fast" advClick="1">
    <p:fade/>
  </p:transition>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12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Integrate components into a tested command-line tool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200" b="0">
                <a:solidFill>
                  <a:srgbClr val="161B26"/>
                </a:solidFill>
                <a:latin typeface="Arial"/>
              </a:rPr>
              <a:t>•  Act as a senior Rust reviewer. Specification: run(csv, threshold) -&gt; Result&lt;String, String&gt; returns "ITEMS n\nTOTAL $D.CC\nLOW STOCK a, b | none". The binary takes &lt;file&gt; [threshold=5]; exit 0 on success, 1 for unreadable or invalid data, 2 for usage errors.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"Integrate components into a tested command-line tool" in starter/src so that the supplied tests pass. Keep main thin; put every rule in lib.rs where the library tests can reach it.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p:transition spd="fast" advClick="1">
    <p:fade/>
  </p:transition>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Integrate components into a tested command-line tool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7 passed; cargo run -- ../data/stock.csv prints ITEMS 4, TOTAL $526.55, LOW STOCK ABC-0003.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p:transition spd="fast" advClick="1">
    <p:fade/>
  </p:transition>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11 / DEBUGGING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11 fixture: stock value by SKU (cents)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Correct total 52,655. The defective starter reported 16,695: exactly the total without ABC-0001 (35,960). The arithmetic points straight at the skipped first line.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p:transition spd="fast" advClick="1">
    <p:fade/>
  </p:transition>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5 / K5/A5</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AI-Assisted Rust Software Design and Documentation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Activities 13-14 / concepts, contracts, failure modes and evidence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p:transition spd="med" advClick="1">
    <p:push dir="l"/>
  </p:transition>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K5/A5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 comments become documentation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6A9955"/>
                </a:solidFill>
                <a:latin typeface="Consolas"/>
              </a:rPr>
              <a:t>//! Reorder-point calculations for StockPilot.   (crate docs)</a:t>
            </a:r>
          </a:p>
          <a:p>
            <a:pPr>
              <a:spcAft>
                <a:spcPts val="100"/>
              </a:spcAft>
            </a:pPr>
            <a:r>
              <a:rPr sz="1100">
                <a:solidFill>
                  <a:srgbClr val="6A9955"/>
                </a:solidFill>
                <a:latin typeface="Consolas"/>
              </a:rPr>
              <a:t>#![deny(missing_docs)]</a:t>
            </a:r>
          </a:p>
          <a:p>
            <a:pPr>
              <a:spcAft>
                <a:spcPts val="100"/>
              </a:spcAft>
            </a:pPr>
            <a:r>
              <a:rPr sz="1100">
                <a:solidFill>
                  <a:srgbClr val="D4D4D4"/>
                </a:solidFill>
                <a:latin typeface="Consolas"/>
              </a:rPr>
              <a:t> </a:t>
            </a:r>
          </a:p>
          <a:p>
            <a:pPr>
              <a:spcAft>
                <a:spcPts val="100"/>
              </a:spcAft>
            </a:pPr>
            <a:r>
              <a:rPr sz="1100">
                <a:solidFill>
                  <a:srgbClr val="6A9955"/>
                </a:solidFill>
                <a:latin typeface="Consolas"/>
              </a:rPr>
              <a:t>/// Calculates the reorder point in units.</a:t>
            </a:r>
          </a:p>
          <a:p>
            <a:pPr>
              <a:spcAft>
                <a:spcPts val="100"/>
              </a:spcAft>
            </a:pPr>
            <a:r>
              <a:rPr sz="1100">
                <a:solidFill>
                  <a:srgbClr val="6A9955"/>
                </a:solidFill>
                <a:latin typeface="Consolas"/>
              </a:rPr>
              <a:t>///</a:t>
            </a:r>
          </a:p>
          <a:p>
            <a:pPr>
              <a:spcAft>
                <a:spcPts val="100"/>
              </a:spcAft>
            </a:pPr>
            <a:r>
              <a:rPr sz="1100">
                <a:solidFill>
                  <a:srgbClr val="6A9955"/>
                </a:solidFill>
                <a:latin typeface="Consolas"/>
              </a:rPr>
              <a:t>/// `point = daily_usage x lead_days + safety_stock` (R1).</a:t>
            </a:r>
          </a:p>
          <a:p>
            <a:pPr>
              <a:spcAft>
                <a:spcPts val="100"/>
              </a:spcAft>
            </a:pPr>
            <a:r>
              <a:rPr sz="1100">
                <a:solidFill>
                  <a:srgbClr val="6A9955"/>
                </a:solidFill>
                <a:latin typeface="Consolas"/>
              </a:rPr>
              <a:t>/// Returns `None` instead of wrapping on overflow (R2).</a:t>
            </a:r>
          </a:p>
          <a:p>
            <a:pPr>
              <a:spcAft>
                <a:spcPts val="100"/>
              </a:spcAft>
            </a:pPr>
            <a:r>
              <a:rPr sz="1100">
                <a:solidFill>
                  <a:srgbClr val="C586C0"/>
                </a:solidFill>
                <a:latin typeface="Consolas"/>
              </a:rPr>
              <a:t>pub fn reorder_point(daily_usage: u32, lead_days: u32,</a:t>
            </a:r>
          </a:p>
          <a:p>
            <a:pPr>
              <a:spcAft>
                <a:spcPts val="100"/>
              </a:spcAft>
            </a:pPr>
            <a:r>
              <a:rPr sz="1100">
                <a:solidFill>
                  <a:srgbClr val="D4D4D4"/>
                </a:solidFill>
                <a:latin typeface="Consolas"/>
              </a:rPr>
              <a:t>                     safety_stock: u32) -&gt; Option&lt;u32&gt;</a:t>
            </a:r>
          </a:p>
          <a:p>
            <a:pPr>
              <a:spcAft>
                <a:spcPts val="100"/>
              </a:spcAft>
            </a:pPr>
            <a:r>
              <a:rPr sz="1100">
                <a:solidFill>
                  <a:srgbClr val="D4D4D4"/>
                </a:solidFill>
                <a:latin typeface="Consolas"/>
              </a:rPr>
              <a:t> </a:t>
            </a:r>
          </a:p>
          <a:p>
            <a:pPr>
              <a:spcAft>
                <a:spcPts val="100"/>
              </a:spcAft>
            </a:pPr>
            <a:r>
              <a:rPr sz="1100">
                <a:solidFill>
                  <a:srgbClr val="D4D4D4"/>
                </a:solidFill>
                <a:latin typeface="Consolas"/>
              </a:rPr>
              <a:t>cargo doc --no-deps --open</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Documents the enclosing item: the crate or module.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Documents the next item: function, struct, field.</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Markdown</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Headings, lists, code and links render in cargo doc.</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deny(missing_docs)</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An undocumented public item fails the build.</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p:transition spd="fast" advClick="1">
    <p:fade/>
  </p:transition>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K5/A5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 comments become documentation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Summary line</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One sentence saying what it does.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Units and ranges</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State units (cents, days) and limits.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Failure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Say what None/Err means, or add # Panics / # Errors.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Trace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Reference requirement IDs such as R1.</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cargo doc builds and clippy -D warnings reports no missing docs.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p:transition spd="fast" advClick="1">
    <p:fade/>
  </p:transition>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K5/A5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 comments become documentation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warning: missing documentation for a function</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Add a /// summary with units, return meaning and an example.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cargo doc builds and clippy -D warnings reports no missing docs.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p:transition spd="fast" advClick="1">
    <p:fade/>
  </p:transition>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K5/A5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Doctests keep examples honest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6A9955"/>
                </a:solidFill>
                <a:latin typeface="Consolas"/>
              </a:rPr>
              <a:t>/// # Examples</a:t>
            </a:r>
          </a:p>
          <a:p>
            <a:pPr>
              <a:spcAft>
                <a:spcPts val="100"/>
              </a:spcAft>
            </a:pPr>
            <a:r>
              <a:rPr sz="1200">
                <a:solidFill>
                  <a:srgbClr val="6A9955"/>
                </a:solidFill>
                <a:latin typeface="Consolas"/>
              </a:rPr>
              <a:t>///</a:t>
            </a:r>
          </a:p>
          <a:p>
            <a:pPr>
              <a:spcAft>
                <a:spcPts val="100"/>
              </a:spcAft>
            </a:pPr>
            <a:r>
              <a:rPr sz="1200">
                <a:solidFill>
                  <a:srgbClr val="6A9955"/>
                </a:solidFill>
                <a:latin typeface="Consolas"/>
              </a:rPr>
              <a:t>/// ```</a:t>
            </a:r>
          </a:p>
          <a:p>
            <a:pPr>
              <a:spcAft>
                <a:spcPts val="100"/>
              </a:spcAft>
            </a:pPr>
            <a:r>
              <a:rPr sz="1200">
                <a:solidFill>
                  <a:srgbClr val="6A9955"/>
                </a:solidFill>
                <a:latin typeface="Consolas"/>
              </a:rPr>
              <a:t>/// use activity13::reorder_point;</a:t>
            </a:r>
          </a:p>
          <a:p>
            <a:pPr>
              <a:spcAft>
                <a:spcPts val="100"/>
              </a:spcAft>
            </a:pPr>
            <a:r>
              <a:rPr sz="1200">
                <a:solidFill>
                  <a:srgbClr val="6A9955"/>
                </a:solidFill>
                <a:latin typeface="Consolas"/>
              </a:rPr>
              <a:t>/// assert_eq!(reorder_point(12, 5, 20), Some(80));</a:t>
            </a:r>
          </a:p>
          <a:p>
            <a:pPr>
              <a:spcAft>
                <a:spcPts val="100"/>
              </a:spcAft>
            </a:pPr>
            <a:r>
              <a:rPr sz="1200">
                <a:solidFill>
                  <a:srgbClr val="6A9955"/>
                </a:solidFill>
                <a:latin typeface="Consolas"/>
              </a:rPr>
              <a:t>/// ```</a:t>
            </a:r>
          </a:p>
          <a:p>
            <a:pPr>
              <a:spcAft>
                <a:spcPts val="100"/>
              </a:spcAft>
            </a:pPr>
            <a:r>
              <a:rPr sz="1200">
                <a:solidFill>
                  <a:srgbClr val="C586C0"/>
                </a:solidFill>
                <a:latin typeface="Consolas"/>
              </a:rPr>
              <a:t>pub fn reorder_point(..) -&gt; Option&lt;u32&gt; { .. }</a:t>
            </a:r>
          </a:p>
          <a:p>
            <a:pPr>
              <a:spcAft>
                <a:spcPts val="100"/>
              </a:spcAft>
            </a:pPr>
            <a:r>
              <a:rPr sz="1200">
                <a:solidFill>
                  <a:srgbClr val="D4D4D4"/>
                </a:solidFill>
                <a:latin typeface="Consolas"/>
              </a:rPr>
              <a:t> </a:t>
            </a:r>
          </a:p>
          <a:p>
            <a:pPr>
              <a:spcAft>
                <a:spcPts val="100"/>
              </a:spcAft>
            </a:pPr>
            <a:r>
              <a:rPr sz="1200">
                <a:solidFill>
                  <a:srgbClr val="9CDCFE"/>
                </a:solidFill>
                <a:latin typeface="Consolas"/>
              </a:rPr>
              <a:t>$ cargo test</a:t>
            </a:r>
          </a:p>
          <a:p>
            <a:pPr>
              <a:spcAft>
                <a:spcPts val="100"/>
              </a:spcAft>
            </a:pPr>
            <a:r>
              <a:rPr sz="1200">
                <a:solidFill>
                  <a:srgbClr val="D4D4D4"/>
                </a:solidFill>
                <a:latin typeface="Consolas"/>
              </a:rPr>
              <a:t>   Doc-tests activity13</a:t>
            </a:r>
          </a:p>
          <a:p>
            <a:pPr>
              <a:spcAft>
                <a:spcPts val="100"/>
              </a:spcAft>
            </a:pPr>
            <a:r>
              <a:rPr sz="1200">
                <a:solidFill>
                  <a:srgbClr val="D4D4D4"/>
                </a:solidFill>
                <a:latin typeface="Consolas"/>
              </a:rPr>
              <a:t>test src/lib.rs - reorder_point (line 12) ... ok</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Doctest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 code block in docs is compiled and run by cargo test.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Honesty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If behaviour changes, the stale example fails the build.</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Users first</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Examples show how to call the API correctly.</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AI drafts</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AI-written examples must pass as doctests before acceptance.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p:transition spd="fast" advClick="1">
    <p:fade/>
  </p:transition>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K5/A5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Doctests keep examples honest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Location</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Under a # Examples heading in /// comments.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Imports</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Doctests use the crate like an external user.</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Hidden lines</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Lines starting with # are compiled but not shown.</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Evidence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The Doc-tests section of cargo test output.</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13: 3 unit tests and 3 doctests pass.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p:transition spd="fast" advClick="1">
    <p:fade/>
  </p:transition>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K5/A5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Doctests keep examples honest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Doctest fails after a code change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Update the example to the new, specified behaviour, or fix the regression it caught.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13: 3 unit tests and 3 doctests pass.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p:transition spd="fast" advClick="1">
    <p:fade/>
  </p:transition>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K5/A5 /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Trace requirements to code and tests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D4D4D4"/>
                </a:solidFill>
                <a:latin typeface="Consolas"/>
              </a:rPr>
              <a:t>ID  Requirement               Test (tests/acceptance.rs)</a:t>
            </a:r>
          </a:p>
          <a:p>
            <a:pPr>
              <a:spcAft>
                <a:spcPts val="100"/>
              </a:spcAft>
            </a:pPr>
            <a:r>
              <a:rPr sz="1200">
                <a:solidFill>
                  <a:srgbClr val="6A9955"/>
                </a:solidFill>
                <a:latin typeface="Consolas"/>
              </a:rPr>
              <a:t>R1  point = usage*lead+safe   r1_r3_below_the_point_...</a:t>
            </a:r>
          </a:p>
          <a:p>
            <a:pPr>
              <a:spcAft>
                <a:spcPts val="100"/>
              </a:spcAft>
            </a:pPr>
            <a:r>
              <a:rPr sz="1200">
                <a:solidFill>
                  <a:srgbClr val="6A9955"/>
                </a:solidFill>
                <a:latin typeface="Consolas"/>
              </a:rPr>
              <a:t>R2  above point: no order     r2_above_the_point_...</a:t>
            </a:r>
          </a:p>
          <a:p>
            <a:pPr>
              <a:spcAft>
                <a:spcPts val="100"/>
              </a:spcAft>
            </a:pPr>
            <a:r>
              <a:rPr sz="1200">
                <a:solidFill>
                  <a:srgbClr val="6A9955"/>
                </a:solidFill>
                <a:latin typeface="Consolas"/>
              </a:rPr>
              <a:t>R3  order up to 7-day target  r2_exactly_at_the_point_...</a:t>
            </a:r>
          </a:p>
          <a:p>
            <a:pPr>
              <a:spcAft>
                <a:spcPts val="100"/>
              </a:spcAft>
            </a:pPr>
            <a:r>
              <a:rPr sz="1200">
                <a:solidFill>
                  <a:srgbClr val="D4D4D4"/>
                </a:solidFill>
                <a:latin typeface="Consolas"/>
              </a:rPr>
              <a:t>R4  overflow item skipped     r4_overflow_is_skipped_...</a:t>
            </a:r>
          </a:p>
          <a:p>
            <a:pPr>
              <a:spcAft>
                <a:spcPts val="100"/>
              </a:spcAft>
            </a:pPr>
            <a:r>
              <a:rPr sz="1200">
                <a:solidFill>
                  <a:srgbClr val="D4D4D4"/>
                </a:solidFill>
                <a:latin typeface="Consolas"/>
              </a:rPr>
              <a:t> </a:t>
            </a:r>
          </a:p>
          <a:p>
            <a:pPr>
              <a:spcAft>
                <a:spcPts val="100"/>
              </a:spcAft>
            </a:pPr>
            <a:r>
              <a:rPr sz="1200">
                <a:solidFill>
                  <a:srgbClr val="D4D4D4"/>
                </a:solidFill>
                <a:latin typeface="Consolas"/>
              </a:rPr>
              <a:t>Code: reorder_suggestions() in src/lib.rs</a:t>
            </a:r>
          </a:p>
          <a:p>
            <a:pPr>
              <a:spcAft>
                <a:spcPts val="100"/>
              </a:spcAft>
            </a:pPr>
            <a:r>
              <a:rPr sz="1200">
                <a:solidFill>
                  <a:srgbClr val="6A9955"/>
                </a:solidFill>
                <a:latin typeface="Consolas"/>
              </a:rPr>
              <a:t>R1  checked_mul(..)?.checked_add(..)?</a:t>
            </a:r>
          </a:p>
          <a:p>
            <a:pPr>
              <a:spcAft>
                <a:spcPts val="100"/>
              </a:spcAft>
            </a:pPr>
            <a:r>
              <a:rPr sz="1200">
                <a:solidFill>
                  <a:srgbClr val="6A9955"/>
                </a:solidFill>
                <a:latin typeface="Consolas"/>
              </a:rPr>
              <a:t>R2  if item.on_hand &gt; point { return None; }</a:t>
            </a:r>
          </a:p>
          <a:p>
            <a:pPr>
              <a:spcAft>
                <a:spcPts val="100"/>
              </a:spcAft>
            </a:pPr>
            <a:r>
              <a:rPr sz="1200">
                <a:solidFill>
                  <a:srgbClr val="6A9955"/>
                </a:solidFill>
                <a:latin typeface="Consolas"/>
              </a:rPr>
              <a:t>R3  point + cover - on_hand, kept only if &gt; 0</a:t>
            </a:r>
          </a:p>
          <a:p>
            <a:pPr>
              <a:spcAft>
                <a:spcPts val="100"/>
              </a:spcAft>
            </a:pPr>
            <a:r>
              <a:rPr sz="1200">
                <a:solidFill>
                  <a:srgbClr val="D4D4D4"/>
                </a:solidFill>
                <a:latin typeface="Consolas"/>
              </a:rPr>
              <a:t>R4  ? after every checked_* call</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Trace matrix</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Each user requirement links to code and a named test.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Coverage gap</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An empty cell is a missing test or feature.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Change impact</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Changing R3 shows exactly which code and tests to update.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Audit</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Reviewers can verify claims without reading all code.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p:transition spd="fast" advClick="1">
    <p:fade/>
  </p:transition>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K5/A5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Trace requirements to code and tests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Requirement ID</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Stable identifiers R1..Rn used in docs, tests and commits.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Code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Function or line that implements it.</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Test</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Exact test name; the result must be ok.</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Status</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Passed, failed or not yet run: never assumed.</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Activity 14 design.md traces R1-R4 to named, passing tests.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p:transition spd="fast" advClick="1">
    <p:fade/>
  </p:transition>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K5/A5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Trace requirements to code and tests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Requirement without a test</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Add a test named after the requirement before claiming it is met.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Activity 14 design.md traces R1-R4 to named, passing tests.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p:transition spd="fast" advClick="1">
    <p:fade/>
  </p:transition>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K5/A5 / ARCH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Architecture and module maps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D4D4D4"/>
                </a:solidFill>
                <a:latin typeface="Consolas"/>
              </a:rPr>
              <a:t>            +-------------+</a:t>
            </a:r>
          </a:p>
          <a:p>
            <a:pPr>
              <a:spcAft>
                <a:spcPts val="100"/>
              </a:spcAft>
            </a:pPr>
            <a:r>
              <a:rPr sz="1200">
                <a:solidFill>
                  <a:srgbClr val="D4D4D4"/>
                </a:solidFill>
                <a:latin typeface="Consolas"/>
              </a:rPr>
              <a:t> CSV/JSON -&gt;|  parse      |-- Result&lt;Vec&lt;Line&gt;, Error&gt;</a:t>
            </a:r>
          </a:p>
          <a:p>
            <a:pPr>
              <a:spcAft>
                <a:spcPts val="100"/>
              </a:spcAft>
            </a:pPr>
            <a:r>
              <a:rPr sz="1200">
                <a:solidFill>
                  <a:srgbClr val="D4D4D4"/>
                </a:solidFill>
                <a:latin typeface="Consolas"/>
              </a:rPr>
              <a:t>            +-------------+</a:t>
            </a:r>
          </a:p>
          <a:p>
            <a:pPr>
              <a:spcAft>
                <a:spcPts val="100"/>
              </a:spcAft>
            </a:pPr>
            <a:r>
              <a:rPr sz="1200">
                <a:solidFill>
                  <a:srgbClr val="6A9955"/>
                </a:solidFill>
                <a:latin typeface="Consolas"/>
              </a:rPr>
              <a:t>                   |</a:t>
            </a:r>
          </a:p>
          <a:p>
            <a:pPr>
              <a:spcAft>
                <a:spcPts val="100"/>
              </a:spcAft>
            </a:pPr>
            <a:r>
              <a:rPr sz="1200">
                <a:solidFill>
                  <a:srgbClr val="D4D4D4"/>
                </a:solidFill>
                <a:latin typeface="Consolas"/>
              </a:rPr>
              <a:t>            +-------------+     +-------------+</a:t>
            </a:r>
          </a:p>
          <a:p>
            <a:pPr>
              <a:spcAft>
                <a:spcPts val="100"/>
              </a:spcAft>
            </a:pPr>
            <a:r>
              <a:rPr sz="1200">
                <a:solidFill>
                  <a:srgbClr val="6A9955"/>
                </a:solidFill>
                <a:latin typeface="Consolas"/>
              </a:rPr>
              <a:t>            |  inventory  |----&gt;|  report     |--&gt; stdout</a:t>
            </a:r>
          </a:p>
          <a:p>
            <a:pPr>
              <a:spcAft>
                <a:spcPts val="100"/>
              </a:spcAft>
            </a:pPr>
            <a:r>
              <a:rPr sz="1200">
                <a:solidFill>
                  <a:srgbClr val="D4D4D4"/>
                </a:solidFill>
                <a:latin typeface="Consolas"/>
              </a:rPr>
              <a:t>            +-------------+     +-------------+</a:t>
            </a:r>
          </a:p>
          <a:p>
            <a:pPr>
              <a:spcAft>
                <a:spcPts val="100"/>
              </a:spcAft>
            </a:pPr>
            <a:r>
              <a:rPr sz="1200">
                <a:solidFill>
                  <a:srgbClr val="6A9955"/>
                </a:solidFill>
                <a:latin typeface="Consolas"/>
              </a:rPr>
              <a:t>                   |</a:t>
            </a:r>
          </a:p>
          <a:p>
            <a:pPr>
              <a:spcAft>
                <a:spcPts val="100"/>
              </a:spcAft>
            </a:pPr>
            <a:r>
              <a:rPr sz="1200">
                <a:solidFill>
                  <a:srgbClr val="D4D4D4"/>
                </a:solidFill>
                <a:latin typeface="Consolas"/>
              </a:rPr>
              <a:t>            +-------------+</a:t>
            </a:r>
          </a:p>
          <a:p>
            <a:pPr>
              <a:spcAft>
                <a:spcPts val="100"/>
              </a:spcAft>
            </a:pPr>
            <a:r>
              <a:rPr sz="1200">
                <a:solidFill>
                  <a:srgbClr val="6A9955"/>
                </a:solidFill>
                <a:latin typeface="Consolas"/>
              </a:rPr>
              <a:t>            |  reorder    |--&gt; Vec&lt;Suggestion&gt;</a:t>
            </a:r>
          </a:p>
          <a:p>
            <a:pPr>
              <a:spcAft>
                <a:spcPts val="100"/>
              </a:spcAft>
            </a:pPr>
            <a:r>
              <a:rPr sz="1200">
                <a:solidFill>
                  <a:srgbClr val="D4D4D4"/>
                </a:solidFill>
                <a:latin typeface="Consolas"/>
              </a:rPr>
              <a:t>            +-------------+</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Components</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One box per module with a single responsibility.</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Data flow</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Arrows labelled with the Rust types that cross them.</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Boundaries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I/O at the edges; pure logic in the middle.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Mermaid</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Diagrams as text in Markdown, versioned with the code.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p:transition spd="fast" advClick="1">
    <p:fade/>
  </p:transition>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K5/A5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Architecture and module maps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Module</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Name, responsibility, public functions.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Interface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Input type, output type, error type.</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External</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Files, arguments, exit codes, crates.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Owner</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Who maintains it and where its tests live.</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Every box in design.md exists as a module or function in the crate.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p:transition spd="fast" advClick="1">
    <p:fade/>
  </p:transition>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K5/A5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Architecture and module maps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Diagram disagrees with the code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Generate the module list from lib.rs and update the diagram in the same change.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Every box in design.md exists as a module or function in the crate.</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p:transition spd="fast" advClick="1">
    <p:fade/>
  </p:transition>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K5/A5 /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Record design decisions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D4D4D4"/>
                </a:solidFill>
                <a:latin typeface="Consolas"/>
              </a:rPr>
              <a:t>Decision:  Skip items whose arithmetic overflows (R4).</a:t>
            </a:r>
          </a:p>
          <a:p>
            <a:pPr>
              <a:spcAft>
                <a:spcPts val="100"/>
              </a:spcAft>
            </a:pPr>
            <a:r>
              <a:rPr sz="1200">
                <a:solidFill>
                  <a:srgbClr val="D4D4D4"/>
                </a:solidFill>
                <a:latin typeface="Consolas"/>
              </a:rPr>
              <a:t>Context:   Planning data can contain bad usage values.</a:t>
            </a:r>
          </a:p>
          <a:p>
            <a:pPr>
              <a:spcAft>
                <a:spcPts val="100"/>
              </a:spcAft>
            </a:pPr>
            <a:r>
              <a:rPr sz="1200">
                <a:solidFill>
                  <a:srgbClr val="D4D4D4"/>
                </a:solidFill>
                <a:latin typeface="Consolas"/>
              </a:rPr>
              <a:t>Options:   1. panic  2. saturate at u32::MAX  3. skip item</a:t>
            </a:r>
          </a:p>
          <a:p>
            <a:pPr>
              <a:spcAft>
                <a:spcPts val="100"/>
              </a:spcAft>
            </a:pPr>
            <a:r>
              <a:rPr sz="1200">
                <a:solidFill>
                  <a:srgbClr val="D4D4D4"/>
                </a:solidFill>
                <a:latin typeface="Consolas"/>
              </a:rPr>
              <a:t>Chosen:    3 - skip; wrong orders are worse than none.</a:t>
            </a:r>
          </a:p>
          <a:p>
            <a:pPr>
              <a:spcAft>
                <a:spcPts val="100"/>
              </a:spcAft>
            </a:pPr>
            <a:r>
              <a:rPr sz="1200">
                <a:solidFill>
                  <a:srgbClr val="D4D4D4"/>
                </a:solidFill>
                <a:latin typeface="Consolas"/>
              </a:rPr>
              <a:t>Consequences:</a:t>
            </a:r>
          </a:p>
          <a:p>
            <a:pPr>
              <a:spcAft>
                <a:spcPts val="100"/>
              </a:spcAft>
            </a:pPr>
            <a:r>
              <a:rPr sz="1200">
                <a:solidFill>
                  <a:srgbClr val="D4D4D4"/>
                </a:solidFill>
                <a:latin typeface="Consolas"/>
              </a:rPr>
              <a:t>  + no crash, no absurd order quantities</a:t>
            </a:r>
          </a:p>
          <a:p>
            <a:pPr>
              <a:spcAft>
                <a:spcPts val="100"/>
              </a:spcAft>
            </a:pPr>
            <a:r>
              <a:rPr sz="1200">
                <a:solidFill>
                  <a:srgbClr val="D4D4D4"/>
                </a:solidFill>
                <a:latin typeface="Consolas"/>
              </a:rPr>
              <a:t>  - skipped items must be visible in a report (future)</a:t>
            </a:r>
          </a:p>
          <a:p>
            <a:pPr>
              <a:spcAft>
                <a:spcPts val="100"/>
              </a:spcAft>
            </a:pPr>
            <a:r>
              <a:rPr sz="1200">
                <a:solidFill>
                  <a:srgbClr val="D4D4D4"/>
                </a:solidFill>
                <a:latin typeface="Consolas"/>
              </a:rPr>
              <a:t>Evidence:  test r4_overflow_is_skipped_without_panic</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Decision</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What was decided, in one sentence.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Options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Alternatives considered, so reviewers see the trade-off.</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Consequences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Benefits and costs, including follow-up work.</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Evidence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The test that demonstrates the decision.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p:transition spd="fast" advClick="1">
    <p:fade/>
  </p:transition>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K5/A5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Record design decisions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When</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Any choice a maintainer would question later.</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Where</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docs/design.md next to the code.</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AI role</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AI may list options; you choose and justify.</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Update</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Supersede, do not delete, old decisions.</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design.md contains at least one complete decision record.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p:transition spd="fast" advClick="1">
    <p:fade/>
  </p:transition>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K5/A5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Record design decisions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Nobody knows why the code behaves this way</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Add a decision record with context, options and a linked test.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design.md contains at least one complete decision record.</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p:transition spd="fast" advClick="1">
    <p:fade/>
  </p:transition>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K5/A5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AI-assisted documentation, human-verified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200">
                <a:solidFill>
                  <a:srgbClr val="D4D4D4"/>
                </a:solidFill>
                <a:latin typeface="Consolas"/>
              </a:rPr>
              <a:t>Prompt: "Draft rustdoc for reorder_suggestions using ONLY</a:t>
            </a:r>
          </a:p>
          <a:p>
            <a:pPr>
              <a:spcAft>
                <a:spcPts val="100"/>
              </a:spcAft>
            </a:pPr>
            <a:r>
              <a:rPr sz="1200">
                <a:solidFill>
                  <a:srgbClr val="D4D4D4"/>
                </a:solidFill>
                <a:latin typeface="Consolas"/>
              </a:rPr>
              <a:t>this code and R1-R4. Include units, a # Examples doctest</a:t>
            </a:r>
          </a:p>
          <a:p>
            <a:pPr>
              <a:spcAft>
                <a:spcPts val="100"/>
              </a:spcAft>
            </a:pPr>
            <a:r>
              <a:rPr sz="1200">
                <a:solidFill>
                  <a:srgbClr val="D4D4D4"/>
                </a:solidFill>
                <a:latin typeface="Consolas"/>
              </a:rPr>
              <a:t>and a requirement list. Mark anything you are unsure of."</a:t>
            </a:r>
          </a:p>
          <a:p>
            <a:pPr>
              <a:spcAft>
                <a:spcPts val="100"/>
              </a:spcAft>
            </a:pPr>
            <a:r>
              <a:rPr sz="1200">
                <a:solidFill>
                  <a:srgbClr val="D4D4D4"/>
                </a:solidFill>
                <a:latin typeface="Consolas"/>
              </a:rPr>
              <a:t> </a:t>
            </a:r>
          </a:p>
          <a:p>
            <a:pPr>
              <a:spcAft>
                <a:spcPts val="100"/>
              </a:spcAft>
            </a:pPr>
            <a:r>
              <a:rPr sz="1200">
                <a:solidFill>
                  <a:srgbClr val="D4D4D4"/>
                </a:solidFill>
                <a:latin typeface="Consolas"/>
              </a:rPr>
              <a:t>Verify:</a:t>
            </a:r>
          </a:p>
          <a:p>
            <a:pPr>
              <a:spcAft>
                <a:spcPts val="100"/>
              </a:spcAft>
            </a:pPr>
            <a:r>
              <a:rPr sz="1200">
                <a:solidFill>
                  <a:srgbClr val="D4D4D4"/>
                </a:solidFill>
                <a:latin typeface="Consolas"/>
              </a:rPr>
              <a:t>  cargo test          # doctest compiles and passes</a:t>
            </a:r>
          </a:p>
          <a:p>
            <a:pPr>
              <a:spcAft>
                <a:spcPts val="100"/>
              </a:spcAft>
            </a:pPr>
            <a:r>
              <a:rPr sz="1200">
                <a:solidFill>
                  <a:srgbClr val="D4D4D4"/>
                </a:solidFill>
                <a:latin typeface="Consolas"/>
              </a:rPr>
              <a:t>  cargo doc --no-deps # renders</a:t>
            </a:r>
          </a:p>
          <a:p>
            <a:pPr>
              <a:spcAft>
                <a:spcPts val="100"/>
              </a:spcAft>
            </a:pPr>
            <a:r>
              <a:rPr sz="1200">
                <a:solidFill>
                  <a:srgbClr val="D4D4D4"/>
                </a:solidFill>
                <a:latin typeface="Consolas"/>
              </a:rPr>
              <a:t>  compare every claim with code and tests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Grounding</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Give the AI the code and requirements, nothing else.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Hallucination</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AI may describe behaviour the code does not have.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Doctests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Executable examples catch false claims automatically.</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Ownership</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You sign off the documentation, not the AI.</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204</a:t>
            </a:r>
          </a:p>
        </p:txBody>
      </p:sp>
    </p:spTree>
  </p:cSld>
  <p:clrMapOvr>
    <a:masterClrMapping/>
  </p:clrMapOvr>
  <p:transition spd="fast" advClick="1">
    <p:fade/>
  </p:transition>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K5/A5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AI-assisted documentation, human-verified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Accept</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Claims that match code and a passing test.</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Correct</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Wrong units, ranges or missing failure cases.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Reject</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Invented functions, options or performance claims.</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Record</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Section, what was verified, what was changed.</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 AI review table in design.md lists verified and corrected sections.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205</a:t>
            </a:r>
          </a:p>
        </p:txBody>
      </p:sp>
    </p:spTree>
  </p:cSld>
  <p:clrMapOvr>
    <a:masterClrMapping/>
  </p:clrMapOvr>
  <p:transition spd="fast" advClick="1">
    <p:fade/>
  </p:transition>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K5/A5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AI-assisted documentation, human-verified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Docs claim a feature that does not exist</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Delete the claim or implement and test it; never leave it unverified.</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The AI review table in design.md lists verified and corrected sections.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206</a:t>
            </a:r>
          </a:p>
        </p:txBody>
      </p:sp>
    </p:spTree>
  </p:cSld>
  <p:clrMapOvr>
    <a:masterClrMapping/>
  </p:clrMapOvr>
  <p:transition spd="fast" advClick="1">
    <p:fade/>
  </p:transition>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K5/A5 / UI</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 over: README and maintenance notes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Read the code, then the contract: what must always be true?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100">
                <a:solidFill>
                  <a:srgbClr val="D4D4D4"/>
                </a:solidFill>
                <a:latin typeface="Consolas"/>
              </a:rPr>
              <a:t>README.md</a:t>
            </a:r>
          </a:p>
          <a:p>
            <a:pPr>
              <a:spcAft>
                <a:spcPts val="100"/>
              </a:spcAft>
            </a:pPr>
            <a:r>
              <a:rPr sz="1100">
                <a:solidFill>
                  <a:srgbClr val="D4D4D4"/>
                </a:solidFill>
                <a:latin typeface="Consolas"/>
              </a:rPr>
              <a:t>  What it does           (one paragraph)</a:t>
            </a:r>
          </a:p>
          <a:p>
            <a:pPr>
              <a:spcAft>
                <a:spcPts val="100"/>
              </a:spcAft>
            </a:pPr>
            <a:r>
              <a:rPr sz="1100">
                <a:solidFill>
                  <a:srgbClr val="D4D4D4"/>
                </a:solidFill>
                <a:latin typeface="Consolas"/>
              </a:rPr>
              <a:t>  Build and test         cargo test / clippy / fmt</a:t>
            </a:r>
          </a:p>
          <a:p>
            <a:pPr>
              <a:spcAft>
                <a:spcPts val="100"/>
              </a:spcAft>
            </a:pPr>
            <a:r>
              <a:rPr sz="1100">
                <a:solidFill>
                  <a:srgbClr val="D4D4D4"/>
                </a:solidFill>
                <a:latin typeface="Consolas"/>
              </a:rPr>
              <a:t>  Usage                  stockpilot &lt;file&gt; [threshold]</a:t>
            </a:r>
          </a:p>
          <a:p>
            <a:pPr>
              <a:spcAft>
                <a:spcPts val="100"/>
              </a:spcAft>
            </a:pPr>
            <a:r>
              <a:rPr sz="1100">
                <a:solidFill>
                  <a:srgbClr val="D4D4D4"/>
                </a:solidFill>
                <a:latin typeface="Consolas"/>
              </a:rPr>
              <a:t>  Requirements trace     link to docs/design.md</a:t>
            </a:r>
          </a:p>
          <a:p>
            <a:pPr>
              <a:spcAft>
                <a:spcPts val="100"/>
              </a:spcAft>
            </a:pPr>
            <a:r>
              <a:rPr sz="1100">
                <a:solidFill>
                  <a:srgbClr val="D4D4D4"/>
                </a:solidFill>
                <a:latin typeface="Consolas"/>
              </a:rPr>
              <a:t>  Known limits           e.g. skipped overflow items</a:t>
            </a:r>
          </a:p>
          <a:p>
            <a:pPr>
              <a:spcAft>
                <a:spcPts val="100"/>
              </a:spcAft>
            </a:pPr>
            <a:r>
              <a:rPr sz="1100">
                <a:solidFill>
                  <a:srgbClr val="D4D4D4"/>
                </a:solidFill>
                <a:latin typeface="Consolas"/>
              </a:rPr>
              <a:t>  Change procedure       update code + docs + tests together</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Audience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Written for the maintainer who joins next month.</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Commands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Exact commands that prove the system still works.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Limits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Honest list of what is not handled yet.</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Procedure</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How to make a change safely.</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207</a:t>
            </a:r>
          </a:p>
        </p:txBody>
      </p:sp>
    </p:spTree>
  </p:cSld>
  <p:clrMapOvr>
    <a:masterClrMapping/>
  </p:clrMapOvr>
  <p:transition spd="fast" advClick="1">
    <p:fade/>
  </p:transition>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K5/A5 / EXACT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 over: README and maintenance notes / contract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Contract field</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Exact rule</a:t>
            </a:r>
          </a:p>
        </p:txBody>
      </p:sp>
      <p:sp>
        <p:nvSpPr>
          <p:cNvPr id="11" name="Rectangle 10"/>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Build</a:t>
            </a:r>
          </a:p>
        </p:txBody>
      </p:sp>
      <p:sp>
        <p:nvSpPr>
          <p:cNvPr id="13" name="Rectangle 12"/>
          <p:cNvSpPr/>
          <p:nvPr/>
        </p:nvSpPr>
        <p:spPr>
          <a:xfrm>
            <a:off x="3542202" y="2258568"/>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Toolchain version and commands.</a:t>
            </a:r>
          </a:p>
        </p:txBody>
      </p:sp>
      <p:sp>
        <p:nvSpPr>
          <p:cNvPr id="15" name="Rectangle 14"/>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Interfaces</a:t>
            </a:r>
          </a:p>
        </p:txBody>
      </p:sp>
      <p:sp>
        <p:nvSpPr>
          <p:cNvPr id="17" name="Rectangle 16"/>
          <p:cNvSpPr/>
          <p:nvPr/>
        </p:nvSpPr>
        <p:spPr>
          <a:xfrm>
            <a:off x="3542202" y="2971800"/>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971800"/>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Inputs, outputs, exit codes and data formats.</a:t>
            </a:r>
          </a:p>
        </p:txBody>
      </p:sp>
      <p:sp>
        <p:nvSpPr>
          <p:cNvPr id="19" name="Rectangle 18"/>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Quality gates</a:t>
            </a:r>
          </a:p>
        </p:txBody>
      </p:sp>
      <p:sp>
        <p:nvSpPr>
          <p:cNvPr id="21" name="Rectangle 20"/>
          <p:cNvSpPr/>
          <p:nvPr/>
        </p:nvSpPr>
        <p:spPr>
          <a:xfrm>
            <a:off x="3542202" y="3685032"/>
            <a:ext cx="78695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3685032"/>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fmt, clippy -D warnings, test, doc.</a:t>
            </a:r>
          </a:p>
        </p:txBody>
      </p:sp>
      <p:sp>
        <p:nvSpPr>
          <p:cNvPr id="23" name="Rectangle 22"/>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Contacts</a:t>
            </a:r>
          </a:p>
        </p:txBody>
      </p:sp>
      <p:sp>
        <p:nvSpPr>
          <p:cNvPr id="25" name="Rectangle 24"/>
          <p:cNvSpPr/>
          <p:nvPr/>
        </p:nvSpPr>
        <p:spPr>
          <a:xfrm>
            <a:off x="3542202" y="4398264"/>
            <a:ext cx="78695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4398264"/>
            <a:ext cx="7613478" cy="713232"/>
          </a:xfrm>
          <a:prstGeom prst="rect">
            <a:avLst/>
          </a:prstGeom>
          <a:noFill/>
        </p:spPr>
        <p:txBody>
          <a:bodyPr wrap="square" anchor="ctr">
            <a:spAutoFit/>
          </a:bodyPr>
          <a:lstStyle/>
          <a:p>
            <a:pPr algn="l">
              <a:spcAft>
                <a:spcPts val="400"/>
              </a:spcAft>
            </a:pPr>
            <a:r>
              <a:rPr sz="1150" b="0">
                <a:solidFill>
                  <a:srgbClr val="5B6372"/>
                </a:solidFill>
                <a:latin typeface="Arial"/>
              </a:rPr>
              <a:t>Owner and where decisions are recorded.</a:t>
            </a:r>
          </a:p>
        </p:txBody>
      </p:sp>
      <p:sp>
        <p:nvSpPr>
          <p:cNvPr id="27" name="Rectangle 2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 classmate can build, test and explain the capstone from its README and design.md.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208</a:t>
            </a:r>
          </a:p>
        </p:txBody>
      </p:sp>
    </p:spTree>
  </p:cSld>
  <p:clrMapOvr>
    <a:masterClrMapping/>
  </p:clrMapOvr>
  <p:transition spd="fast" advClick="1">
    <p:fade/>
  </p:transition>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K5/A5 / FAILURE &amp;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 over: README and maintenance notes /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Handover depends on the original developer</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Symptom present: fix</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Write down commands, limits and decisions until a newcomer can run and change it alone.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Contract holds: evidence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 classmate can build, test and explain the capstone from its README and design.md.</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Compiler errors, failing tests and clippy warnings are evidence: read them, then act.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209</a:t>
            </a:r>
          </a:p>
        </p:txBody>
      </p:sp>
    </p:spTree>
  </p:cSld>
  <p:clrMapOvr>
    <a:masterClrMapping/>
  </p:clrMapOvr>
  <p:transition spd="fast" advClick="1">
    <p:fade/>
  </p:transition>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K5/A5 / 30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Document an API with rustdoc and doctests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13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maintenance team will own the reorder calculation. The starter code works but has no documentation. You write rustdoc comments whose examples are compiled and run as tests, and trace them to requirements.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labs/activity-13-rustdoc-doctests: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runs 3 tests and 3 doctests; cargo doc --no-deps builds; clippy -D warnings is clean.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210</a:t>
            </a:r>
          </a:p>
        </p:txBody>
      </p:sp>
    </p:spTree>
  </p:cSld>
  <p:clrMapOvr>
    <a:masterClrMapping/>
  </p:clrMapOvr>
  <p:transition spd="fast" advClick="1">
    <p:fade/>
  </p:transition>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Document an API with rustdoc and doctests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samples/01_doc_comments.rs: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900">
                <a:solidFill>
                  <a:srgbClr val="6A9955"/>
                </a:solidFill>
                <a:latin typeface="Consolas"/>
              </a:rPr>
              <a:t>//! Sample library: document an API so rustdoc can render it and test it.</a:t>
            </a:r>
          </a:p>
          <a:p>
            <a:pPr>
              <a:spcAft>
                <a:spcPts val="100"/>
              </a:spcAft>
            </a:pPr>
            <a:r>
              <a:rPr sz="900">
                <a:solidFill>
                  <a:srgbClr val="D4D4D4"/>
                </a:solidFill>
                <a:latin typeface="Consolas"/>
              </a:rPr>
              <a:t> </a:t>
            </a:r>
          </a:p>
          <a:p>
            <a:pPr>
              <a:spcAft>
                <a:spcPts val="100"/>
              </a:spcAft>
            </a:pPr>
            <a:r>
              <a:rPr sz="900">
                <a:solidFill>
                  <a:srgbClr val="6A9955"/>
                </a:solidFill>
                <a:latin typeface="Consolas"/>
              </a:rPr>
              <a:t>/// Days of usage kept as safety stock.</a:t>
            </a:r>
          </a:p>
          <a:p>
            <a:pPr>
              <a:spcAft>
                <a:spcPts val="100"/>
              </a:spcAft>
            </a:pPr>
            <a:r>
              <a:rPr sz="900">
                <a:solidFill>
                  <a:srgbClr val="C586C0"/>
                </a:solidFill>
                <a:latin typeface="Consolas"/>
              </a:rPr>
              <a:t>pub const SAFETY_DAYS: u32 = 2;</a:t>
            </a:r>
          </a:p>
          <a:p>
            <a:pPr>
              <a:spcAft>
                <a:spcPts val="100"/>
              </a:spcAft>
            </a:pPr>
            <a:r>
              <a:rPr sz="900">
                <a:solidFill>
                  <a:srgbClr val="D4D4D4"/>
                </a:solidFill>
                <a:latin typeface="Consolas"/>
              </a:rPr>
              <a:t> </a:t>
            </a:r>
          </a:p>
          <a:p>
            <a:pPr>
              <a:spcAft>
                <a:spcPts val="100"/>
              </a:spcAft>
            </a:pPr>
            <a:r>
              <a:rPr sz="900">
                <a:solidFill>
                  <a:srgbClr val="6A9955"/>
                </a:solidFill>
                <a:latin typeface="Consolas"/>
              </a:rPr>
              <a:t>/// Returns the safety stock in units for a daily usage.</a:t>
            </a:r>
          </a:p>
          <a:p>
            <a:pPr>
              <a:spcAft>
                <a:spcPts val="100"/>
              </a:spcAft>
            </a:pPr>
            <a:r>
              <a:rPr sz="900">
                <a:solidFill>
                  <a:srgbClr val="6A9955"/>
                </a:solidFill>
                <a:latin typeface="Consolas"/>
              </a:rPr>
              <a:t>///</a:t>
            </a:r>
          </a:p>
          <a:p>
            <a:pPr>
              <a:spcAft>
                <a:spcPts val="100"/>
              </a:spcAft>
            </a:pPr>
            <a:r>
              <a:rPr sz="900">
                <a:solidFill>
                  <a:srgbClr val="6A9955"/>
                </a:solidFill>
                <a:latin typeface="Consolas"/>
              </a:rPr>
              <a:t>/// # Examples</a:t>
            </a:r>
          </a:p>
          <a:p>
            <a:pPr>
              <a:spcAft>
                <a:spcPts val="100"/>
              </a:spcAft>
            </a:pPr>
            <a:r>
              <a:rPr sz="900">
                <a:solidFill>
                  <a:srgbClr val="6A9955"/>
                </a:solidFill>
                <a:latin typeface="Consolas"/>
              </a:rPr>
              <a:t>///</a:t>
            </a:r>
          </a:p>
          <a:p>
            <a:pPr>
              <a:spcAft>
                <a:spcPts val="100"/>
              </a:spcAft>
            </a:pPr>
            <a:r>
              <a:rPr sz="900">
                <a:solidFill>
                  <a:srgbClr val="6A9955"/>
                </a:solidFill>
                <a:latin typeface="Consolas"/>
              </a:rPr>
              <a:t>/// ```</a:t>
            </a:r>
          </a:p>
          <a:p>
            <a:pPr>
              <a:spcAft>
                <a:spcPts val="100"/>
              </a:spcAft>
            </a:pPr>
            <a:r>
              <a:rPr sz="900">
                <a:solidFill>
                  <a:srgbClr val="6A9955"/>
                </a:solidFill>
                <a:latin typeface="Consolas"/>
              </a:rPr>
              <a:t>/// assert_eq!(docsample::safety_stock(12), Some(24));</a:t>
            </a:r>
          </a:p>
          <a:p>
            <a:pPr>
              <a:spcAft>
                <a:spcPts val="100"/>
              </a:spcAft>
            </a:pPr>
            <a:r>
              <a:rPr sz="900">
                <a:solidFill>
                  <a:srgbClr val="6A9955"/>
                </a:solidFill>
                <a:latin typeface="Consolas"/>
              </a:rPr>
              <a:t>/// assert_eq!(docsample::safety_stock(u32::MAX), None);</a:t>
            </a:r>
          </a:p>
          <a:p>
            <a:pPr>
              <a:spcAft>
                <a:spcPts val="100"/>
              </a:spcAft>
            </a:pPr>
            <a:r>
              <a:rPr sz="900">
                <a:solidFill>
                  <a:srgbClr val="6A9955"/>
                </a:solidFill>
                <a:latin typeface="Consolas"/>
              </a:rPr>
              <a:t>/// ```</a:t>
            </a:r>
          </a:p>
          <a:p>
            <a:pPr>
              <a:spcAft>
                <a:spcPts val="100"/>
              </a:spcAft>
            </a:pPr>
            <a:r>
              <a:rPr sz="900">
                <a:solidFill>
                  <a:srgbClr val="C586C0"/>
                </a:solidFill>
                <a:latin typeface="Consolas"/>
              </a:rPr>
              <a:t>pub fn safety_stock(daily_usage: u32) -&gt; Option&lt;u32&gt; {</a:t>
            </a:r>
          </a:p>
          <a:p>
            <a:pPr>
              <a:spcAft>
                <a:spcPts val="100"/>
              </a:spcAft>
            </a:pPr>
            <a:r>
              <a:rPr sz="900">
                <a:solidFill>
                  <a:srgbClr val="D4D4D4"/>
                </a:solidFill>
                <a:latin typeface="Consolas"/>
              </a:rPr>
              <a:t>    daily_usage.checked_mul(SAFETY_DAYS)</a:t>
            </a:r>
          </a:p>
          <a:p>
            <a:pPr>
              <a:spcAft>
                <a:spcPts val="100"/>
              </a:spcAft>
            </a:pPr>
            <a:r>
              <a:rPr sz="9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--crate-type lib, then rustdoc --test -L . (exact commands: samples/README.md)</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doc comments (/// and //!), # Examples sections, doctests and rustdoc.</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writing documentation.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211</a:t>
            </a:r>
          </a:p>
        </p:txBody>
      </p:sp>
    </p:spTree>
  </p:cSld>
  <p:clrMapOvr>
    <a:masterClrMapping/>
  </p:clrMapOvr>
  <p:transition spd="fast" advClick="1">
    <p:fade/>
  </p:transition>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13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Document an API with rustdoc and doctests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reorder_point(daily_usage, lead_days, safety_stock) -&gt; Option&lt;u32&gt; = daily_usage x lead_days + safety_stock (R1), None on overflow (R2). needs_reorder(on_hand, point) is true at or below the point (R3). Every public item is documented; cargo clippy with -D warnings enforces missing_docs.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Document an API with rustdoc and doctests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Calculates the reorder point in units.</a:t>
            </a:r>
          </a:p>
          <a:p>
            <a:pPr>
              <a:spcAft>
                <a:spcPts val="100"/>
              </a:spcAft>
            </a:pPr>
            <a:r>
              <a:rPr sz="1000">
                <a:solidFill>
                  <a:srgbClr val="6A9955"/>
                </a:solidFill>
                <a:latin typeface="Consolas"/>
              </a:rPr>
              <a:t>///</a:t>
            </a:r>
          </a:p>
          <a:p>
            <a:pPr>
              <a:spcAft>
                <a:spcPts val="100"/>
              </a:spcAft>
            </a:pPr>
            <a:r>
              <a:rPr sz="1000">
                <a:solidFill>
                  <a:srgbClr val="6A9955"/>
                </a:solidFill>
                <a:latin typeface="Consolas"/>
              </a:rPr>
              <a:t>/// `reorder point = daily_usage x lead_days + safety_stock` (R1).</a:t>
            </a:r>
          </a:p>
          <a:p>
            <a:pPr>
              <a:spcAft>
                <a:spcPts val="100"/>
              </a:spcAft>
            </a:pPr>
            <a:r>
              <a:rPr sz="1000">
                <a:solidFill>
                  <a:srgbClr val="6A9955"/>
                </a:solidFill>
                <a:latin typeface="Consolas"/>
              </a:rPr>
              <a:t>///</a:t>
            </a:r>
          </a:p>
          <a:p>
            <a:pPr>
              <a:spcAft>
                <a:spcPts val="100"/>
              </a:spcAft>
            </a:pPr>
            <a:r>
              <a:rPr sz="1000">
                <a:solidFill>
                  <a:srgbClr val="6A9955"/>
                </a:solidFill>
                <a:latin typeface="Consolas"/>
              </a:rPr>
              <a:t>/// # Examples</a:t>
            </a:r>
          </a:p>
          <a:p>
            <a:pPr>
              <a:spcAft>
                <a:spcPts val="100"/>
              </a:spcAft>
            </a:pPr>
            <a:r>
              <a:rPr sz="1000">
                <a:solidFill>
                  <a:srgbClr val="6A9955"/>
                </a:solidFill>
                <a:latin typeface="Consolas"/>
              </a:rPr>
              <a:t>///</a:t>
            </a:r>
          </a:p>
          <a:p>
            <a:pPr>
              <a:spcAft>
                <a:spcPts val="100"/>
              </a:spcAft>
            </a:pPr>
            <a:r>
              <a:rPr sz="1000">
                <a:solidFill>
                  <a:srgbClr val="6A9955"/>
                </a:solidFill>
                <a:latin typeface="Consolas"/>
              </a:rPr>
              <a:t>/// ```</a:t>
            </a:r>
          </a:p>
          <a:p>
            <a:pPr>
              <a:spcAft>
                <a:spcPts val="100"/>
              </a:spcAft>
            </a:pPr>
            <a:r>
              <a:rPr sz="1000">
                <a:solidFill>
                  <a:srgbClr val="6A9955"/>
                </a:solidFill>
                <a:latin typeface="Consolas"/>
              </a:rPr>
              <a:t>/// ... (full docs in the source file)</a:t>
            </a:r>
          </a:p>
          <a:p>
            <a:pPr>
              <a:spcAft>
                <a:spcPts val="100"/>
              </a:spcAft>
            </a:pPr>
            <a:r>
              <a:rPr sz="1000">
                <a:solidFill>
                  <a:srgbClr val="C586C0"/>
                </a:solidFill>
                <a:latin typeface="Consolas"/>
              </a:rPr>
              <a:t>pub fn reorder_point(</a:t>
            </a:r>
          </a:p>
          <a:p>
            <a:pPr>
              <a:spcAft>
                <a:spcPts val="100"/>
              </a:spcAft>
            </a:pPr>
            <a:r>
              <a:rPr sz="1000">
                <a:solidFill>
                  <a:srgbClr val="D4D4D4"/>
                </a:solidFill>
                <a:latin typeface="Consolas"/>
              </a:rPr>
              <a:t>    daily_usage: u32,</a:t>
            </a:r>
          </a:p>
          <a:p>
            <a:pPr>
              <a:spcAft>
                <a:spcPts val="100"/>
              </a:spcAft>
            </a:pPr>
            <a:r>
              <a:rPr sz="1000">
                <a:solidFill>
                  <a:srgbClr val="D4D4D4"/>
                </a:solidFill>
                <a:latin typeface="Consolas"/>
              </a:rPr>
              <a:t>    lead_days: u32,</a:t>
            </a:r>
          </a:p>
          <a:p>
            <a:pPr>
              <a:spcAft>
                <a:spcPts val="100"/>
              </a:spcAft>
            </a:pPr>
            <a:r>
              <a:rPr sz="1000">
                <a:solidFill>
                  <a:srgbClr val="D4D4D4"/>
                </a:solidFill>
                <a:latin typeface="Consolas"/>
              </a:rPr>
              <a:t>    safety_stock: u32,</a:t>
            </a:r>
          </a:p>
          <a:p>
            <a:pPr>
              <a:spcAft>
                <a:spcPts val="100"/>
              </a:spcAft>
            </a:pPr>
            <a:r>
              <a:rPr sz="1000">
                <a:solidFill>
                  <a:srgbClr val="D4D4D4"/>
                </a:solidFill>
                <a:latin typeface="Consolas"/>
              </a:rPr>
              <a:t>) -&gt; Option&lt;u32&gt; {</a:t>
            </a:r>
          </a:p>
          <a:p>
            <a:pPr>
              <a:spcAft>
                <a:spcPts val="100"/>
              </a:spcAft>
            </a:pPr>
            <a:r>
              <a:rPr sz="1000">
                <a:solidFill>
                  <a:srgbClr val="D4D4D4"/>
                </a:solidFill>
                <a:latin typeface="Consolas"/>
              </a:rPr>
              <a:t>    daily_usage</a:t>
            </a:r>
          </a:p>
          <a:p>
            <a:pPr>
              <a:spcAft>
                <a:spcPts val="100"/>
              </a:spcAft>
            </a:pPr>
            <a:r>
              <a:rPr sz="1000">
                <a:solidFill>
                  <a:srgbClr val="D4D4D4"/>
                </a:solidFill>
                <a:latin typeface="Consolas"/>
              </a:rPr>
              <a:t>        .checked_mul(lead_days)?</a:t>
            </a:r>
          </a:p>
          <a:p>
            <a:pPr>
              <a:spcAft>
                <a:spcPts val="100"/>
              </a:spcAft>
            </a:pPr>
            <a:r>
              <a:rPr sz="1000">
                <a:solidFill>
                  <a:srgbClr val="D4D4D4"/>
                </a:solidFill>
                <a:latin typeface="Consolas"/>
              </a:rPr>
              <a:t>        .checked_add(safety_stock)</a:t>
            </a:r>
          </a:p>
          <a:p>
            <a:pPr>
              <a:spcAft>
                <a:spcPts val="100"/>
              </a:spcAft>
            </a:pPr>
            <a:r>
              <a:rPr sz="1000">
                <a:solidFill>
                  <a:srgbClr val="D4D4D4"/>
                </a:solidFill>
                <a:latin typeface="Consolas"/>
              </a:rPr>
              <a:t>}</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Outer doc comments document the next item; //! documents the crate.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 Examples</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Code blocks in docs are compiled and run by cargo test as doctests.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missing_docs</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deny(missing_docs) turns an undocumented public item into a build error.</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Traceability</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R1-R3 in the docs link each behaviour to a user requirement and a test.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213</a:t>
            </a:r>
          </a:p>
        </p:txBody>
      </p:sp>
    </p:spTree>
  </p:cSld>
  <p:clrMapOvr>
    <a:masterClrMapping/>
  </p:clrMapOvr>
  <p:transition spd="fast" advClick="1">
    <p:fade/>
  </p:transition>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13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Document an API with rustdoc and doctests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100" b="0">
                <a:solidFill>
                  <a:srgbClr val="161B26"/>
                </a:solidFill>
                <a:latin typeface="Arial"/>
              </a:rPr>
              <a:t>•  Act as a senior Rust reviewer. Specification: reorder_point(daily_usage, lead_days, safety_stock) -&gt; Option&lt;u32&gt; = daily_usage x lead_days + safety_stock (R1), None on overflow (R2). needs_reorder(on_hand, point) is true at or below the point (R3). Every public item is documented; cargo clippy with -D warnings enforces missing_docs.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"Document an API with rustdoc and doctests" in starter/src so that the supplied tests pass. Ask the AI to draft docs from the code and requirements only; verify every example by running cargo test.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214</a:t>
            </a:r>
          </a:p>
        </p:txBody>
      </p:sp>
    </p:spTree>
  </p:cSld>
  <p:clrMapOvr>
    <a:masterClrMapping/>
  </p:clrMapOvr>
  <p:transition spd="fast" advClick="1">
    <p:fade/>
  </p:transition>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Document an API with rustdoc and doctests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runs 3 tests and 3 doctests; cargo doc --no-deps builds; clippy -D warnings is clean. Starter before you begin: cargo test passes because the logic already works, but cargo clippy --all-targets -- -D warnings fails with "missing documentation" errors.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215</a:t>
            </a:r>
          </a:p>
        </p:txBody>
      </p:sp>
    </p:spTree>
  </p:cSld>
  <p:clrMapOvr>
    <a:masterClrMapping/>
  </p:clrMapOvr>
  <p:transition spd="fast" advClick="1">
    <p:fade/>
  </p:transition>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K5/A5 K4/A4 / 30 MIN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Design and document a reorder feature with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ACTIVITY 14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Independent practice; full steps in the activity README and Learner Guide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Capstone: purchasing wants weekly reorder suggestions. You agree requirements R1-R4, implement the feature with an AI assistant, and hand over a design record that traces every requirement to code and tests.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labs/activity-14-design-capstone: complete starter/ against the tests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Rust stable / Cargo / VS Code + rust-analyzer / AI assistant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cargo test reports 6 passed and 1 doctest; docs/design.md traces R1-R4 to named tests.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216</a:t>
            </a:r>
          </a:p>
        </p:txBody>
      </p:sp>
    </p:spTree>
  </p:cSld>
  <p:clrMapOvr>
    <a:masterClrMapping/>
  </p:clrMapOvr>
  <p:transition spd="fast" advClick="1">
    <p:fade/>
  </p:transition>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14 / LEARN RUST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Design and document a reorder feature with AI / learn it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samples/01_design_with_types.rs: predict the output, run it, then use the Learn Rust prompts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6A9955"/>
                </a:solidFill>
                <a:latin typeface="Consolas"/>
              </a:rPr>
              <a:t>// Sample: newtypes make invalid values hard to create.</a:t>
            </a:r>
          </a:p>
          <a:p>
            <a:pPr>
              <a:spcAft>
                <a:spcPts val="100"/>
              </a:spcAft>
            </a:pPr>
            <a:r>
              <a:rPr sz="1000">
                <a:solidFill>
                  <a:srgbClr val="C586C0"/>
                </a:solidFill>
                <a:latin typeface="Consolas"/>
              </a:rPr>
              <a:t>struct Units(u32);</a:t>
            </a:r>
          </a:p>
          <a:p>
            <a:pPr>
              <a:spcAft>
                <a:spcPts val="100"/>
              </a:spcAft>
            </a:pPr>
            <a:r>
              <a:rPr sz="1000">
                <a:solidFill>
                  <a:srgbClr val="D4D4D4"/>
                </a:solidFill>
                <a:latin typeface="Consolas"/>
              </a:rPr>
              <a:t> </a:t>
            </a:r>
          </a:p>
          <a:p>
            <a:pPr>
              <a:spcAft>
                <a:spcPts val="100"/>
              </a:spcAft>
            </a:pPr>
            <a:r>
              <a:rPr sz="1000">
                <a:solidFill>
                  <a:srgbClr val="C586C0"/>
                </a:solidFill>
                <a:latin typeface="Consolas"/>
              </a:rPr>
              <a:t>struct Sku(String);</a:t>
            </a:r>
          </a:p>
          <a:p>
            <a:pPr>
              <a:spcAft>
                <a:spcPts val="100"/>
              </a:spcAft>
            </a:pPr>
            <a:r>
              <a:rPr sz="1000">
                <a:solidFill>
                  <a:srgbClr val="D4D4D4"/>
                </a:solidFill>
                <a:latin typeface="Consolas"/>
              </a:rPr>
              <a:t> </a:t>
            </a:r>
          </a:p>
          <a:p>
            <a:pPr>
              <a:spcAft>
                <a:spcPts val="100"/>
              </a:spcAft>
            </a:pPr>
            <a:r>
              <a:rPr sz="1000">
                <a:solidFill>
                  <a:srgbClr val="C586C0"/>
                </a:solidFill>
                <a:latin typeface="Consolas"/>
              </a:rPr>
              <a:t>impl Sku {</a:t>
            </a:r>
          </a:p>
          <a:p>
            <a:pPr>
              <a:spcAft>
                <a:spcPts val="100"/>
              </a:spcAft>
            </a:pPr>
            <a:r>
              <a:rPr sz="1000">
                <a:solidFill>
                  <a:srgbClr val="C586C0"/>
                </a:solidFill>
                <a:latin typeface="Consolas"/>
              </a:rPr>
              <a:t>    fn parse(text: &amp;str) -&gt; Option&lt;Sku&gt; {</a:t>
            </a:r>
          </a:p>
          <a:p>
            <a:pPr>
              <a:spcAft>
                <a:spcPts val="100"/>
              </a:spcAft>
            </a:pPr>
            <a:r>
              <a:rPr sz="1000">
                <a:solidFill>
                  <a:srgbClr val="C586C0"/>
                </a:solidFill>
                <a:latin typeface="Consolas"/>
              </a:rPr>
              <a:t>        let valid = text.len() == 8 &amp;&amp; text.as_bytes()[3] == b'-';</a:t>
            </a:r>
          </a:p>
          <a:p>
            <a:pPr>
              <a:spcAft>
                <a:spcPts val="100"/>
              </a:spcAft>
            </a:pPr>
            <a:r>
              <a:rPr sz="1000">
                <a:solidFill>
                  <a:srgbClr val="D4D4D4"/>
                </a:solidFill>
                <a:latin typeface="Consolas"/>
              </a:rPr>
              <a:t>        valid.then(|| Sku(text.to_string()))</a:t>
            </a:r>
          </a:p>
          <a:p>
            <a:pPr>
              <a:spcAft>
                <a:spcPts val="100"/>
              </a:spcAft>
            </a:pPr>
            <a:r>
              <a:rPr sz="1000">
                <a:solidFill>
                  <a:srgbClr val="D4D4D4"/>
                </a:solidFill>
                <a:latin typeface="Consolas"/>
              </a:rPr>
              <a:t>    }</a:t>
            </a:r>
          </a:p>
          <a:p>
            <a:pPr>
              <a:spcAft>
                <a:spcPts val="100"/>
              </a:spcAft>
            </a:pPr>
            <a:r>
              <a:rPr sz="1000">
                <a:solidFill>
                  <a:srgbClr val="D4D4D4"/>
                </a:solidFill>
                <a:latin typeface="Consolas"/>
              </a:rPr>
              <a:t>}</a:t>
            </a:r>
          </a:p>
          <a:p>
            <a:pPr>
              <a:spcAft>
                <a:spcPts val="100"/>
              </a:spcAft>
            </a:pPr>
            <a:r>
              <a:rPr sz="1000">
                <a:solidFill>
                  <a:srgbClr val="D4D4D4"/>
                </a:solidFill>
                <a:latin typeface="Consolas"/>
              </a:rPr>
              <a:t> </a:t>
            </a:r>
          </a:p>
          <a:p>
            <a:pPr>
              <a:spcAft>
                <a:spcPts val="100"/>
              </a:spcAft>
            </a:pPr>
            <a:r>
              <a:rPr sz="1000">
                <a:solidFill>
                  <a:srgbClr val="C586C0"/>
                </a:solidFill>
                <a:latin typeface="Consolas"/>
              </a:rPr>
              <a:t>fn order(sku: &amp;Sku, qty: Units) -&gt; String {</a:t>
            </a:r>
          </a:p>
          <a:p>
            <a:pPr>
              <a:spcAft>
                <a:spcPts val="100"/>
              </a:spcAft>
            </a:pPr>
            <a:r>
              <a:rPr sz="1000">
                <a:solidFill>
                  <a:srgbClr val="D4D4D4"/>
                </a:solidFill>
                <a:latin typeface="Consolas"/>
              </a:rPr>
              <a:t>    format!("order {} x {}", qty.0, sku.0)</a:t>
            </a:r>
          </a:p>
          <a:p>
            <a:pPr>
              <a:spcAft>
                <a:spcPts val="100"/>
              </a:spcAft>
            </a:pPr>
            <a:r>
              <a:rPr sz="1000">
                <a:solidFill>
                  <a:srgbClr val="D4D4D4"/>
                </a:solidFill>
                <a:latin typeface="Consolas"/>
              </a:rPr>
              <a:t>}</a:t>
            </a:r>
          </a:p>
          <a:p>
            <a:pPr>
              <a:spcAft>
                <a:spcPts val="100"/>
              </a:spcAft>
            </a:pPr>
            <a:r>
              <a:rPr sz="1000">
                <a:solidFill>
                  <a:srgbClr val="D4D4D4"/>
                </a:solidFill>
                <a:latin typeface="Consolas"/>
              </a:rPr>
              <a:t> </a:t>
            </a:r>
          </a:p>
          <a:p>
            <a:pPr>
              <a:spcAft>
                <a:spcPts val="100"/>
              </a:spcAft>
            </a:pPr>
            <a:r>
              <a:rPr sz="1000">
                <a:solidFill>
                  <a:srgbClr val="6A9955"/>
                </a:solidFill>
                <a:latin typeface="Consolas"/>
              </a:rPr>
              <a:t>// ... full script: samples/01_design_with_types.rs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Run the sample</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rustc --edition 2021 01_design_with_types.rs &amp;&amp; ./01_design_with_types</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Explain it simply</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Ask the AI to explain designing with types (newtypes), requirement-named tests and design trade-offs.</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Quiz me</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5 questions, one at a time, including a predict-the-output question.</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Compare with what I know</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Rust vs Python / JavaScript for software design and traceability.</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217</a:t>
            </a:r>
          </a:p>
        </p:txBody>
      </p:sp>
    </p:spTree>
  </p:cSld>
  <p:clrMapOvr>
    <a:masterClrMapping/>
  </p:clrMapOvr>
  <p:transition spd="fast" advClick="1">
    <p:fade/>
  </p:transition>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14 /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Design and document a reorder feature with AI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Read the spec</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contract + data</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Run solution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see it green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Prompt the AI</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bounded, 3 prompts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 + test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cargo test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Gates +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clippy, fmt, docs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EXACT CONTRACT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150" b="0">
                <a:solidFill>
                  <a:srgbClr val="161B26"/>
                </a:solidFill>
                <a:latin typeface="Arial"/>
              </a:rPr>
              <a:t>reorder_suggestions(&amp;[StockItem]) -&gt; Vec&lt;Suggestion&gt;. R1 point = usage x lead + safety; R2 items above the point are excluded; R3 order_qty = point + 7 days usage - on_hand, zero quantities excluded; R4 overflowing items are skipped, never wrapped. Output sorted by SKU.</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14 / CODE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Design and document a reorder feature with AI / 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Reference solution: solution/src/lib.rs (formatted, tested, clippy-clean)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5577840" cy="3611880"/>
          </a:xfrm>
          <a:prstGeom prst="rect">
            <a:avLst/>
          </a:prstGeom>
          <a:noFill/>
        </p:spPr>
        <p:txBody>
          <a:bodyPr wrap="square">
            <a:spAutoFit/>
          </a:bodyPr>
          <a:lstStyle/>
          <a:p>
            <a:pPr>
              <a:spcAft>
                <a:spcPts val="100"/>
              </a:spcAft>
            </a:pPr>
            <a:r>
              <a:rPr sz="1000">
                <a:solidFill>
                  <a:srgbClr val="C586C0"/>
                </a:solidFill>
                <a:latin typeface="Consolas"/>
              </a:rPr>
              <a:t>pub fn reorder_suggestions(items: &amp;[StockItem]) -&gt; Vec&lt;Suggestion&gt; {</a:t>
            </a:r>
          </a:p>
          <a:p>
            <a:pPr>
              <a:spcAft>
                <a:spcPts val="100"/>
              </a:spcAft>
            </a:pPr>
            <a:r>
              <a:rPr sz="1000">
                <a:solidFill>
                  <a:srgbClr val="C586C0"/>
                </a:solidFill>
                <a:latin typeface="Consolas"/>
              </a:rPr>
              <a:t>    let mut suggestions: Vec&lt;Suggestion&gt; = items</a:t>
            </a:r>
          </a:p>
          <a:p>
            <a:pPr>
              <a:spcAft>
                <a:spcPts val="100"/>
              </a:spcAft>
            </a:pPr>
            <a:r>
              <a:rPr sz="1000">
                <a:solidFill>
                  <a:srgbClr val="D4D4D4"/>
                </a:solidFill>
                <a:latin typeface="Consolas"/>
              </a:rPr>
              <a:t>        .iter()</a:t>
            </a:r>
          </a:p>
          <a:p>
            <a:pPr>
              <a:spcAft>
                <a:spcPts val="100"/>
              </a:spcAft>
            </a:pPr>
            <a:r>
              <a:rPr sz="1000">
                <a:solidFill>
                  <a:srgbClr val="D4D4D4"/>
                </a:solidFill>
                <a:latin typeface="Consolas"/>
              </a:rPr>
              <a:t>        .filter_map(|item| {</a:t>
            </a:r>
          </a:p>
          <a:p>
            <a:pPr>
              <a:spcAft>
                <a:spcPts val="100"/>
              </a:spcAft>
            </a:pPr>
            <a:r>
              <a:rPr sz="1000">
                <a:solidFill>
                  <a:srgbClr val="C586C0"/>
                </a:solidFill>
                <a:latin typeface="Consolas"/>
              </a:rPr>
              <a:t>            let point = item</a:t>
            </a:r>
          </a:p>
          <a:p>
            <a:pPr>
              <a:spcAft>
                <a:spcPts val="100"/>
              </a:spcAft>
            </a:pPr>
            <a:r>
              <a:rPr sz="1000">
                <a:solidFill>
                  <a:srgbClr val="D4D4D4"/>
                </a:solidFill>
                <a:latin typeface="Consolas"/>
              </a:rPr>
              <a:t>                .daily_usage</a:t>
            </a:r>
          </a:p>
          <a:p>
            <a:pPr>
              <a:spcAft>
                <a:spcPts val="100"/>
              </a:spcAft>
            </a:pPr>
            <a:r>
              <a:rPr sz="1000">
                <a:solidFill>
                  <a:srgbClr val="D4D4D4"/>
                </a:solidFill>
                <a:latin typeface="Consolas"/>
              </a:rPr>
              <a:t>                .checked_mul(item.lead_days)?</a:t>
            </a:r>
          </a:p>
          <a:p>
            <a:pPr>
              <a:spcAft>
                <a:spcPts val="100"/>
              </a:spcAft>
            </a:pPr>
            <a:r>
              <a:rPr sz="1000">
                <a:solidFill>
                  <a:srgbClr val="D4D4D4"/>
                </a:solidFill>
                <a:latin typeface="Consolas"/>
              </a:rPr>
              <a:t>                .checked_add(item.safety_stock)?;</a:t>
            </a:r>
          </a:p>
          <a:p>
            <a:pPr>
              <a:spcAft>
                <a:spcPts val="100"/>
              </a:spcAft>
            </a:pPr>
            <a:r>
              <a:rPr sz="1000">
                <a:solidFill>
                  <a:srgbClr val="C586C0"/>
                </a:solidFill>
                <a:latin typeface="Consolas"/>
              </a:rPr>
              <a:t>            if item.on_hand &gt; point {</a:t>
            </a:r>
          </a:p>
          <a:p>
            <a:pPr>
              <a:spcAft>
                <a:spcPts val="100"/>
              </a:spcAft>
            </a:pPr>
            <a:r>
              <a:rPr sz="1000">
                <a:solidFill>
                  <a:srgbClr val="D4D4D4"/>
                </a:solidFill>
                <a:latin typeface="Consolas"/>
              </a:rPr>
              <a:t>                return None;</a:t>
            </a:r>
          </a:p>
          <a:p>
            <a:pPr>
              <a:spcAft>
                <a:spcPts val="100"/>
              </a:spcAft>
            </a:pPr>
            <a:r>
              <a:rPr sz="1000">
                <a:solidFill>
                  <a:srgbClr val="D4D4D4"/>
                </a:solidFill>
                <a:latin typeface="Consolas"/>
              </a:rPr>
              <a:t>            }</a:t>
            </a:r>
          </a:p>
          <a:p>
            <a:pPr>
              <a:spcAft>
                <a:spcPts val="100"/>
              </a:spcAft>
            </a:pPr>
            <a:r>
              <a:rPr sz="1000">
                <a:solidFill>
                  <a:srgbClr val="C586C0"/>
                </a:solidFill>
                <a:latin typeface="Consolas"/>
              </a:rPr>
              <a:t>            let cover = item.daily_usage.checked_mul(REVIEW_DAYS)?;</a:t>
            </a:r>
          </a:p>
          <a:p>
            <a:pPr>
              <a:spcAft>
                <a:spcPts val="100"/>
              </a:spcAft>
            </a:pPr>
            <a:r>
              <a:rPr sz="1000">
                <a:solidFill>
                  <a:srgbClr val="C586C0"/>
                </a:solidFill>
                <a:latin typeface="Consolas"/>
              </a:rPr>
              <a:t>            let order_qty = point.checked_add(cover)? - item.on_hand;</a:t>
            </a:r>
          </a:p>
          <a:p>
            <a:pPr>
              <a:spcAft>
                <a:spcPts val="100"/>
              </a:spcAft>
            </a:pPr>
            <a:r>
              <a:rPr sz="1000">
                <a:solidFill>
                  <a:srgbClr val="D4D4D4"/>
                </a:solidFill>
                <a:latin typeface="Consolas"/>
              </a:rPr>
              <a:t>            (order_qty &gt; 0).then(|| Suggestion {</a:t>
            </a:r>
          </a:p>
          <a:p>
            <a:pPr>
              <a:spcAft>
                <a:spcPts val="100"/>
              </a:spcAft>
            </a:pPr>
            <a:r>
              <a:rPr sz="1000">
                <a:solidFill>
                  <a:srgbClr val="D4D4D4"/>
                </a:solidFill>
                <a:latin typeface="Consolas"/>
              </a:rPr>
              <a:t>                sku: item.sku.clone(),</a:t>
            </a:r>
          </a:p>
          <a:p>
            <a:pPr>
              <a:spcAft>
                <a:spcPts val="100"/>
              </a:spcAft>
            </a:pPr>
            <a:r>
              <a:rPr sz="1000">
                <a:solidFill>
                  <a:srgbClr val="D4D4D4"/>
                </a:solidFill>
                <a:latin typeface="Consolas"/>
              </a:rPr>
              <a:t>                order_qty,</a:t>
            </a:r>
          </a:p>
          <a:p>
            <a:pPr>
              <a:spcAft>
                <a:spcPts val="100"/>
              </a:spcAft>
            </a:pPr>
            <a:r>
              <a:rPr sz="1000">
                <a:solidFill>
                  <a:srgbClr val="6A9955"/>
                </a:solidFill>
                <a:latin typeface="Consolas"/>
              </a:rPr>
              <a:t>    // ... full code: solution/src/lib.rs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59152"/>
            <a:ext cx="4005072" cy="274320"/>
          </a:xfrm>
          <a:prstGeom prst="rect">
            <a:avLst/>
          </a:prstGeom>
          <a:noFill/>
        </p:spPr>
        <p:txBody>
          <a:bodyPr wrap="square" anchor="t">
            <a:spAutoFit/>
          </a:bodyPr>
          <a:lstStyle/>
          <a:p>
            <a:pPr algn="l">
              <a:spcAft>
                <a:spcPts val="400"/>
              </a:spcAft>
            </a:pPr>
            <a:r>
              <a:rPr sz="1200" b="1">
                <a:solidFill>
                  <a:srgbClr val="1F6FEB"/>
                </a:solidFill>
                <a:latin typeface="Arial"/>
              </a:rPr>
              <a:t>Requirements first</a:t>
            </a:r>
          </a:p>
        </p:txBody>
      </p:sp>
      <p:sp>
        <p:nvSpPr>
          <p:cNvPr id="13" name="TextBox 12"/>
          <p:cNvSpPr txBox="1"/>
          <p:nvPr/>
        </p:nvSpPr>
        <p:spPr>
          <a:xfrm>
            <a:off x="7232904" y="263347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R1-R4 are agreed before prompting, so AI output has a target.</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19272"/>
            <a:ext cx="4005072" cy="274320"/>
          </a:xfrm>
          <a:prstGeom prst="rect">
            <a:avLst/>
          </a:prstGeom>
          <a:noFill/>
        </p:spPr>
        <p:txBody>
          <a:bodyPr wrap="square" anchor="t">
            <a:spAutoFit/>
          </a:bodyPr>
          <a:lstStyle/>
          <a:p>
            <a:pPr algn="l">
              <a:spcAft>
                <a:spcPts val="400"/>
              </a:spcAft>
            </a:pPr>
            <a:r>
              <a:rPr sz="1200" b="1">
                <a:solidFill>
                  <a:srgbClr val="10B981"/>
                </a:solidFill>
                <a:latin typeface="Arial"/>
              </a:rPr>
              <a:t>filter_map</a:t>
            </a:r>
          </a:p>
        </p:txBody>
      </p:sp>
      <p:sp>
        <p:nvSpPr>
          <p:cNvPr id="17" name="TextBox 16"/>
          <p:cNvSpPr txBox="1"/>
          <p:nvPr/>
        </p:nvSpPr>
        <p:spPr>
          <a:xfrm>
            <a:off x="7232904" y="359359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One pass: skip items (None) or produce a Suggestion (Some).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79392"/>
            <a:ext cx="4005072" cy="274320"/>
          </a:xfrm>
          <a:prstGeom prst="rect">
            <a:avLst/>
          </a:prstGeom>
          <a:noFill/>
        </p:spPr>
        <p:txBody>
          <a:bodyPr wrap="square" anchor="t">
            <a:spAutoFit/>
          </a:bodyPr>
          <a:lstStyle/>
          <a:p>
            <a:pPr algn="l">
              <a:spcAft>
                <a:spcPts val="400"/>
              </a:spcAft>
            </a:pPr>
            <a:r>
              <a:rPr sz="1200" b="1">
                <a:solidFill>
                  <a:srgbClr val="7C3AED"/>
                </a:solidFill>
                <a:latin typeface="Arial"/>
              </a:rPr>
              <a:t>No underflow</a:t>
            </a:r>
          </a:p>
        </p:txBody>
      </p:sp>
      <p:sp>
        <p:nvSpPr>
          <p:cNvPr id="21" name="TextBox 20"/>
          <p:cNvSpPr txBox="1"/>
          <p:nvPr/>
        </p:nvSpPr>
        <p:spPr>
          <a:xfrm>
            <a:off x="7232904" y="455371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on_hand &lt;= point &lt;= target, so the subtraction cannot underflow.</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39512"/>
            <a:ext cx="4005072" cy="274320"/>
          </a:xfrm>
          <a:prstGeom prst="rect">
            <a:avLst/>
          </a:prstGeom>
          <a:noFill/>
        </p:spPr>
        <p:txBody>
          <a:bodyPr wrap="square" anchor="t">
            <a:spAutoFit/>
          </a:bodyPr>
          <a:lstStyle/>
          <a:p>
            <a:pPr algn="l">
              <a:spcAft>
                <a:spcPts val="400"/>
              </a:spcAft>
            </a:pPr>
            <a:r>
              <a:rPr sz="1200" b="1">
                <a:solidFill>
                  <a:srgbClr val="F59E0B"/>
                </a:solidFill>
                <a:latin typeface="Arial"/>
              </a:rPr>
              <a:t>Design record</a:t>
            </a:r>
          </a:p>
        </p:txBody>
      </p:sp>
      <p:sp>
        <p:nvSpPr>
          <p:cNvPr id="25" name="TextBox 24"/>
          <p:cNvSpPr txBox="1"/>
          <p:nvPr/>
        </p:nvSpPr>
        <p:spPr>
          <a:xfrm>
            <a:off x="7232904" y="5513832"/>
            <a:ext cx="4005072" cy="530352"/>
          </a:xfrm>
          <a:prstGeom prst="rect">
            <a:avLst/>
          </a:prstGeom>
          <a:noFill/>
        </p:spPr>
        <p:txBody>
          <a:bodyPr wrap="square" anchor="t">
            <a:spAutoFit/>
          </a:bodyPr>
          <a:lstStyle/>
          <a:p>
            <a:pPr algn="l">
              <a:spcAft>
                <a:spcPts val="400"/>
              </a:spcAft>
            </a:pPr>
            <a:r>
              <a:rPr sz="1050" b="0">
                <a:solidFill>
                  <a:srgbClr val="161B26"/>
                </a:solidFill>
                <a:latin typeface="Arial"/>
              </a:rPr>
              <a:t>docs/design.md traces R1-R4 to code, tests and review decisions.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219</a:t>
            </a:r>
          </a:p>
        </p:txBody>
      </p:sp>
    </p:spTree>
  </p:cSld>
  <p:clrMapOvr>
    <a:masterClrMapping/>
  </p:clrMapOvr>
  <p:transition spd="fast" advClick="1">
    <p:fade/>
  </p:transition>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14 / PROMPTS (ALSO IN PROMPTS.md AND THE PDF)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Design and document a reorder feature with AI / vibe-coding prompts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Plan before 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100" b="0">
                <a:solidFill>
                  <a:srgbClr val="161B26"/>
                </a:solidFill>
                <a:latin typeface="Arial"/>
              </a:rPr>
              <a:t>•  Act as a senior Rust reviewer. Specification: reorder_suggestions(&amp;[StockItem]) -&gt; Vec&lt;Suggestion&gt;. R1 point = usage x lead + safety; R2 items above the point are excluded; R3 order_qty = point + 7 days usage - on_hand, zero quantities excluded; R4 overflowing items are skipped, never wrapped. Output sorted by SKU. Before writing any code, list the public signatures, the edge cases and at least four boundary tests you would expect. Ask me about anything ambiguous.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Generate with AI</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"Design and document a reorder feature with AI" in starter/src so that the supplied tests pass. Give the AI R1-R4 and the public types; require a trace table in its answer and verify each row against the tests. Keep public signatures unchanged, use no unsafe code, and explain each design decision in one sentence.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Repair from 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Here is my exact cargo output: &lt;paste the first error or failing test&gt;. Explain the cause in plain English, propose the smallest fix that keeps the specification, and add one regression test. Do not change expected values in existing tests.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220</a:t>
            </a:r>
          </a:p>
        </p:txBody>
      </p:sp>
    </p:spTree>
  </p:cSld>
  <p:clrMapOvr>
    <a:masterClrMapping/>
  </p:clrMapOvr>
  <p:transition spd="fast" advClick="1">
    <p:fade/>
  </p:transition>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14 /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Design and document a reorder feature with AI / acceptance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cargo test reports 6 passed and 1 doctest; docs/design.md traces R1-R4 to named tests. Starter before you begin: Every test that calls an unfinished function fails with "not yet implemented" from todo!().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Test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Compare expected vs actual; check the boundary and the type, never edit the expected value.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Does not compile</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Read the first error and its code; rustc --explain E0XXX; ask the AI to explain before fixing.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clippy / fmt fails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the suggested idiom or cargo fmt, then rerun cargo test.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221</a:t>
            </a:r>
          </a:p>
        </p:txBody>
      </p:sp>
    </p:spTree>
  </p:cSld>
  <p:clrMapOvr>
    <a:masterClrMapping/>
  </p:clrMapOvr>
  <p:transition spd="fast" advClick="1">
    <p:fade/>
  </p:transition>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EVIDENCE / RUSTC 1.93.1 (01F6DDF75 2026-02-11)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Every activity is verified: tests per reference crate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All 14 solution crates pass cargo test (including doctests), clippy -D warnings and fmt --check. Every starter compiles and fails in the intended way until you complete it.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222</a:t>
            </a:r>
          </a:p>
        </p:txBody>
      </p:sp>
    </p:spTree>
  </p:cSld>
  <p:clrMapOvr>
    <a:masterClrMapping/>
  </p:clrMapOvr>
  <p:transition spd="fast" advClick="1">
    <p:fade/>
  </p:transition>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SPECIFICATION TO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LO1</a:t>
            </a:r>
          </a:p>
          <a:p>
            <a:pPr algn="l">
              <a:spcAft>
                <a:spcPts val="300"/>
              </a:spcAft>
            </a:pPr>
            <a:r>
              <a:rPr sz="1100" b="0">
                <a:solidFill>
                  <a:srgbClr val="5B6372"/>
                </a:solidFill>
                <a:latin typeface="Arial"/>
              </a:rPr>
              <a:t>Determine basic software components using programming methodologies to meet functional specifications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LO2</a:t>
            </a:r>
          </a:p>
          <a:p>
            <a:pPr algn="l">
              <a:spcAft>
                <a:spcPts val="300"/>
              </a:spcAft>
            </a:pPr>
            <a:r>
              <a:rPr sz="1100" b="0">
                <a:solidFill>
                  <a:srgbClr val="5B6372"/>
                </a:solidFill>
                <a:latin typeface="Arial"/>
              </a:rPr>
              <a:t>Apply programming methodologies and tools for software creation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LO3</a:t>
            </a:r>
          </a:p>
          <a:p>
            <a:pPr algn="l">
              <a:spcAft>
                <a:spcPts val="300"/>
              </a:spcAft>
            </a:pPr>
            <a:r>
              <a:rPr sz="1100" b="0">
                <a:solidFill>
                  <a:srgbClr val="5B6372"/>
                </a:solidFill>
                <a:latin typeface="Arial"/>
              </a:rPr>
              <a:t>Select essential programming controls and features to meet software design requirements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LO4</a:t>
            </a:r>
          </a:p>
          <a:p>
            <a:pPr algn="l">
              <a:spcAft>
                <a:spcPts val="300"/>
              </a:spcAft>
            </a:pPr>
            <a:r>
              <a:rPr sz="1100" b="0">
                <a:solidFill>
                  <a:srgbClr val="5B6372"/>
                </a:solidFill>
                <a:latin typeface="Arial"/>
              </a:rPr>
              <a:t>Examine the interoperability and functionality of programming components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LO5</a:t>
            </a:r>
          </a:p>
          <a:p>
            <a:pPr algn="l">
              <a:spcAft>
                <a:spcPts val="300"/>
              </a:spcAft>
            </a:pPr>
            <a:r>
              <a:rPr sz="1100" b="0">
                <a:solidFill>
                  <a:srgbClr val="5B6372"/>
                </a:solidFill>
                <a:latin typeface="Arial"/>
              </a:rPr>
              <a:t>Generate programming design documentation aligned with user specifications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223</a:t>
            </a:r>
          </a:p>
        </p:txBody>
      </p:sp>
    </p:spTree>
  </p:cSld>
  <p:clrMapOvr>
    <a:masterClrMapping/>
  </p:clrMapOvr>
  <p:transition spd="fast" advClick="1">
    <p:fade/>
  </p:transition>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PRACTICE EXAM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Practice Exam: keep practising AI-assisted development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xams-ccdv-screenshot.png"/>
          <p:cNvPicPr>
            <a:picLocks noChangeAspect="1"/>
          </p:cNvPicPr>
          <p:nvPr/>
        </p:nvPicPr>
        <p:blipFill>
          <a:blip r:embed="rId2"/>
          <a:stretch>
            <a:fillRect/>
          </a:stretch>
        </p:blipFill>
        <p:spPr>
          <a:xfrm>
            <a:off x="777240" y="1783080"/>
            <a:ext cx="6492240" cy="4057650"/>
          </a:xfrm>
          <a:prstGeom prst="rect">
            <a:avLst/>
          </a:prstGeom>
          <a:ln>
            <a:solidFill>
              <a:srgbClr val="E2E8F0"/>
            </a:solidFill>
          </a:ln>
        </p:spPr>
      </p:pic>
      <p:sp>
        <p:nvSpPr>
          <p:cNvPr id="8" name="Rectangle 7"/>
          <p:cNvSpPr/>
          <p:nvPr/>
        </p:nvSpPr>
        <p:spPr>
          <a:xfrm>
            <a:off x="7498079" y="1783080"/>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79" y="1783080"/>
            <a:ext cx="82296"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99248" y="1856231"/>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Where</a:t>
            </a:r>
          </a:p>
        </p:txBody>
      </p:sp>
      <p:sp>
        <p:nvSpPr>
          <p:cNvPr id="11" name="TextBox 10"/>
          <p:cNvSpPr txBox="1"/>
          <p:nvPr/>
        </p:nvSpPr>
        <p:spPr>
          <a:xfrm>
            <a:off x="7699248" y="2130552"/>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exams.tertiaryinfotech.com - practice exams with exam and practice modes.</a:t>
            </a:r>
          </a:p>
        </p:txBody>
      </p:sp>
      <p:sp>
        <p:nvSpPr>
          <p:cNvPr id="12" name="Rectangle 11"/>
          <p:cNvSpPr/>
          <p:nvPr/>
        </p:nvSpPr>
        <p:spPr>
          <a:xfrm>
            <a:off x="7498079" y="2807208"/>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98079" y="2807208"/>
            <a:ext cx="82296"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99248" y="2880360"/>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Recommended</a:t>
            </a:r>
          </a:p>
        </p:txBody>
      </p:sp>
      <p:sp>
        <p:nvSpPr>
          <p:cNvPr id="15" name="TextBox 14"/>
          <p:cNvSpPr txBox="1"/>
          <p:nvPr/>
        </p:nvSpPr>
        <p:spPr>
          <a:xfrm>
            <a:off x="7699248" y="3154680"/>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Claude Certified Developer - Foundations (CCDV-F): AI coding tools, agents and debugging.</a:t>
            </a:r>
          </a:p>
        </p:txBody>
      </p:sp>
      <p:sp>
        <p:nvSpPr>
          <p:cNvPr id="16" name="Rectangle 15"/>
          <p:cNvSpPr/>
          <p:nvPr/>
        </p:nvSpPr>
        <p:spPr>
          <a:xfrm>
            <a:off x="7498079" y="3831336"/>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98079" y="3831336"/>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3904488"/>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Free start</a:t>
            </a:r>
          </a:p>
        </p:txBody>
      </p:sp>
      <p:sp>
        <p:nvSpPr>
          <p:cNvPr id="19" name="TextBox 18"/>
          <p:cNvSpPr txBox="1"/>
          <p:nvPr/>
        </p:nvSpPr>
        <p:spPr>
          <a:xfrm>
            <a:off x="7699248" y="4178808"/>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Try 10 questions free on any exam before deciding.</a:t>
            </a:r>
          </a:p>
        </p:txBody>
      </p:sp>
      <p:sp>
        <p:nvSpPr>
          <p:cNvPr id="20" name="Rectangle 19"/>
          <p:cNvSpPr/>
          <p:nvPr/>
        </p:nvSpPr>
        <p:spPr>
          <a:xfrm>
            <a:off x="7498079" y="4855464"/>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98079" y="4855464"/>
            <a:ext cx="82296" cy="932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9248" y="4928616"/>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Not the WSQ test</a:t>
            </a:r>
          </a:p>
        </p:txBody>
      </p:sp>
      <p:sp>
        <p:nvSpPr>
          <p:cNvPr id="23" name="TextBox 22"/>
          <p:cNvSpPr txBox="1"/>
          <p:nvPr/>
        </p:nvSpPr>
        <p:spPr>
          <a:xfrm>
            <a:off x="7699248" y="5202936"/>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Optional further practice; it is not this course's assessment and there is no Rust-specific exam.</a:t>
            </a:r>
          </a:p>
        </p:txBody>
      </p:sp>
      <p:sp>
        <p:nvSpPr>
          <p:cNvPr id="24" name="TextBox 23"/>
          <p:cNvSpPr txBox="1"/>
          <p:nvPr/>
        </p:nvSpPr>
        <p:spPr>
          <a:xfrm>
            <a:off x="777240" y="5943600"/>
            <a:ext cx="6492240" cy="274320"/>
          </a:xfrm>
          <a:prstGeom prst="rect">
            <a:avLst/>
          </a:prstGeom>
          <a:noFill/>
        </p:spPr>
        <p:txBody>
          <a:bodyPr wrap="square" anchor="t">
            <a:spAutoFit/>
          </a:bodyPr>
          <a:lstStyle/>
          <a:p>
            <a:pPr algn="l">
              <a:spcAft>
                <a:spcPts val="400"/>
              </a:spcAft>
            </a:pPr>
            <a:r>
              <a:rPr sz="1000" b="0">
                <a:solidFill>
                  <a:srgbClr val="5B6372"/>
                </a:solidFill>
                <a:latin typeface="Arial"/>
              </a:rPr>
              <a:t>Screenshot of exams.tertiaryinfotech.com (CCDV-F practice exam page), captured September 2026.</a:t>
            </a:r>
          </a:p>
        </p:txBody>
      </p:sp>
      <p:sp>
        <p:nvSpPr>
          <p:cNvPr id="25" name="TextBox 24"/>
          <p:cNvSpPr txBox="1"/>
          <p:nvPr/>
        </p:nvSpPr>
        <p:spPr>
          <a:xfrm>
            <a:off x="7498079" y="5897880"/>
            <a:ext cx="3931920" cy="411480"/>
          </a:xfrm>
          <a:prstGeom prst="rect">
            <a:avLst/>
          </a:prstGeom>
          <a:noFill/>
        </p:spPr>
        <p:txBody>
          <a:bodyPr wrap="square" anchor="t">
            <a:spAutoFit/>
          </a:bodyPr>
          <a:lstStyle/>
          <a:p>
            <a:pPr algn="l">
              <a:spcAft>
                <a:spcPts val="400"/>
              </a:spcAft>
            </a:pPr>
            <a:r>
              <a:rPr sz="1200" b="1">
                <a:solidFill>
                  <a:srgbClr val="1F6FEB"/>
                </a:solidFill>
                <a:latin typeface="Arial"/>
                <a:hlinkClick r:id="rId3"/>
              </a:rPr>
              <a:t>Open the practice exam</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224</a:t>
            </a:r>
          </a:p>
        </p:txBody>
      </p:sp>
    </p:spTree>
  </p:cSld>
  <p:clrMapOvr>
    <a:masterClrMapping/>
  </p:clrMapOvr>
  <p:transition spd="fast" advClick="1">
    <p:fade/>
  </p:transition>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LEARNER ACCESS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course material from the LMS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ms-login-screenshot.png"/>
          <p:cNvPicPr>
            <a:picLocks noChangeAspect="1"/>
          </p:cNvPicPr>
          <p:nvPr/>
        </p:nvPicPr>
        <p:blipFill>
          <a:blip r:embed="rId2"/>
          <a:stretch>
            <a:fillRect/>
          </a:stretch>
        </p:blipFill>
        <p:spPr>
          <a:xfrm>
            <a:off x="777240" y="1783080"/>
            <a:ext cx="6492240" cy="4057650"/>
          </a:xfrm>
          <a:prstGeom prst="rect">
            <a:avLst/>
          </a:prstGeom>
          <a:ln>
            <a:solidFill>
              <a:srgbClr val="E2E8F0"/>
            </a:solidFill>
          </a:ln>
        </p:spPr>
      </p:pic>
      <p:sp>
        <p:nvSpPr>
          <p:cNvPr id="8" name="Rectangle 7"/>
          <p:cNvSpPr/>
          <p:nvPr/>
        </p:nvSpPr>
        <p:spPr>
          <a:xfrm>
            <a:off x="7498079" y="1783080"/>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79" y="1783080"/>
            <a:ext cx="82296"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99248" y="1856231"/>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1. Sign in</a:t>
            </a:r>
          </a:p>
        </p:txBody>
      </p:sp>
      <p:sp>
        <p:nvSpPr>
          <p:cNvPr id="11" name="TextBox 10"/>
          <p:cNvSpPr txBox="1"/>
          <p:nvPr/>
        </p:nvSpPr>
        <p:spPr>
          <a:xfrm>
            <a:off x="7699248" y="2130552"/>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Open lms-tms.tertiaryinfotech.com and sign in with your email (OTP) or password.</a:t>
            </a:r>
          </a:p>
        </p:txBody>
      </p:sp>
      <p:sp>
        <p:nvSpPr>
          <p:cNvPr id="12" name="Rectangle 11"/>
          <p:cNvSpPr/>
          <p:nvPr/>
        </p:nvSpPr>
        <p:spPr>
          <a:xfrm>
            <a:off x="7498079" y="2807208"/>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98079" y="2807208"/>
            <a:ext cx="82296"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99248" y="2880360"/>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2. Open this course</a:t>
            </a:r>
          </a:p>
        </p:txBody>
      </p:sp>
      <p:sp>
        <p:nvSpPr>
          <p:cNvPr id="15" name="TextBox 14"/>
          <p:cNvSpPr txBox="1"/>
          <p:nvPr/>
        </p:nvSpPr>
        <p:spPr>
          <a:xfrm>
            <a:off x="7699248" y="3154680"/>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AI Vibe Coding with Rust (TGS-2023039924).</a:t>
            </a:r>
          </a:p>
        </p:txBody>
      </p:sp>
      <p:sp>
        <p:nvSpPr>
          <p:cNvPr id="16" name="Rectangle 15"/>
          <p:cNvSpPr/>
          <p:nvPr/>
        </p:nvSpPr>
        <p:spPr>
          <a:xfrm>
            <a:off x="7498079" y="3831336"/>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98079" y="3831336"/>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3904488"/>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3. Download</a:t>
            </a:r>
          </a:p>
        </p:txBody>
      </p:sp>
      <p:sp>
        <p:nvSpPr>
          <p:cNvPr id="19" name="TextBox 18"/>
          <p:cNvSpPr txBox="1"/>
          <p:nvPr/>
        </p:nvSpPr>
        <p:spPr>
          <a:xfrm>
            <a:off x="7699248" y="4178808"/>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Learner slides PDF, Learner Guide and the Activities link.</a:t>
            </a:r>
          </a:p>
        </p:txBody>
      </p:sp>
      <p:sp>
        <p:nvSpPr>
          <p:cNvPr id="20" name="Rectangle 19"/>
          <p:cNvSpPr/>
          <p:nvPr/>
        </p:nvSpPr>
        <p:spPr>
          <a:xfrm>
            <a:off x="7498079" y="4855464"/>
            <a:ext cx="391363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98079" y="4855464"/>
            <a:ext cx="82296" cy="932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9248" y="4928616"/>
            <a:ext cx="3529584" cy="256032"/>
          </a:xfrm>
          <a:prstGeom prst="rect">
            <a:avLst/>
          </a:prstGeom>
          <a:noFill/>
        </p:spPr>
        <p:txBody>
          <a:bodyPr wrap="square" anchor="t">
            <a:spAutoFit/>
          </a:bodyPr>
          <a:lstStyle/>
          <a:p>
            <a:pPr algn="l">
              <a:spcAft>
                <a:spcPts val="400"/>
              </a:spcAft>
            </a:pPr>
            <a:r>
              <a:rPr sz="1300" b="1">
                <a:solidFill>
                  <a:srgbClr val="161B26"/>
                </a:solidFill>
                <a:latin typeface="Arial"/>
              </a:rPr>
              <a:t>4. Assessment</a:t>
            </a:r>
          </a:p>
        </p:txBody>
      </p:sp>
      <p:sp>
        <p:nvSpPr>
          <p:cNvPr id="23" name="TextBox 22"/>
          <p:cNvSpPr txBox="1"/>
          <p:nvPr/>
        </p:nvSpPr>
        <p:spPr>
          <a:xfrm>
            <a:off x="7699248" y="5202936"/>
            <a:ext cx="3529584" cy="548640"/>
          </a:xfrm>
          <a:prstGeom prst="rect">
            <a:avLst/>
          </a:prstGeom>
          <a:noFill/>
        </p:spPr>
        <p:txBody>
          <a:bodyPr wrap="square" anchor="t">
            <a:spAutoFit/>
          </a:bodyPr>
          <a:lstStyle/>
          <a:p>
            <a:pPr algn="l">
              <a:spcAft>
                <a:spcPts val="400"/>
              </a:spcAft>
            </a:pPr>
            <a:r>
              <a:rPr sz="1100" b="0">
                <a:solidFill>
                  <a:srgbClr val="5B6372"/>
                </a:solidFill>
                <a:latin typeface="Arial"/>
              </a:rPr>
              <a:t>Question papers open on the assessment day; upload your answers there.</a:t>
            </a:r>
          </a:p>
        </p:txBody>
      </p:sp>
      <p:sp>
        <p:nvSpPr>
          <p:cNvPr id="24" name="TextBox 23"/>
          <p:cNvSpPr txBox="1"/>
          <p:nvPr/>
        </p:nvSpPr>
        <p:spPr>
          <a:xfrm>
            <a:off x="777240" y="5943600"/>
            <a:ext cx="6492240" cy="274320"/>
          </a:xfrm>
          <a:prstGeom prst="rect">
            <a:avLst/>
          </a:prstGeom>
          <a:noFill/>
        </p:spPr>
        <p:txBody>
          <a:bodyPr wrap="square" anchor="t">
            <a:spAutoFit/>
          </a:bodyPr>
          <a:lstStyle/>
          <a:p>
            <a:pPr algn="l">
              <a:spcAft>
                <a:spcPts val="400"/>
              </a:spcAft>
            </a:pPr>
            <a:r>
              <a:rPr sz="1000" b="0">
                <a:solidFill>
                  <a:srgbClr val="5B6372"/>
                </a:solidFill>
                <a:latin typeface="Arial"/>
              </a:rPr>
              <a:t>Screenshot of the live LMS sign-in page (lms-tms.tertiaryinfotech.com), captured September 2026.</a:t>
            </a:r>
          </a:p>
        </p:txBody>
      </p:sp>
      <p:sp>
        <p:nvSpPr>
          <p:cNvPr id="25" name="TextBox 24"/>
          <p:cNvSpPr txBox="1"/>
          <p:nvPr/>
        </p:nvSpPr>
        <p:spPr>
          <a:xfrm>
            <a:off x="7498079" y="5897880"/>
            <a:ext cx="3931920" cy="411480"/>
          </a:xfrm>
          <a:prstGeom prst="rect">
            <a:avLst/>
          </a:prstGeom>
          <a:noFill/>
        </p:spPr>
        <p:txBody>
          <a:bodyPr wrap="square" anchor="t">
            <a:spAutoFit/>
          </a:bodyPr>
          <a:lstStyle/>
          <a:p>
            <a:pPr algn="l">
              <a:spcAft>
                <a:spcPts val="400"/>
              </a:spcAft>
            </a:pPr>
            <a:r>
              <a:rPr sz="1200" b="1">
                <a:solidFill>
                  <a:srgbClr val="1F6FEB"/>
                </a:solidFill>
                <a:latin typeface="Arial"/>
                <a:hlinkClick r:id="rId3"/>
              </a:rPr>
              <a:t>Open the LMS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225</a:t>
            </a:r>
          </a:p>
        </p:txBody>
      </p:sp>
    </p:spTree>
  </p:cSld>
  <p:clrMapOvr>
    <a:masterClrMapping/>
  </p:clrMapOvr>
  <p:transition spd="fast" advClick="1">
    <p:fade/>
  </p:transition>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DAY / 2 HOURS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 final reminder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Written Assessment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Day 2, 4:30-5:30 PM</a:t>
            </a:r>
          </a:p>
          <a:p>
            <a:pPr>
              <a:spcAft>
                <a:spcPts val="900"/>
              </a:spcAft>
            </a:pPr>
            <a:r>
              <a:rPr sz="1400" b="0">
                <a:solidFill>
                  <a:srgbClr val="161B26"/>
                </a:solidFill>
                <a:latin typeface="Arial"/>
              </a:rPr>
              <a:t>•  60 minutes / 5 questions</a:t>
            </a:r>
          </a:p>
          <a:p>
            <a:pPr>
              <a:spcAft>
                <a:spcPts val="900"/>
              </a:spcAft>
            </a:pPr>
            <a:r>
              <a:rPr sz="1400" b="0">
                <a:solidFill>
                  <a:srgbClr val="161B26"/>
                </a:solidFill>
                <a:latin typeface="Arial"/>
              </a:rPr>
              <a:t>•  K1-K5 / open book</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Practical Performance</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Day 2, 5:30-6:30 PM</a:t>
            </a:r>
          </a:p>
          <a:p>
            <a:pPr>
              <a:spcAft>
                <a:spcPts val="900"/>
              </a:spcAft>
            </a:pPr>
            <a:r>
              <a:rPr sz="1400" b="0">
                <a:solidFill>
                  <a:srgbClr val="161B26"/>
                </a:solidFill>
                <a:latin typeface="Arial"/>
              </a:rPr>
              <a:t>•  60 minutes / 5 tasks</a:t>
            </a:r>
          </a:p>
          <a:p>
            <a:pPr>
              <a:spcAft>
                <a:spcPts val="900"/>
              </a:spcAft>
            </a:pPr>
            <a:r>
              <a:rPr sz="1400" b="0">
                <a:solidFill>
                  <a:srgbClr val="161B26"/>
                </a:solidFill>
                <a:latin typeface="Arial"/>
              </a:rPr>
              <a:t>•  A1-A5 / Rust crates + evidence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Result and funding</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All items attempted individually</a:t>
            </a:r>
          </a:p>
          <a:p>
            <a:pPr>
              <a:spcAft>
                <a:spcPts val="900"/>
              </a:spcAft>
            </a:pPr>
            <a:r>
              <a:rPr sz="1400" b="0">
                <a:solidFill>
                  <a:srgbClr val="161B26"/>
                </a:solidFill>
                <a:latin typeface="Arial"/>
              </a:rPr>
              <a:t>•  Competent (C) or NYC</a:t>
            </a:r>
          </a:p>
          <a:p>
            <a:pPr>
              <a:spcAft>
                <a:spcPts val="900"/>
              </a:spcAft>
            </a:pPr>
            <a:r>
              <a:rPr sz="1400" b="0">
                <a:solidFill>
                  <a:srgbClr val="161B26"/>
                </a:solidFill>
                <a:latin typeface="Arial"/>
              </a:rPr>
              <a:t>•  Funding requires 75% attendance + C</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226</a:t>
            </a:r>
          </a:p>
        </p:txBody>
      </p:sp>
    </p:spTree>
  </p:cSld>
  <p:clrMapOvr>
    <a:masterClrMapping/>
  </p:clrMapOvr>
  <p:transition spd="fast" advClick="1">
    <p:fade/>
  </p:transition>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OPEN BOOK / INDIVIDUAL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Attendance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Assessment attendance</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Written Assessment</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60 min, 5 questions</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Practical Performance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60 min, 5 tasks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Submit on LMS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Upload answers + evidence</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Assessor sign-off</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 / NYC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ORDER OF THE DAY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Written Assessment (K1-K5) 4:30-5:30 PM, then Practical Performance (A1-A5) 5:30-6:30 PM on Day 2. Follow the assessor's submission instructions.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MANDATORY LEARNER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TRAQOM / SSG</a:t>
            </a:r>
          </a:p>
          <a:p>
            <a:pPr algn="l">
              <a:spcAft>
                <a:spcPts val="300"/>
              </a:spcAft>
            </a:pPr>
            <a:r>
              <a:rPr sz="1300" b="0">
                <a:solidFill>
                  <a:srgbClr val="5B6372"/>
                </a:solidFill>
                <a:latin typeface="Arial"/>
              </a:rPr>
              <a:t>Take the digital attendance through the Singpass app when the trainer displays the QR code.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AM, PM and assessment</a:t>
            </a:r>
          </a:p>
          <a:p>
            <a:pPr algn="l">
              <a:spcAft>
                <a:spcPts val="300"/>
              </a:spcAft>
            </a:pPr>
            <a:r>
              <a:rPr sz="1300" b="0">
                <a:solidFill>
                  <a:srgbClr val="5B6372"/>
                </a:solidFill>
                <a:latin typeface="Arial"/>
              </a:rPr>
              <a:t>Attendance is taken for each session and separately for the assessment.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At least 75% attendance is required for assessment eligibility and funding.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Your own record</a:t>
            </a:r>
          </a:p>
          <a:p>
            <a:pPr algn="l">
              <a:spcAft>
                <a:spcPts val="300"/>
              </a:spcAft>
            </a:pPr>
            <a:r>
              <a:rPr sz="1300" b="0">
                <a:solidFill>
                  <a:srgbClr val="5B6372"/>
                </a:solidFill>
                <a:latin typeface="Arial"/>
              </a:rPr>
              <a:t>Use only your own Singpass; tell the trainer if the course title or code does not match.</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228</a:t>
            </a:r>
          </a:p>
        </p:txBody>
      </p:sp>
    </p:spTree>
  </p:cSld>
  <p:clrMapOvr>
    <a:masterClrMapping/>
  </p:clrMapOvr>
  <p:transition spd="fast" advClick="1">
    <p:fade/>
  </p:transition>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TERTIARY INFOTECH ACADEMY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Keep the loop: specify, prompt, compile, test, review, record.
enquiry@tertiaryinfotech.com / +65 6100 0613</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AI-Vibe-Coding-with-Rust  ·  TGS-2023039924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229</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